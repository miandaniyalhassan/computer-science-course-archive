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6" r:id="rId1"/>
  </p:sldMasterIdLst>
  <p:notesMasterIdLst>
    <p:notesMasterId r:id="rId65"/>
  </p:notesMasterIdLst>
  <p:handoutMasterIdLst>
    <p:handoutMasterId r:id="rId66"/>
  </p:handoutMasterIdLst>
  <p:sldIdLst>
    <p:sldId id="451" r:id="rId2"/>
    <p:sldId id="767" r:id="rId3"/>
    <p:sldId id="768" r:id="rId4"/>
    <p:sldId id="769" r:id="rId5"/>
    <p:sldId id="525" r:id="rId6"/>
    <p:sldId id="618" r:id="rId7"/>
    <p:sldId id="619" r:id="rId8"/>
    <p:sldId id="717" r:id="rId9"/>
    <p:sldId id="620" r:id="rId10"/>
    <p:sldId id="622" r:id="rId11"/>
    <p:sldId id="621" r:id="rId12"/>
    <p:sldId id="623" r:id="rId13"/>
    <p:sldId id="624" r:id="rId14"/>
    <p:sldId id="625" r:id="rId15"/>
    <p:sldId id="626" r:id="rId16"/>
    <p:sldId id="627" r:id="rId17"/>
    <p:sldId id="628" r:id="rId18"/>
    <p:sldId id="629" r:id="rId19"/>
    <p:sldId id="630" r:id="rId20"/>
    <p:sldId id="631" r:id="rId21"/>
    <p:sldId id="632" r:id="rId22"/>
    <p:sldId id="633" r:id="rId23"/>
    <p:sldId id="634" r:id="rId24"/>
    <p:sldId id="635" r:id="rId25"/>
    <p:sldId id="636" r:id="rId26"/>
    <p:sldId id="637" r:id="rId27"/>
    <p:sldId id="638" r:id="rId28"/>
    <p:sldId id="639" r:id="rId29"/>
    <p:sldId id="640" r:id="rId30"/>
    <p:sldId id="641" r:id="rId31"/>
    <p:sldId id="642" r:id="rId32"/>
    <p:sldId id="643" r:id="rId33"/>
    <p:sldId id="644" r:id="rId34"/>
    <p:sldId id="645" r:id="rId35"/>
    <p:sldId id="646" r:id="rId36"/>
    <p:sldId id="737" r:id="rId37"/>
    <p:sldId id="647" r:id="rId38"/>
    <p:sldId id="648" r:id="rId39"/>
    <p:sldId id="649" r:id="rId40"/>
    <p:sldId id="650" r:id="rId41"/>
    <p:sldId id="651" r:id="rId42"/>
    <p:sldId id="652" r:id="rId43"/>
    <p:sldId id="653" r:id="rId44"/>
    <p:sldId id="654" r:id="rId45"/>
    <p:sldId id="655" r:id="rId46"/>
    <p:sldId id="656" r:id="rId47"/>
    <p:sldId id="657" r:id="rId48"/>
    <p:sldId id="658" r:id="rId49"/>
    <p:sldId id="659" r:id="rId50"/>
    <p:sldId id="660" r:id="rId51"/>
    <p:sldId id="661" r:id="rId52"/>
    <p:sldId id="662" r:id="rId53"/>
    <p:sldId id="663" r:id="rId54"/>
    <p:sldId id="664" r:id="rId55"/>
    <p:sldId id="665" r:id="rId56"/>
    <p:sldId id="666" r:id="rId57"/>
    <p:sldId id="667" r:id="rId58"/>
    <p:sldId id="668" r:id="rId59"/>
    <p:sldId id="669" r:id="rId60"/>
    <p:sldId id="670" r:id="rId61"/>
    <p:sldId id="671" r:id="rId62"/>
    <p:sldId id="672" r:id="rId63"/>
    <p:sldId id="673" r:id="rId64"/>
  </p:sldIdLst>
  <p:sldSz cx="9144000" cy="6858000" type="screen4x3"/>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66FF"/>
    <a:srgbClr val="6600CC"/>
    <a:srgbClr val="333399"/>
    <a:srgbClr val="6530D0"/>
    <a:srgbClr val="6600FF"/>
    <a:srgbClr val="666699"/>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15" autoAdjust="0"/>
    <p:restoredTop sz="91824" autoAdjust="0"/>
  </p:normalViewPr>
  <p:slideViewPr>
    <p:cSldViewPr>
      <p:cViewPr varScale="1">
        <p:scale>
          <a:sx n="65" d="100"/>
          <a:sy n="65" d="100"/>
        </p:scale>
        <p:origin x="184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920" y="-78"/>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none" lIns="95139" tIns="49472" rIns="95139" bIns="49472" numCol="1" anchor="ctr"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75779" name="Rectangle 3"/>
          <p:cNvSpPr>
            <a:spLocks noGrp="1" noChangeArrowheads="1"/>
          </p:cNvSpPr>
          <p:nvPr>
            <p:ph type="dt" sz="quarter" idx="1"/>
          </p:nvPr>
        </p:nvSpPr>
        <p:spPr bwMode="auto">
          <a:xfrm>
            <a:off x="5440363" y="0"/>
            <a:ext cx="4160837" cy="365125"/>
          </a:xfrm>
          <a:prstGeom prst="rect">
            <a:avLst/>
          </a:prstGeom>
          <a:noFill/>
          <a:ln w="9525">
            <a:noFill/>
            <a:miter lim="800000"/>
            <a:headEnd/>
            <a:tailEnd/>
          </a:ln>
          <a:effectLst/>
        </p:spPr>
        <p:txBody>
          <a:bodyPr vert="horz" wrap="none" lIns="95139" tIns="49472" rIns="95139" bIns="49472" numCol="1" anchor="ctr" anchorCtr="0" compatLnSpc="1">
            <a:prstTxWarp prst="textNoShape">
              <a:avLst/>
            </a:prstTxWarp>
          </a:bodyPr>
          <a:lstStyle>
            <a:lvl1pPr algn="r" defTabSz="966788">
              <a:defRPr sz="1300">
                <a:latin typeface="Times New Roman" pitchFamily="18" charset="0"/>
              </a:defRPr>
            </a:lvl1pPr>
          </a:lstStyle>
          <a:p>
            <a:pPr>
              <a:defRPr/>
            </a:pPr>
            <a:endParaRPr lang="en-US"/>
          </a:p>
        </p:txBody>
      </p:sp>
      <p:sp>
        <p:nvSpPr>
          <p:cNvPr id="75780" name="Rectangle 4"/>
          <p:cNvSpPr>
            <a:spLocks noGrp="1" noChangeArrowheads="1"/>
          </p:cNvSpPr>
          <p:nvPr>
            <p:ph type="ftr" sz="quarter" idx="2"/>
          </p:nvPr>
        </p:nvSpPr>
        <p:spPr bwMode="auto">
          <a:xfrm>
            <a:off x="0" y="6950075"/>
            <a:ext cx="5227638" cy="365125"/>
          </a:xfrm>
          <a:prstGeom prst="rect">
            <a:avLst/>
          </a:prstGeom>
          <a:noFill/>
          <a:ln w="9525">
            <a:noFill/>
            <a:miter lim="800000"/>
            <a:headEnd/>
            <a:tailEnd/>
          </a:ln>
          <a:effectLst/>
        </p:spPr>
        <p:txBody>
          <a:bodyPr vert="horz" wrap="none" lIns="95139" tIns="49472" rIns="95139" bIns="49472" numCol="1" anchor="b"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75781" name="Rectangle 5"/>
          <p:cNvSpPr>
            <a:spLocks noGrp="1" noChangeArrowheads="1"/>
          </p:cNvSpPr>
          <p:nvPr>
            <p:ph type="sldNum" sz="quarter" idx="3"/>
          </p:nvPr>
        </p:nvSpPr>
        <p:spPr bwMode="auto">
          <a:xfrm>
            <a:off x="5440363" y="6950075"/>
            <a:ext cx="4160837" cy="365125"/>
          </a:xfrm>
          <a:prstGeom prst="rect">
            <a:avLst/>
          </a:prstGeom>
          <a:noFill/>
          <a:ln w="9525">
            <a:noFill/>
            <a:miter lim="800000"/>
            <a:headEnd/>
            <a:tailEnd/>
          </a:ln>
          <a:effectLst/>
        </p:spPr>
        <p:txBody>
          <a:bodyPr vert="horz" wrap="none" lIns="95139" tIns="49472" rIns="95139" bIns="49472" numCol="1" anchor="b" anchorCtr="0" compatLnSpc="1">
            <a:prstTxWarp prst="textNoShape">
              <a:avLst/>
            </a:prstTxWarp>
          </a:bodyPr>
          <a:lstStyle>
            <a:lvl1pPr algn="r" defTabSz="966788">
              <a:defRPr sz="1300">
                <a:latin typeface="Times New Roman" pitchFamily="18" charset="0"/>
              </a:defRPr>
            </a:lvl1pPr>
          </a:lstStyle>
          <a:p>
            <a:pPr>
              <a:defRPr/>
            </a:pPr>
            <a:fld id="{C0CFDDB9-2626-4F60-9301-E0E08C4248CA}" type="slidenum">
              <a:rPr lang="en-US"/>
              <a:pPr>
                <a:defRPr/>
              </a:pPr>
              <a:t>‹#›</a:t>
            </a:fld>
            <a:endParaRPr lang="en-US"/>
          </a:p>
        </p:txBody>
      </p:sp>
    </p:spTree>
    <p:extLst>
      <p:ext uri="{BB962C8B-B14F-4D97-AF65-F5344CB8AC3E}">
        <p14:creationId xmlns:p14="http://schemas.microsoft.com/office/powerpoint/2010/main" val="31847816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126979" name="Rectangle 3"/>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pitchFamily="18" charset="0"/>
              </a:defRPr>
            </a:lvl1pPr>
          </a:lstStyle>
          <a:p>
            <a:pPr>
              <a:defRPr/>
            </a:pPr>
            <a:endParaRPr lang="en-US"/>
          </a:p>
        </p:txBody>
      </p:sp>
      <p:sp>
        <p:nvSpPr>
          <p:cNvPr id="220164" name="Rectangle 4"/>
          <p:cNvSpPr>
            <a:spLocks noGrp="1" noRot="1" noChangeAspect="1" noChangeArrowheads="1" noTextEdit="1"/>
          </p:cNvSpPr>
          <p:nvPr>
            <p:ph type="sldImg" idx="2"/>
          </p:nvPr>
        </p:nvSpPr>
        <p:spPr bwMode="auto">
          <a:xfrm>
            <a:off x="2971800" y="549275"/>
            <a:ext cx="3657600" cy="2743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81" name="Rectangle 5"/>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26982" name="Rectangle 6"/>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Times New Roman" pitchFamily="18" charset="0"/>
              </a:defRPr>
            </a:lvl1pPr>
          </a:lstStyle>
          <a:p>
            <a:pPr>
              <a:defRPr/>
            </a:pPr>
            <a:endParaRPr lang="en-US"/>
          </a:p>
        </p:txBody>
      </p:sp>
      <p:sp>
        <p:nvSpPr>
          <p:cNvPr id="126983" name="Rectangle 7"/>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pitchFamily="18" charset="0"/>
              </a:defRPr>
            </a:lvl1pPr>
          </a:lstStyle>
          <a:p>
            <a:pPr>
              <a:defRPr/>
            </a:pPr>
            <a:fld id="{71D14D61-BFB2-430B-B6D2-8D7E8075221E}" type="slidenum">
              <a:rPr lang="en-US"/>
              <a:pPr>
                <a:defRPr/>
              </a:pPr>
              <a:t>‹#›</a:t>
            </a:fld>
            <a:endParaRPr lang="en-US"/>
          </a:p>
        </p:txBody>
      </p:sp>
    </p:spTree>
    <p:extLst>
      <p:ext uri="{BB962C8B-B14F-4D97-AF65-F5344CB8AC3E}">
        <p14:creationId xmlns:p14="http://schemas.microsoft.com/office/powerpoint/2010/main" val="10215145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Image Placeholder 1"/>
          <p:cNvSpPr>
            <a:spLocks noGrp="1" noRot="1" noChangeAspect="1" noTextEdit="1"/>
          </p:cNvSpPr>
          <p:nvPr>
            <p:ph type="sldImg"/>
          </p:nvPr>
        </p:nvSpPr>
        <p:spPr>
          <a:ln/>
        </p:spPr>
      </p:sp>
      <p:sp>
        <p:nvSpPr>
          <p:cNvPr id="221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21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80B06B95-8D63-4780-8F2E-AF82FE030B36}" type="slidenum">
              <a:rPr lang="en-US" altLang="en-US" sz="1200" smtClean="0">
                <a:latin typeface="Times New Roman" pitchFamily="18" charset="0"/>
              </a:rPr>
              <a:pPr/>
              <a:t>5</a:t>
            </a:fld>
            <a:endParaRPr lang="en-US" altLang="en-US" sz="1200" smtClean="0">
              <a:latin typeface="Times New Roman" pitchFamily="18" charset="0"/>
            </a:endParaRPr>
          </a:p>
        </p:txBody>
      </p:sp>
    </p:spTree>
    <p:extLst>
      <p:ext uri="{BB962C8B-B14F-4D97-AF65-F5344CB8AC3E}">
        <p14:creationId xmlns:p14="http://schemas.microsoft.com/office/powerpoint/2010/main" val="1543167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Slide Image Placeholder 1"/>
          <p:cNvSpPr>
            <a:spLocks noGrp="1" noRot="1" noChangeAspect="1" noTextEdit="1"/>
          </p:cNvSpPr>
          <p:nvPr>
            <p:ph type="sldImg"/>
          </p:nvPr>
        </p:nvSpPr>
        <p:spPr>
          <a:ln/>
        </p:spPr>
      </p:sp>
      <p:sp>
        <p:nvSpPr>
          <p:cNvPr id="266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66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DBC0C46B-2E40-473C-BEEE-8F2CA77E0B24}" type="slidenum">
              <a:rPr lang="en-US" altLang="en-US" sz="1200" smtClean="0">
                <a:latin typeface="Times New Roman" pitchFamily="18" charset="0"/>
              </a:rPr>
              <a:pPr/>
              <a:t>10</a:t>
            </a:fld>
            <a:endParaRPr lang="en-US" altLang="en-US" sz="1200" smtClean="0">
              <a:latin typeface="Times New Roman" pitchFamily="18" charset="0"/>
            </a:endParaRPr>
          </a:p>
        </p:txBody>
      </p:sp>
    </p:spTree>
    <p:extLst>
      <p:ext uri="{BB962C8B-B14F-4D97-AF65-F5344CB8AC3E}">
        <p14:creationId xmlns:p14="http://schemas.microsoft.com/office/powerpoint/2010/main" val="1000437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Slide Image Placeholder 1"/>
          <p:cNvSpPr>
            <a:spLocks noGrp="1" noRot="1" noChangeAspect="1" noTextEdit="1"/>
          </p:cNvSpPr>
          <p:nvPr>
            <p:ph type="sldImg"/>
          </p:nvPr>
        </p:nvSpPr>
        <p:spPr>
          <a:ln/>
        </p:spPr>
      </p:sp>
      <p:sp>
        <p:nvSpPr>
          <p:cNvPr id="267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67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91E62C0A-69A7-4479-8725-D1CBE842B7D8}" type="slidenum">
              <a:rPr lang="en-US" altLang="en-US" sz="1200" smtClean="0">
                <a:solidFill>
                  <a:srgbClr val="000000"/>
                </a:solidFill>
                <a:latin typeface="Times New Roman" pitchFamily="18" charset="0"/>
              </a:rPr>
              <a:pPr/>
              <a:t>12</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316950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Slide Image Placeholder 1"/>
          <p:cNvSpPr>
            <a:spLocks noGrp="1" noRot="1" noChangeAspect="1" noTextEdit="1"/>
          </p:cNvSpPr>
          <p:nvPr>
            <p:ph type="sldImg"/>
          </p:nvPr>
        </p:nvSpPr>
        <p:spPr>
          <a:ln/>
        </p:spPr>
      </p:sp>
      <p:sp>
        <p:nvSpPr>
          <p:cNvPr id="268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68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1D367615-9074-4BBD-A951-E56DE4F0E599}" type="slidenum">
              <a:rPr lang="en-US" altLang="en-US" sz="1200" smtClean="0">
                <a:solidFill>
                  <a:srgbClr val="000000"/>
                </a:solidFill>
                <a:latin typeface="Times New Roman" pitchFamily="18" charset="0"/>
              </a:rPr>
              <a:pPr/>
              <a:t>13</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875832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Slide Image Placeholder 1"/>
          <p:cNvSpPr>
            <a:spLocks noGrp="1" noRot="1" noChangeAspect="1" noTextEdit="1"/>
          </p:cNvSpPr>
          <p:nvPr>
            <p:ph type="sldImg"/>
          </p:nvPr>
        </p:nvSpPr>
        <p:spPr>
          <a:ln/>
        </p:spPr>
      </p:sp>
      <p:sp>
        <p:nvSpPr>
          <p:cNvPr id="269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69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032C3061-ABA7-4A2F-8D07-583117E48A89}" type="slidenum">
              <a:rPr lang="en-US" altLang="en-US" sz="1200" smtClean="0">
                <a:solidFill>
                  <a:srgbClr val="000000"/>
                </a:solidFill>
                <a:latin typeface="Times New Roman" pitchFamily="18" charset="0"/>
              </a:rPr>
              <a:pPr/>
              <a:t>14</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949575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Slide Image Placeholder 1"/>
          <p:cNvSpPr>
            <a:spLocks noGrp="1" noRot="1" noChangeAspect="1" noTextEdit="1"/>
          </p:cNvSpPr>
          <p:nvPr>
            <p:ph type="sldImg"/>
          </p:nvPr>
        </p:nvSpPr>
        <p:spPr>
          <a:ln/>
        </p:spPr>
      </p:sp>
      <p:sp>
        <p:nvSpPr>
          <p:cNvPr id="270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0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6A8CCC19-E67F-46C5-BE67-0A678A63883F}" type="slidenum">
              <a:rPr lang="en-US" altLang="en-US" sz="1200" smtClean="0">
                <a:solidFill>
                  <a:srgbClr val="000000"/>
                </a:solidFill>
                <a:latin typeface="Times New Roman" pitchFamily="18" charset="0"/>
              </a:rPr>
              <a:pPr/>
              <a:t>15</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18543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Slide Image Placeholder 1"/>
          <p:cNvSpPr>
            <a:spLocks noGrp="1" noRot="1" noChangeAspect="1" noTextEdit="1"/>
          </p:cNvSpPr>
          <p:nvPr>
            <p:ph type="sldImg"/>
          </p:nvPr>
        </p:nvSpPr>
        <p:spPr>
          <a:ln/>
        </p:spPr>
      </p:sp>
      <p:sp>
        <p:nvSpPr>
          <p:cNvPr id="271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1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0B7396FC-D79F-4D20-8829-C2FF5C82DB1F}" type="slidenum">
              <a:rPr lang="en-US" altLang="en-US" sz="1200" smtClean="0">
                <a:solidFill>
                  <a:srgbClr val="000000"/>
                </a:solidFill>
                <a:latin typeface="Times New Roman" pitchFamily="18" charset="0"/>
              </a:rPr>
              <a:pPr/>
              <a:t>16</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453645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Slide Image Placeholder 1"/>
          <p:cNvSpPr>
            <a:spLocks noGrp="1" noRot="1" noChangeAspect="1" noTextEdit="1"/>
          </p:cNvSpPr>
          <p:nvPr>
            <p:ph type="sldImg"/>
          </p:nvPr>
        </p:nvSpPr>
        <p:spPr>
          <a:ln/>
        </p:spPr>
      </p:sp>
      <p:sp>
        <p:nvSpPr>
          <p:cNvPr id="272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2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7B8E99CF-7D0B-42A5-97D6-E98BBEB426EB}" type="slidenum">
              <a:rPr lang="en-US" altLang="en-US" sz="1200" smtClean="0">
                <a:solidFill>
                  <a:srgbClr val="000000"/>
                </a:solidFill>
                <a:latin typeface="Times New Roman" pitchFamily="18" charset="0"/>
              </a:rPr>
              <a:pPr/>
              <a:t>17</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215020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Slide Image Placeholder 1"/>
          <p:cNvSpPr>
            <a:spLocks noGrp="1" noRot="1" noChangeAspect="1" noTextEdit="1"/>
          </p:cNvSpPr>
          <p:nvPr>
            <p:ph type="sldImg"/>
          </p:nvPr>
        </p:nvSpPr>
        <p:spPr>
          <a:ln/>
        </p:spPr>
      </p:sp>
      <p:sp>
        <p:nvSpPr>
          <p:cNvPr id="273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3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CB4E712F-0369-48B9-BD21-F0023BF83A1D}" type="slidenum">
              <a:rPr lang="en-US" altLang="en-US" sz="1200" smtClean="0">
                <a:solidFill>
                  <a:srgbClr val="000000"/>
                </a:solidFill>
                <a:latin typeface="Times New Roman" pitchFamily="18" charset="0"/>
              </a:rPr>
              <a:pPr/>
              <a:t>18</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718200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Slide Image Placeholder 1"/>
          <p:cNvSpPr>
            <a:spLocks noGrp="1" noRot="1" noChangeAspect="1" noTextEdit="1"/>
          </p:cNvSpPr>
          <p:nvPr>
            <p:ph type="sldImg"/>
          </p:nvPr>
        </p:nvSpPr>
        <p:spPr>
          <a:ln/>
        </p:spPr>
      </p:sp>
      <p:sp>
        <p:nvSpPr>
          <p:cNvPr id="274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4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E2048264-2907-4EBF-9BAB-98A89275FF53}" type="slidenum">
              <a:rPr lang="en-US" altLang="en-US" sz="1200" smtClean="0">
                <a:solidFill>
                  <a:srgbClr val="000000"/>
                </a:solidFill>
                <a:latin typeface="Times New Roman" pitchFamily="18" charset="0"/>
              </a:rPr>
              <a:pPr/>
              <a:t>19</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881595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Slide Image Placeholder 1"/>
          <p:cNvSpPr>
            <a:spLocks noGrp="1" noRot="1" noChangeAspect="1" noTextEdit="1"/>
          </p:cNvSpPr>
          <p:nvPr>
            <p:ph type="sldImg"/>
          </p:nvPr>
        </p:nvSpPr>
        <p:spPr>
          <a:ln/>
        </p:spPr>
      </p:sp>
      <p:sp>
        <p:nvSpPr>
          <p:cNvPr id="275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5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2B4C16D8-8C24-434F-B37D-98979D013B6E}" type="slidenum">
              <a:rPr lang="en-US" altLang="en-US" sz="1200" smtClean="0">
                <a:solidFill>
                  <a:srgbClr val="000000"/>
                </a:solidFill>
                <a:latin typeface="Times New Roman" pitchFamily="18" charset="0"/>
              </a:rPr>
              <a:pPr/>
              <a:t>20</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697189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Image Placeholder 1"/>
          <p:cNvSpPr>
            <a:spLocks noGrp="1" noRot="1" noChangeAspect="1" noTextEdit="1"/>
          </p:cNvSpPr>
          <p:nvPr>
            <p:ph type="sldImg"/>
          </p:nvPr>
        </p:nvSpPr>
        <p:spPr>
          <a:ln/>
        </p:spPr>
      </p:sp>
      <p:sp>
        <p:nvSpPr>
          <p:cNvPr id="276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6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656E7E19-77A0-49B9-8BA3-AF9C7CFAD51E}" type="slidenum">
              <a:rPr lang="en-US" altLang="en-US" sz="1200" smtClean="0">
                <a:solidFill>
                  <a:srgbClr val="000000"/>
                </a:solidFill>
                <a:latin typeface="Times New Roman" pitchFamily="18" charset="0"/>
              </a:rPr>
              <a:pPr/>
              <a:t>21</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136099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Image Placeholder 1"/>
          <p:cNvSpPr>
            <a:spLocks noGrp="1" noRot="1" noChangeAspect="1" noTextEdit="1"/>
          </p:cNvSpPr>
          <p:nvPr>
            <p:ph type="sldImg"/>
          </p:nvPr>
        </p:nvSpPr>
        <p:spPr>
          <a:ln/>
        </p:spPr>
      </p:sp>
      <p:sp>
        <p:nvSpPr>
          <p:cNvPr id="277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7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5CD6BA9F-7025-46CC-8C4A-C3C23E004BEE}" type="slidenum">
              <a:rPr lang="en-US" altLang="en-US" sz="1200" smtClean="0">
                <a:solidFill>
                  <a:srgbClr val="000000"/>
                </a:solidFill>
                <a:latin typeface="Times New Roman" pitchFamily="18" charset="0"/>
              </a:rPr>
              <a:pPr/>
              <a:t>22</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220053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Slide Image Placeholder 1"/>
          <p:cNvSpPr>
            <a:spLocks noGrp="1" noRot="1" noChangeAspect="1" noTextEdit="1"/>
          </p:cNvSpPr>
          <p:nvPr>
            <p:ph type="sldImg"/>
          </p:nvPr>
        </p:nvSpPr>
        <p:spPr>
          <a:ln/>
        </p:spPr>
      </p:sp>
      <p:sp>
        <p:nvSpPr>
          <p:cNvPr id="278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8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1929F6FD-0B81-444A-A918-BEB811A07D15}" type="slidenum">
              <a:rPr lang="en-US" altLang="en-US" sz="1200" smtClean="0">
                <a:solidFill>
                  <a:srgbClr val="000000"/>
                </a:solidFill>
                <a:latin typeface="Times New Roman" pitchFamily="18" charset="0"/>
              </a:rPr>
              <a:pPr/>
              <a:t>23</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934862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Slide Image Placeholder 1"/>
          <p:cNvSpPr>
            <a:spLocks noGrp="1" noRot="1" noChangeAspect="1" noTextEdit="1"/>
          </p:cNvSpPr>
          <p:nvPr>
            <p:ph type="sldImg"/>
          </p:nvPr>
        </p:nvSpPr>
        <p:spPr>
          <a:ln/>
        </p:spPr>
      </p:sp>
      <p:sp>
        <p:nvSpPr>
          <p:cNvPr id="279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79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7A7CC747-FE7C-4B74-AD90-750762EA1FEF}" type="slidenum">
              <a:rPr lang="en-US" altLang="en-US" sz="1200" smtClean="0">
                <a:solidFill>
                  <a:srgbClr val="000000"/>
                </a:solidFill>
                <a:latin typeface="Times New Roman" pitchFamily="18" charset="0"/>
              </a:rPr>
              <a:pPr/>
              <a:t>24</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485612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Slide Image Placeholder 1"/>
          <p:cNvSpPr>
            <a:spLocks noGrp="1" noRot="1" noChangeAspect="1" noTextEdit="1"/>
          </p:cNvSpPr>
          <p:nvPr>
            <p:ph type="sldImg"/>
          </p:nvPr>
        </p:nvSpPr>
        <p:spPr>
          <a:ln/>
        </p:spPr>
      </p:sp>
      <p:sp>
        <p:nvSpPr>
          <p:cNvPr id="280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0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F9F50425-B446-4AE5-8958-BB61A3EFB948}" type="slidenum">
              <a:rPr lang="en-US" altLang="en-US" sz="1200" smtClean="0">
                <a:solidFill>
                  <a:srgbClr val="000000"/>
                </a:solidFill>
                <a:latin typeface="Times New Roman" pitchFamily="18" charset="0"/>
              </a:rPr>
              <a:pPr/>
              <a:t>25</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182740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Image Placeholder 1"/>
          <p:cNvSpPr>
            <a:spLocks noGrp="1" noRot="1" noChangeAspect="1" noTextEdit="1"/>
          </p:cNvSpPr>
          <p:nvPr>
            <p:ph type="sldImg"/>
          </p:nvPr>
        </p:nvSpPr>
        <p:spPr>
          <a:ln/>
        </p:spPr>
      </p:sp>
      <p:sp>
        <p:nvSpPr>
          <p:cNvPr id="281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1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03879736-06A9-4C67-ADC7-37F9D71D3070}" type="slidenum">
              <a:rPr lang="en-US" altLang="en-US" sz="1200" smtClean="0">
                <a:solidFill>
                  <a:srgbClr val="000000"/>
                </a:solidFill>
                <a:latin typeface="Times New Roman" pitchFamily="18" charset="0"/>
              </a:rPr>
              <a:pPr/>
              <a:t>26</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60954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Slide Image Placeholder 1"/>
          <p:cNvSpPr>
            <a:spLocks noGrp="1" noRot="1" noChangeAspect="1" noTextEdit="1"/>
          </p:cNvSpPr>
          <p:nvPr>
            <p:ph type="sldImg"/>
          </p:nvPr>
        </p:nvSpPr>
        <p:spPr>
          <a:ln/>
        </p:spPr>
      </p:sp>
      <p:sp>
        <p:nvSpPr>
          <p:cNvPr id="282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2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3CC713BF-150E-4921-B1AC-F23914012BB1}" type="slidenum">
              <a:rPr lang="en-US" altLang="en-US" sz="1200" smtClean="0">
                <a:solidFill>
                  <a:srgbClr val="000000"/>
                </a:solidFill>
                <a:latin typeface="Times New Roman" pitchFamily="18" charset="0"/>
              </a:rPr>
              <a:pPr/>
              <a:t>27</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638839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Image Placeholder 1"/>
          <p:cNvSpPr>
            <a:spLocks noGrp="1" noRot="1" noChangeAspect="1" noTextEdit="1"/>
          </p:cNvSpPr>
          <p:nvPr>
            <p:ph type="sldImg"/>
          </p:nvPr>
        </p:nvSpPr>
        <p:spPr>
          <a:ln/>
        </p:spPr>
      </p:sp>
      <p:sp>
        <p:nvSpPr>
          <p:cNvPr id="283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3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B6CF4CD3-85C3-44F3-8D4C-FFAAEE83F909}" type="slidenum">
              <a:rPr lang="en-US" altLang="en-US" sz="1200" smtClean="0">
                <a:solidFill>
                  <a:srgbClr val="000000"/>
                </a:solidFill>
                <a:latin typeface="Times New Roman" pitchFamily="18" charset="0"/>
              </a:rPr>
              <a:pPr/>
              <a:t>28</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1810227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Image Placeholder 1"/>
          <p:cNvSpPr>
            <a:spLocks noGrp="1" noRot="1" noChangeAspect="1" noTextEdit="1"/>
          </p:cNvSpPr>
          <p:nvPr>
            <p:ph type="sldImg"/>
          </p:nvPr>
        </p:nvSpPr>
        <p:spPr>
          <a:ln/>
        </p:spPr>
      </p:sp>
      <p:sp>
        <p:nvSpPr>
          <p:cNvPr id="284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4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28B21C9D-9848-47FF-AD8B-434964DD0070}" type="slidenum">
              <a:rPr lang="en-US" altLang="en-US" sz="1200" smtClean="0">
                <a:solidFill>
                  <a:srgbClr val="000000"/>
                </a:solidFill>
                <a:latin typeface="Times New Roman" pitchFamily="18" charset="0"/>
              </a:rPr>
              <a:pPr/>
              <a:t>29</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815481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p:cNvSpPr>
            <a:spLocks noGrp="1" noRot="1" noChangeAspect="1" noTextEdit="1"/>
          </p:cNvSpPr>
          <p:nvPr>
            <p:ph type="sldImg"/>
          </p:nvPr>
        </p:nvSpPr>
        <p:spPr>
          <a:ln/>
        </p:spPr>
      </p:sp>
      <p:sp>
        <p:nvSpPr>
          <p:cNvPr id="285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5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0E6693F0-F3A7-4932-A836-C92002CF46F6}" type="slidenum">
              <a:rPr lang="en-US" altLang="en-US" sz="1200" smtClean="0">
                <a:solidFill>
                  <a:srgbClr val="000000"/>
                </a:solidFill>
                <a:latin typeface="Times New Roman" pitchFamily="18" charset="0"/>
              </a:rPr>
              <a:pPr/>
              <a:t>30</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4733748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Slide Image Placeholder 1"/>
          <p:cNvSpPr>
            <a:spLocks noGrp="1" noRot="1" noChangeAspect="1" noTextEdit="1"/>
          </p:cNvSpPr>
          <p:nvPr>
            <p:ph type="sldImg"/>
          </p:nvPr>
        </p:nvSpPr>
        <p:spPr>
          <a:ln/>
        </p:spPr>
      </p:sp>
      <p:sp>
        <p:nvSpPr>
          <p:cNvPr id="286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6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987C3CC6-87D8-40AF-A5FF-08536D6D72A9}" type="slidenum">
              <a:rPr lang="en-US" altLang="en-US" sz="1200" smtClean="0">
                <a:solidFill>
                  <a:srgbClr val="000000"/>
                </a:solidFill>
                <a:latin typeface="Times New Roman" pitchFamily="18" charset="0"/>
              </a:rPr>
              <a:pPr/>
              <a:t>31</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988076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Slide Image Placeholder 1"/>
          <p:cNvSpPr>
            <a:spLocks noGrp="1" noRot="1" noChangeAspect="1" noTextEdit="1"/>
          </p:cNvSpPr>
          <p:nvPr>
            <p:ph type="sldImg"/>
          </p:nvPr>
        </p:nvSpPr>
        <p:spPr>
          <a:ln/>
        </p:spPr>
      </p:sp>
      <p:sp>
        <p:nvSpPr>
          <p:cNvPr id="287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7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80809231-4308-4D7E-B9D3-41E4850486EE}" type="slidenum">
              <a:rPr lang="en-US" altLang="en-US" sz="1200" smtClean="0">
                <a:solidFill>
                  <a:srgbClr val="000000"/>
                </a:solidFill>
                <a:latin typeface="Times New Roman" pitchFamily="18" charset="0"/>
              </a:rPr>
              <a:pPr/>
              <a:t>32</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726034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Image Placeholder 1"/>
          <p:cNvSpPr>
            <a:spLocks noGrp="1" noRot="1" noChangeAspect="1" noTextEdit="1"/>
          </p:cNvSpPr>
          <p:nvPr>
            <p:ph type="sldImg"/>
          </p:nvPr>
        </p:nvSpPr>
        <p:spPr>
          <a:ln/>
        </p:spPr>
      </p:sp>
      <p:sp>
        <p:nvSpPr>
          <p:cNvPr id="288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8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195C4F0B-0F8D-4AD9-A84D-A176D1732247}" type="slidenum">
              <a:rPr lang="en-US" altLang="en-US" sz="1200" smtClean="0">
                <a:solidFill>
                  <a:srgbClr val="000000"/>
                </a:solidFill>
                <a:latin typeface="Times New Roman" pitchFamily="18" charset="0"/>
              </a:rPr>
              <a:pPr/>
              <a:t>33</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858781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Image Placeholder 1"/>
          <p:cNvSpPr>
            <a:spLocks noGrp="1" noRot="1" noChangeAspect="1" noTextEdit="1"/>
          </p:cNvSpPr>
          <p:nvPr>
            <p:ph type="sldImg"/>
          </p:nvPr>
        </p:nvSpPr>
        <p:spPr>
          <a:ln/>
        </p:spPr>
      </p:sp>
      <p:sp>
        <p:nvSpPr>
          <p:cNvPr id="289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89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A5C0320C-DEA6-4815-9725-71E86D067C62}" type="slidenum">
              <a:rPr lang="en-US" altLang="en-US" sz="1200" smtClean="0">
                <a:solidFill>
                  <a:srgbClr val="000000"/>
                </a:solidFill>
                <a:latin typeface="Times New Roman" pitchFamily="18" charset="0"/>
              </a:rPr>
              <a:pPr/>
              <a:t>34</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7485899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p:cNvSpPr>
            <a:spLocks noGrp="1" noRot="1" noChangeAspect="1" noTextEdit="1"/>
          </p:cNvSpPr>
          <p:nvPr>
            <p:ph type="sldImg"/>
          </p:nvPr>
        </p:nvSpPr>
        <p:spPr>
          <a:ln/>
        </p:spPr>
      </p:sp>
      <p:sp>
        <p:nvSpPr>
          <p:cNvPr id="290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0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75A8125E-D449-478C-8A1D-B15A9B71F867}" type="slidenum">
              <a:rPr lang="en-US" altLang="en-US" sz="1200" smtClean="0">
                <a:solidFill>
                  <a:srgbClr val="000000"/>
                </a:solidFill>
                <a:latin typeface="Times New Roman" pitchFamily="18" charset="0"/>
              </a:rPr>
              <a:pPr/>
              <a:t>38</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3928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Image Placeholder 1"/>
          <p:cNvSpPr>
            <a:spLocks noGrp="1" noRot="1" noChangeAspect="1" noTextEdit="1"/>
          </p:cNvSpPr>
          <p:nvPr>
            <p:ph type="sldImg"/>
          </p:nvPr>
        </p:nvSpPr>
        <p:spPr>
          <a:ln/>
        </p:spPr>
      </p:sp>
      <p:sp>
        <p:nvSpPr>
          <p:cNvPr id="291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1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BF00CBC9-6647-4CAB-B220-CE9FF4D38A74}" type="slidenum">
              <a:rPr lang="en-US" altLang="en-US" sz="1200" smtClean="0">
                <a:solidFill>
                  <a:srgbClr val="000000"/>
                </a:solidFill>
                <a:latin typeface="Times New Roman" pitchFamily="18" charset="0"/>
              </a:rPr>
              <a:pPr/>
              <a:t>39</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030208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p:cNvSpPr>
            <a:spLocks noGrp="1" noRot="1" noChangeAspect="1" noTextEdit="1"/>
          </p:cNvSpPr>
          <p:nvPr>
            <p:ph type="sldImg"/>
          </p:nvPr>
        </p:nvSpPr>
        <p:spPr>
          <a:ln/>
        </p:spPr>
      </p:sp>
      <p:sp>
        <p:nvSpPr>
          <p:cNvPr id="292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2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74B707FF-A386-4F09-9520-E0313432CC5C}" type="slidenum">
              <a:rPr lang="en-US" altLang="en-US" sz="1200" smtClean="0">
                <a:solidFill>
                  <a:srgbClr val="000000"/>
                </a:solidFill>
                <a:latin typeface="Times New Roman" pitchFamily="18" charset="0"/>
              </a:rPr>
              <a:pPr/>
              <a:t>40</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533515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Slide Image Placeholder 1"/>
          <p:cNvSpPr>
            <a:spLocks noGrp="1" noRot="1" noChangeAspect="1" noTextEdit="1"/>
          </p:cNvSpPr>
          <p:nvPr>
            <p:ph type="sldImg"/>
          </p:nvPr>
        </p:nvSpPr>
        <p:spPr>
          <a:ln/>
        </p:spPr>
      </p:sp>
      <p:sp>
        <p:nvSpPr>
          <p:cNvPr id="293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3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FA9E3255-52D3-4109-A52F-9E767A6F8003}" type="slidenum">
              <a:rPr lang="en-US" altLang="en-US" sz="1200" smtClean="0">
                <a:solidFill>
                  <a:srgbClr val="000000"/>
                </a:solidFill>
                <a:latin typeface="Times New Roman" pitchFamily="18" charset="0"/>
              </a:rPr>
              <a:pPr/>
              <a:t>41</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725759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Slide Image Placeholder 1"/>
          <p:cNvSpPr>
            <a:spLocks noGrp="1" noRot="1" noChangeAspect="1" noTextEdit="1"/>
          </p:cNvSpPr>
          <p:nvPr>
            <p:ph type="sldImg"/>
          </p:nvPr>
        </p:nvSpPr>
        <p:spPr>
          <a:ln/>
        </p:spPr>
      </p:sp>
      <p:sp>
        <p:nvSpPr>
          <p:cNvPr id="294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4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7A3CF74E-701E-4F5D-8D50-39989FB49663}" type="slidenum">
              <a:rPr lang="en-US" altLang="en-US" sz="1200" smtClean="0">
                <a:solidFill>
                  <a:srgbClr val="000000"/>
                </a:solidFill>
                <a:latin typeface="Times New Roman" pitchFamily="18" charset="0"/>
              </a:rPr>
              <a:pPr/>
              <a:t>42</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4196786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Slide Image Placeholder 1"/>
          <p:cNvSpPr>
            <a:spLocks noGrp="1" noRot="1" noChangeAspect="1" noTextEdit="1"/>
          </p:cNvSpPr>
          <p:nvPr>
            <p:ph type="sldImg"/>
          </p:nvPr>
        </p:nvSpPr>
        <p:spPr>
          <a:ln/>
        </p:spPr>
      </p:sp>
      <p:sp>
        <p:nvSpPr>
          <p:cNvPr id="295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5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6B205A20-7550-418A-9E6C-67DFEA5468F4}" type="slidenum">
              <a:rPr lang="en-US" altLang="en-US" sz="1200" smtClean="0">
                <a:solidFill>
                  <a:srgbClr val="000000"/>
                </a:solidFill>
                <a:latin typeface="Times New Roman" pitchFamily="18" charset="0"/>
              </a:rPr>
              <a:pPr/>
              <a:t>43</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41037802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Slide Image Placeholder 1"/>
          <p:cNvSpPr>
            <a:spLocks noGrp="1" noRot="1" noChangeAspect="1" noTextEdit="1"/>
          </p:cNvSpPr>
          <p:nvPr>
            <p:ph type="sldImg"/>
          </p:nvPr>
        </p:nvSpPr>
        <p:spPr>
          <a:ln/>
        </p:spPr>
      </p:sp>
      <p:sp>
        <p:nvSpPr>
          <p:cNvPr id="296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6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54DCD655-6F16-4CC3-B052-EEBCE312B1F2}" type="slidenum">
              <a:rPr lang="en-US" altLang="en-US" sz="1200" smtClean="0">
                <a:solidFill>
                  <a:srgbClr val="000000"/>
                </a:solidFill>
                <a:latin typeface="Times New Roman" pitchFamily="18" charset="0"/>
              </a:rPr>
              <a:pPr/>
              <a:t>44</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135511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Slide Image Placeholder 1"/>
          <p:cNvSpPr>
            <a:spLocks noGrp="1" noRot="1" noChangeAspect="1" noTextEdit="1"/>
          </p:cNvSpPr>
          <p:nvPr>
            <p:ph type="sldImg"/>
          </p:nvPr>
        </p:nvSpPr>
        <p:spPr>
          <a:ln/>
        </p:spPr>
      </p:sp>
      <p:sp>
        <p:nvSpPr>
          <p:cNvPr id="297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7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B192E10A-EFE0-4491-8485-C3EA175C24BC}" type="slidenum">
              <a:rPr lang="en-US" altLang="en-US" sz="1200" smtClean="0">
                <a:solidFill>
                  <a:srgbClr val="000000"/>
                </a:solidFill>
                <a:latin typeface="Times New Roman" pitchFamily="18" charset="0"/>
              </a:rPr>
              <a:pPr/>
              <a:t>45</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0052664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Slide Image Placeholder 1"/>
          <p:cNvSpPr>
            <a:spLocks noGrp="1" noRot="1" noChangeAspect="1" noTextEdit="1"/>
          </p:cNvSpPr>
          <p:nvPr>
            <p:ph type="sldImg"/>
          </p:nvPr>
        </p:nvSpPr>
        <p:spPr>
          <a:ln/>
        </p:spPr>
      </p:sp>
      <p:sp>
        <p:nvSpPr>
          <p:cNvPr id="299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99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0A14A411-E638-4167-A2A6-4A9666B062D1}" type="slidenum">
              <a:rPr lang="en-US" altLang="en-US" sz="1200" smtClean="0">
                <a:solidFill>
                  <a:srgbClr val="000000"/>
                </a:solidFill>
                <a:latin typeface="Times New Roman" pitchFamily="18" charset="0"/>
              </a:rPr>
              <a:pPr/>
              <a:t>46</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952194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Slide Image Placeholder 1"/>
          <p:cNvSpPr>
            <a:spLocks noGrp="1" noRot="1" noChangeAspect="1" noTextEdit="1"/>
          </p:cNvSpPr>
          <p:nvPr>
            <p:ph type="sldImg"/>
          </p:nvPr>
        </p:nvSpPr>
        <p:spPr>
          <a:ln/>
        </p:spPr>
      </p:sp>
      <p:sp>
        <p:nvSpPr>
          <p:cNvPr id="300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0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ACF11E1F-C421-445A-A8F0-B991946A08ED}" type="slidenum">
              <a:rPr lang="en-US" altLang="en-US" sz="1200" smtClean="0">
                <a:solidFill>
                  <a:srgbClr val="000000"/>
                </a:solidFill>
                <a:latin typeface="Times New Roman" pitchFamily="18" charset="0"/>
              </a:rPr>
              <a:pPr/>
              <a:t>47</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542380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p:cNvSpPr>
            <a:spLocks noGrp="1" noRot="1" noChangeAspect="1" noTextEdit="1"/>
          </p:cNvSpPr>
          <p:nvPr>
            <p:ph type="sldImg"/>
          </p:nvPr>
        </p:nvSpPr>
        <p:spPr>
          <a:ln/>
        </p:spPr>
      </p:sp>
      <p:sp>
        <p:nvSpPr>
          <p:cNvPr id="301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1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4153C7A5-D98B-45CB-A0A4-1EDE91A89646}" type="slidenum">
              <a:rPr lang="en-US" altLang="en-US" sz="1200" smtClean="0">
                <a:solidFill>
                  <a:srgbClr val="000000"/>
                </a:solidFill>
                <a:latin typeface="Times New Roman" pitchFamily="18" charset="0"/>
              </a:rPr>
              <a:pPr/>
              <a:t>48</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539457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Slide Image Placeholder 1"/>
          <p:cNvSpPr>
            <a:spLocks noGrp="1" noRot="1" noChangeAspect="1" noTextEdit="1"/>
          </p:cNvSpPr>
          <p:nvPr>
            <p:ph type="sldImg"/>
          </p:nvPr>
        </p:nvSpPr>
        <p:spPr>
          <a:ln/>
        </p:spPr>
      </p:sp>
      <p:sp>
        <p:nvSpPr>
          <p:cNvPr id="302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2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AB4E7737-C503-4F34-8527-79E34497B94F}" type="slidenum">
              <a:rPr lang="en-US" altLang="en-US" sz="1200" smtClean="0">
                <a:solidFill>
                  <a:srgbClr val="000000"/>
                </a:solidFill>
                <a:latin typeface="Times New Roman" pitchFamily="18" charset="0"/>
              </a:rPr>
              <a:pPr/>
              <a:t>49</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9967273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Slide Image Placeholder 1"/>
          <p:cNvSpPr>
            <a:spLocks noGrp="1" noRot="1" noChangeAspect="1" noTextEdit="1"/>
          </p:cNvSpPr>
          <p:nvPr>
            <p:ph type="sldImg"/>
          </p:nvPr>
        </p:nvSpPr>
        <p:spPr>
          <a:ln/>
        </p:spPr>
      </p:sp>
      <p:sp>
        <p:nvSpPr>
          <p:cNvPr id="303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3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D0FD0AD6-3F15-4B3D-8061-4C495386FD37}" type="slidenum">
              <a:rPr lang="en-US" altLang="en-US" sz="1200" smtClean="0">
                <a:solidFill>
                  <a:srgbClr val="000000"/>
                </a:solidFill>
                <a:latin typeface="Times New Roman" pitchFamily="18" charset="0"/>
              </a:rPr>
              <a:pPr/>
              <a:t>50</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6042885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Slide Image Placeholder 1"/>
          <p:cNvSpPr>
            <a:spLocks noGrp="1" noRot="1" noChangeAspect="1" noTextEdit="1"/>
          </p:cNvSpPr>
          <p:nvPr>
            <p:ph type="sldImg"/>
          </p:nvPr>
        </p:nvSpPr>
        <p:spPr>
          <a:ln/>
        </p:spPr>
      </p:sp>
      <p:sp>
        <p:nvSpPr>
          <p:cNvPr id="304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4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F9607320-AC66-4FA1-9A32-7C23D669B086}" type="slidenum">
              <a:rPr lang="en-US" altLang="en-US" sz="1200" smtClean="0">
                <a:solidFill>
                  <a:srgbClr val="000000"/>
                </a:solidFill>
                <a:latin typeface="Times New Roman" pitchFamily="18" charset="0"/>
              </a:rPr>
              <a:pPr/>
              <a:t>51</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707980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TextEdit="1"/>
          </p:cNvSpPr>
          <p:nvPr>
            <p:ph type="sldImg"/>
          </p:nvPr>
        </p:nvSpPr>
        <p:spPr>
          <a:ln/>
        </p:spPr>
      </p:sp>
      <p:sp>
        <p:nvSpPr>
          <p:cNvPr id="305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5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70D29159-2D36-4C4B-88F4-C152282A4175}" type="slidenum">
              <a:rPr lang="en-US" altLang="en-US" sz="1200" smtClean="0">
                <a:solidFill>
                  <a:srgbClr val="000000"/>
                </a:solidFill>
                <a:latin typeface="Times New Roman" pitchFamily="18" charset="0"/>
              </a:rPr>
              <a:pPr/>
              <a:t>52</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5303556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Image Placeholder 1"/>
          <p:cNvSpPr>
            <a:spLocks noGrp="1" noRot="1" noChangeAspect="1" noTextEdit="1"/>
          </p:cNvSpPr>
          <p:nvPr>
            <p:ph type="sldImg"/>
          </p:nvPr>
        </p:nvSpPr>
        <p:spPr>
          <a:ln/>
        </p:spPr>
      </p:sp>
      <p:sp>
        <p:nvSpPr>
          <p:cNvPr id="306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6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B932C23A-9A3E-4D0F-A2DB-915A43D4CE63}" type="slidenum">
              <a:rPr lang="en-US" altLang="en-US" sz="1200" smtClean="0">
                <a:solidFill>
                  <a:srgbClr val="000000"/>
                </a:solidFill>
                <a:latin typeface="Times New Roman" pitchFamily="18" charset="0"/>
              </a:rPr>
              <a:pPr/>
              <a:t>53</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5420896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Image Placeholder 1"/>
          <p:cNvSpPr>
            <a:spLocks noGrp="1" noRot="1" noChangeAspect="1" noTextEdit="1"/>
          </p:cNvSpPr>
          <p:nvPr>
            <p:ph type="sldImg"/>
          </p:nvPr>
        </p:nvSpPr>
        <p:spPr>
          <a:ln/>
        </p:spPr>
      </p:sp>
      <p:sp>
        <p:nvSpPr>
          <p:cNvPr id="307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7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91B7C016-76ED-4D7B-BE37-58315C5872AC}" type="slidenum">
              <a:rPr lang="en-US" altLang="en-US" sz="1200" smtClean="0">
                <a:solidFill>
                  <a:srgbClr val="000000"/>
                </a:solidFill>
                <a:latin typeface="Times New Roman" pitchFamily="18" charset="0"/>
              </a:rPr>
              <a:pPr/>
              <a:t>54</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595526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Slide Image Placeholder 1"/>
          <p:cNvSpPr>
            <a:spLocks noGrp="1" noRot="1" noChangeAspect="1" noTextEdit="1"/>
          </p:cNvSpPr>
          <p:nvPr>
            <p:ph type="sldImg"/>
          </p:nvPr>
        </p:nvSpPr>
        <p:spPr>
          <a:ln/>
        </p:spPr>
      </p:sp>
      <p:sp>
        <p:nvSpPr>
          <p:cNvPr id="308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8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587E9554-A51C-4DC5-8F88-91BB986D6D1E}" type="slidenum">
              <a:rPr lang="en-US" altLang="en-US" sz="1200" smtClean="0">
                <a:solidFill>
                  <a:srgbClr val="000000"/>
                </a:solidFill>
                <a:latin typeface="Times New Roman" pitchFamily="18" charset="0"/>
              </a:rPr>
              <a:pPr/>
              <a:t>55</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4279375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p:cNvSpPr>
            <a:spLocks noGrp="1" noRot="1" noChangeAspect="1" noTextEdit="1"/>
          </p:cNvSpPr>
          <p:nvPr>
            <p:ph type="sldImg"/>
          </p:nvPr>
        </p:nvSpPr>
        <p:spPr>
          <a:ln/>
        </p:spPr>
      </p:sp>
      <p:sp>
        <p:nvSpPr>
          <p:cNvPr id="309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09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B1634C52-49E1-48BB-8F57-03D5CD349657}" type="slidenum">
              <a:rPr lang="en-US" altLang="en-US" sz="1200" smtClean="0">
                <a:solidFill>
                  <a:srgbClr val="000000"/>
                </a:solidFill>
                <a:latin typeface="Times New Roman" pitchFamily="18" charset="0"/>
              </a:rPr>
              <a:pPr/>
              <a:t>56</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045689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Image Placeholder 1"/>
          <p:cNvSpPr>
            <a:spLocks noGrp="1" noRot="1" noChangeAspect="1" noTextEdit="1"/>
          </p:cNvSpPr>
          <p:nvPr>
            <p:ph type="sldImg"/>
          </p:nvPr>
        </p:nvSpPr>
        <p:spPr>
          <a:ln/>
        </p:spPr>
      </p:sp>
      <p:sp>
        <p:nvSpPr>
          <p:cNvPr id="310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10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029B00FB-BA9F-4A42-8B1B-FDE27A5B8BF4}" type="slidenum">
              <a:rPr lang="en-US" altLang="en-US" sz="1200" smtClean="0">
                <a:solidFill>
                  <a:srgbClr val="000000"/>
                </a:solidFill>
                <a:latin typeface="Times New Roman" pitchFamily="18" charset="0"/>
              </a:rPr>
              <a:pPr/>
              <a:t>57</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40220942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a:ln/>
        </p:spPr>
      </p:sp>
      <p:sp>
        <p:nvSpPr>
          <p:cNvPr id="311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11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F7115703-F3DB-49FF-B9A3-B89123BAD14F}" type="slidenum">
              <a:rPr lang="en-US" altLang="en-US" sz="1200" smtClean="0">
                <a:solidFill>
                  <a:srgbClr val="000000"/>
                </a:solidFill>
                <a:latin typeface="Times New Roman" pitchFamily="18" charset="0"/>
              </a:rPr>
              <a:pPr/>
              <a:t>58</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42298446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Image Placeholder 1"/>
          <p:cNvSpPr>
            <a:spLocks noGrp="1" noRot="1" noChangeAspect="1" noTextEdit="1"/>
          </p:cNvSpPr>
          <p:nvPr>
            <p:ph type="sldImg"/>
          </p:nvPr>
        </p:nvSpPr>
        <p:spPr>
          <a:ln/>
        </p:spPr>
      </p:sp>
      <p:sp>
        <p:nvSpPr>
          <p:cNvPr id="312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12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9CDFF3D8-3311-4664-BAA3-26ABFD542BB6}" type="slidenum">
              <a:rPr lang="en-US" altLang="en-US" sz="1200" smtClean="0">
                <a:solidFill>
                  <a:srgbClr val="000000"/>
                </a:solidFill>
                <a:latin typeface="Times New Roman" pitchFamily="18" charset="0"/>
              </a:rPr>
              <a:pPr/>
              <a:t>59</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38914524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Slide Image Placeholder 1"/>
          <p:cNvSpPr>
            <a:spLocks noGrp="1" noRot="1" noChangeAspect="1" noTextEdit="1"/>
          </p:cNvSpPr>
          <p:nvPr>
            <p:ph type="sldImg"/>
          </p:nvPr>
        </p:nvSpPr>
        <p:spPr>
          <a:ln/>
        </p:spPr>
      </p:sp>
      <p:sp>
        <p:nvSpPr>
          <p:cNvPr id="313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13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2EE2D116-FA85-4404-9CAE-4B33F2C47FFC}" type="slidenum">
              <a:rPr lang="en-US" altLang="en-US" sz="1200" smtClean="0">
                <a:solidFill>
                  <a:srgbClr val="000000"/>
                </a:solidFill>
                <a:latin typeface="Times New Roman" pitchFamily="18" charset="0"/>
              </a:rPr>
              <a:pPr/>
              <a:t>60</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21141347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Slide Image Placeholder 1"/>
          <p:cNvSpPr>
            <a:spLocks noGrp="1" noRot="1" noChangeAspect="1" noTextEdit="1"/>
          </p:cNvSpPr>
          <p:nvPr>
            <p:ph type="sldImg"/>
          </p:nvPr>
        </p:nvSpPr>
        <p:spPr>
          <a:ln/>
        </p:spPr>
      </p:sp>
      <p:sp>
        <p:nvSpPr>
          <p:cNvPr id="314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14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94BE162B-BF39-4BFE-A41E-34C9356412D8}" type="slidenum">
              <a:rPr lang="en-US" altLang="en-US" sz="1200" smtClean="0">
                <a:solidFill>
                  <a:srgbClr val="000000"/>
                </a:solidFill>
                <a:latin typeface="Times New Roman" pitchFamily="18" charset="0"/>
              </a:rPr>
              <a:pPr/>
              <a:t>61</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3564147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Slide Image Placeholder 1"/>
          <p:cNvSpPr>
            <a:spLocks noGrp="1" noRot="1" noChangeAspect="1" noTextEdit="1"/>
          </p:cNvSpPr>
          <p:nvPr>
            <p:ph type="sldImg"/>
          </p:nvPr>
        </p:nvSpPr>
        <p:spPr>
          <a:ln/>
        </p:spPr>
      </p:sp>
      <p:sp>
        <p:nvSpPr>
          <p:cNvPr id="315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15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Arial" pitchFamily="34" charset="0"/>
              </a:defRPr>
            </a:lvl1pPr>
            <a:lvl2pPr marL="742950" indent="-285750" defTabSz="923925">
              <a:defRPr>
                <a:solidFill>
                  <a:schemeClr val="tx1"/>
                </a:solidFill>
                <a:latin typeface="Arial" pitchFamily="34" charset="0"/>
              </a:defRPr>
            </a:lvl2pPr>
            <a:lvl3pPr marL="1143000" indent="-228600" defTabSz="923925">
              <a:defRPr>
                <a:solidFill>
                  <a:schemeClr val="tx1"/>
                </a:solidFill>
                <a:latin typeface="Arial" pitchFamily="34" charset="0"/>
              </a:defRPr>
            </a:lvl3pPr>
            <a:lvl4pPr marL="1600200" indent="-228600" defTabSz="923925">
              <a:defRPr>
                <a:solidFill>
                  <a:schemeClr val="tx1"/>
                </a:solidFill>
                <a:latin typeface="Arial" pitchFamily="34" charset="0"/>
              </a:defRPr>
            </a:lvl4pPr>
            <a:lvl5pPr marL="2057400" indent="-228600" defTabSz="923925">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fld id="{1BDCE30D-948A-475B-9CA6-24B0458CF4C5}" type="slidenum">
              <a:rPr lang="en-US" altLang="en-US" sz="1200" smtClean="0">
                <a:solidFill>
                  <a:srgbClr val="000000"/>
                </a:solidFill>
                <a:latin typeface="Times New Roman" pitchFamily="18" charset="0"/>
              </a:rPr>
              <a:pPr/>
              <a:t>62</a:t>
            </a:fld>
            <a:endParaRPr lang="en-US" altLang="en-US" sz="1200" smtClean="0">
              <a:solidFill>
                <a:srgbClr val="000000"/>
              </a:solidFill>
              <a:latin typeface="Times New Roman" pitchFamily="18" charset="0"/>
            </a:endParaRPr>
          </a:p>
        </p:txBody>
      </p:sp>
    </p:spTree>
    <p:extLst>
      <p:ext uri="{BB962C8B-B14F-4D97-AF65-F5344CB8AC3E}">
        <p14:creationId xmlns:p14="http://schemas.microsoft.com/office/powerpoint/2010/main" val="1008633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9978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4596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990600"/>
            <a:ext cx="40513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84700" y="990600"/>
            <a:ext cx="40513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9011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95932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9567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974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70553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6233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16845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228600"/>
            <a:ext cx="2063750" cy="6400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228600"/>
            <a:ext cx="6038850" cy="6400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25902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990600"/>
            <a:ext cx="4051300" cy="5638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84700" y="990600"/>
            <a:ext cx="4051300" cy="5638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0907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2286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381000" y="990600"/>
            <a:ext cx="82550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sym typeface="MT Extra" pitchFamily="18" charset="2"/>
              </a:rPr>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Line 4"/>
          <p:cNvSpPr>
            <a:spLocks noChangeShapeType="1"/>
          </p:cNvSpPr>
          <p:nvPr/>
        </p:nvSpPr>
        <p:spPr bwMode="auto">
          <a:xfrm>
            <a:off x="381000" y="990600"/>
            <a:ext cx="82296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1029" name="Line 5"/>
          <p:cNvSpPr>
            <a:spLocks noChangeShapeType="1"/>
          </p:cNvSpPr>
          <p:nvPr/>
        </p:nvSpPr>
        <p:spPr bwMode="auto">
          <a:xfrm>
            <a:off x="381000" y="914400"/>
            <a:ext cx="8229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1030" name="Line 6"/>
          <p:cNvSpPr>
            <a:spLocks noChangeShapeType="1"/>
          </p:cNvSpPr>
          <p:nvPr userDrawn="1"/>
        </p:nvSpPr>
        <p:spPr bwMode="auto">
          <a:xfrm>
            <a:off x="381000" y="990600"/>
            <a:ext cx="82296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1031" name="Line 7"/>
          <p:cNvSpPr>
            <a:spLocks noChangeShapeType="1"/>
          </p:cNvSpPr>
          <p:nvPr userDrawn="1"/>
        </p:nvSpPr>
        <p:spPr bwMode="auto">
          <a:xfrm>
            <a:off x="381000" y="914400"/>
            <a:ext cx="8229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rtl="0" eaLnBrk="0" fontAlgn="base" hangingPunct="0">
        <a:spcBef>
          <a:spcPct val="0"/>
        </a:spcBef>
        <a:spcAft>
          <a:spcPct val="0"/>
        </a:spcAft>
        <a:defRPr kumimoji="1" sz="3200" b="1">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Times New Roman" pitchFamily="18" charset="0"/>
        </a:defRPr>
      </a:lvl2pPr>
      <a:lvl3pPr algn="l" rtl="0" eaLnBrk="0" fontAlgn="base" hangingPunct="0">
        <a:spcBef>
          <a:spcPct val="0"/>
        </a:spcBef>
        <a:spcAft>
          <a:spcPct val="0"/>
        </a:spcAft>
        <a:defRPr kumimoji="1" sz="3200" b="1">
          <a:solidFill>
            <a:schemeClr val="tx1"/>
          </a:solidFill>
          <a:latin typeface="Times New Roman" pitchFamily="18" charset="0"/>
        </a:defRPr>
      </a:lvl3pPr>
      <a:lvl4pPr algn="l" rtl="0" eaLnBrk="0" fontAlgn="base" hangingPunct="0">
        <a:spcBef>
          <a:spcPct val="0"/>
        </a:spcBef>
        <a:spcAft>
          <a:spcPct val="0"/>
        </a:spcAft>
        <a:defRPr kumimoji="1" sz="3200" b="1">
          <a:solidFill>
            <a:schemeClr val="tx1"/>
          </a:solidFill>
          <a:latin typeface="Times New Roman" pitchFamily="18" charset="0"/>
        </a:defRPr>
      </a:lvl4pPr>
      <a:lvl5pPr algn="l" rtl="0" eaLnBrk="0" fontAlgn="base" hangingPunct="0">
        <a:spcBef>
          <a:spcPct val="0"/>
        </a:spcBef>
        <a:spcAft>
          <a:spcPct val="0"/>
        </a:spcAft>
        <a:defRPr kumimoji="1" sz="3200" b="1">
          <a:solidFill>
            <a:schemeClr val="tx1"/>
          </a:solidFill>
          <a:latin typeface="Times New Roman" pitchFamily="18" charset="0"/>
        </a:defRPr>
      </a:lvl5pPr>
      <a:lvl6pPr marL="457200" algn="l" rtl="0" eaLnBrk="0" fontAlgn="base" hangingPunct="0">
        <a:spcBef>
          <a:spcPct val="0"/>
        </a:spcBef>
        <a:spcAft>
          <a:spcPct val="0"/>
        </a:spcAft>
        <a:defRPr kumimoji="1" sz="3200" b="1">
          <a:solidFill>
            <a:schemeClr val="tx1"/>
          </a:solidFill>
          <a:latin typeface="Times New Roman" pitchFamily="18" charset="0"/>
        </a:defRPr>
      </a:lvl6pPr>
      <a:lvl7pPr marL="914400" algn="l" rtl="0" eaLnBrk="0" fontAlgn="base" hangingPunct="0">
        <a:spcBef>
          <a:spcPct val="0"/>
        </a:spcBef>
        <a:spcAft>
          <a:spcPct val="0"/>
        </a:spcAft>
        <a:defRPr kumimoji="1" sz="3200" b="1">
          <a:solidFill>
            <a:schemeClr val="tx1"/>
          </a:solidFill>
          <a:latin typeface="Times New Roman" pitchFamily="18" charset="0"/>
        </a:defRPr>
      </a:lvl7pPr>
      <a:lvl8pPr marL="1371600" algn="l" rtl="0" eaLnBrk="0" fontAlgn="base" hangingPunct="0">
        <a:spcBef>
          <a:spcPct val="0"/>
        </a:spcBef>
        <a:spcAft>
          <a:spcPct val="0"/>
        </a:spcAft>
        <a:defRPr kumimoji="1" sz="3200" b="1">
          <a:solidFill>
            <a:schemeClr val="tx1"/>
          </a:solidFill>
          <a:latin typeface="Times New Roman" pitchFamily="18" charset="0"/>
        </a:defRPr>
      </a:lvl8pPr>
      <a:lvl9pPr marL="1828800" algn="l" rtl="0" eaLnBrk="0" fontAlgn="base" hangingPunct="0">
        <a:spcBef>
          <a:spcPct val="0"/>
        </a:spcBef>
        <a:spcAft>
          <a:spcPct val="0"/>
        </a:spcAft>
        <a:defRPr kumimoji="1" sz="32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Q"/>
        <a:defRPr kumimoji="1" sz="2400" b="1">
          <a:solidFill>
            <a:schemeClr val="tx1"/>
          </a:solidFill>
          <a:latin typeface="+mn-lt"/>
          <a:sym typeface="MT Extra" pitchFamily="18" charset="2"/>
        </a:defRPr>
      </a:lvl2pPr>
      <a:lvl3pPr marL="1143000" indent="-228600" algn="l" rtl="0" eaLnBrk="0" fontAlgn="base" hangingPunct="0">
        <a:spcBef>
          <a:spcPct val="20000"/>
        </a:spcBef>
        <a:spcAft>
          <a:spcPct val="0"/>
        </a:spcAft>
        <a:buClr>
          <a:srgbClr val="FF0000"/>
        </a:buClr>
        <a:buFont typeface="MT Extra" pitchFamily="18" charset="2"/>
        <a:buChar char="f"/>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en.wikipedia.org/wiki/Glossary_of_graph_theory#Subgraphs" TargetMode="External"/><Relationship Id="rId2" Type="http://schemas.openxmlformats.org/officeDocument/2006/relationships/hyperlink" Target="http://en.wikipedia.org/wiki/Spanning_tree_(mathematics)" TargetMode="External"/><Relationship Id="rId1" Type="http://schemas.openxmlformats.org/officeDocument/2006/relationships/slideLayout" Target="../slideLayouts/slideLayout1.xml"/><Relationship Id="rId5" Type="http://schemas.openxmlformats.org/officeDocument/2006/relationships/hyperlink" Target="http://en.wikipedia.org/wiki/Vertex_(graph_theory)" TargetMode="External"/><Relationship Id="rId4" Type="http://schemas.openxmlformats.org/officeDocument/2006/relationships/hyperlink" Target="http://en.wikipedia.org/wiki/Tree_graph"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iide 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91288"/>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Line 3"/>
          <p:cNvSpPr>
            <a:spLocks noChangeShapeType="1"/>
          </p:cNvSpPr>
          <p:nvPr/>
        </p:nvSpPr>
        <p:spPr bwMode="auto">
          <a:xfrm>
            <a:off x="0" y="6481763"/>
            <a:ext cx="9144000" cy="0"/>
          </a:xfrm>
          <a:prstGeom prst="line">
            <a:avLst/>
          </a:prstGeom>
          <a:noFill/>
          <a:ln w="44450">
            <a:solidFill>
              <a:srgbClr val="006AFF"/>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052" name="Picture 5" descr="siide 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Rectangle 6"/>
          <p:cNvSpPr>
            <a:spLocks noChangeArrowheads="1"/>
          </p:cNvSpPr>
          <p:nvPr/>
        </p:nvSpPr>
        <p:spPr bwMode="auto">
          <a:xfrm>
            <a:off x="76200" y="76200"/>
            <a:ext cx="89916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lang="en-US" altLang="en-US" sz="2000" b="1">
              <a:solidFill>
                <a:schemeClr val="bg1"/>
              </a:solidFill>
              <a:ea typeface="新細明體" pitchFamily="18" charset="-120"/>
            </a:endParaRPr>
          </a:p>
        </p:txBody>
      </p:sp>
      <p:sp>
        <p:nvSpPr>
          <p:cNvPr id="7" name="Title 1"/>
          <p:cNvSpPr txBox="1">
            <a:spLocks/>
          </p:cNvSpPr>
          <p:nvPr/>
        </p:nvSpPr>
        <p:spPr bwMode="auto">
          <a:xfrm>
            <a:off x="457200" y="1219200"/>
            <a:ext cx="8305800" cy="1450975"/>
          </a:xfrm>
          <a:prstGeom prst="rect">
            <a:avLst/>
          </a:prstGeom>
          <a:solidFill>
            <a:schemeClr val="bg1"/>
          </a:solidFill>
          <a:ln>
            <a:solidFill>
              <a:schemeClr val="bg1"/>
            </a:solidFill>
          </a:ln>
        </p:spPr>
        <p:txBody>
          <a:bodyPr anchor="b"/>
          <a:lstStyle>
            <a:lvl1pPr algn="l" rtl="0" eaLnBrk="0" fontAlgn="base" hangingPunct="0">
              <a:spcBef>
                <a:spcPct val="0"/>
              </a:spcBef>
              <a:spcAft>
                <a:spcPct val="0"/>
              </a:spcAft>
              <a:defRPr kumimoji="1" sz="3200" b="1">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Times New Roman" pitchFamily="18" charset="0"/>
              </a:defRPr>
            </a:lvl2pPr>
            <a:lvl3pPr algn="l" rtl="0" eaLnBrk="0" fontAlgn="base" hangingPunct="0">
              <a:spcBef>
                <a:spcPct val="0"/>
              </a:spcBef>
              <a:spcAft>
                <a:spcPct val="0"/>
              </a:spcAft>
              <a:defRPr kumimoji="1" sz="3200" b="1">
                <a:solidFill>
                  <a:schemeClr val="tx1"/>
                </a:solidFill>
                <a:latin typeface="Times New Roman" pitchFamily="18" charset="0"/>
              </a:defRPr>
            </a:lvl3pPr>
            <a:lvl4pPr algn="l" rtl="0" eaLnBrk="0" fontAlgn="base" hangingPunct="0">
              <a:spcBef>
                <a:spcPct val="0"/>
              </a:spcBef>
              <a:spcAft>
                <a:spcPct val="0"/>
              </a:spcAft>
              <a:defRPr kumimoji="1" sz="3200" b="1">
                <a:solidFill>
                  <a:schemeClr val="tx1"/>
                </a:solidFill>
                <a:latin typeface="Times New Roman" pitchFamily="18" charset="0"/>
              </a:defRPr>
            </a:lvl4pPr>
            <a:lvl5pPr algn="l" rtl="0" eaLnBrk="0" fontAlgn="base" hangingPunct="0">
              <a:spcBef>
                <a:spcPct val="0"/>
              </a:spcBef>
              <a:spcAft>
                <a:spcPct val="0"/>
              </a:spcAft>
              <a:defRPr kumimoji="1" sz="3200" b="1">
                <a:solidFill>
                  <a:schemeClr val="tx1"/>
                </a:solidFill>
                <a:latin typeface="Times New Roman" pitchFamily="18" charset="0"/>
              </a:defRPr>
            </a:lvl5pPr>
            <a:lvl6pPr marL="457200" algn="l" rtl="0" eaLnBrk="0" fontAlgn="base" hangingPunct="0">
              <a:spcBef>
                <a:spcPct val="0"/>
              </a:spcBef>
              <a:spcAft>
                <a:spcPct val="0"/>
              </a:spcAft>
              <a:defRPr kumimoji="1" sz="3200" b="1">
                <a:solidFill>
                  <a:schemeClr val="tx1"/>
                </a:solidFill>
                <a:latin typeface="Times New Roman" pitchFamily="18" charset="0"/>
              </a:defRPr>
            </a:lvl6pPr>
            <a:lvl7pPr marL="914400" algn="l" rtl="0" eaLnBrk="0" fontAlgn="base" hangingPunct="0">
              <a:spcBef>
                <a:spcPct val="0"/>
              </a:spcBef>
              <a:spcAft>
                <a:spcPct val="0"/>
              </a:spcAft>
              <a:defRPr kumimoji="1" sz="3200" b="1">
                <a:solidFill>
                  <a:schemeClr val="tx1"/>
                </a:solidFill>
                <a:latin typeface="Times New Roman" pitchFamily="18" charset="0"/>
              </a:defRPr>
            </a:lvl7pPr>
            <a:lvl8pPr marL="1371600" algn="l" rtl="0" eaLnBrk="0" fontAlgn="base" hangingPunct="0">
              <a:spcBef>
                <a:spcPct val="0"/>
              </a:spcBef>
              <a:spcAft>
                <a:spcPct val="0"/>
              </a:spcAft>
              <a:defRPr kumimoji="1" sz="3200" b="1">
                <a:solidFill>
                  <a:schemeClr val="tx1"/>
                </a:solidFill>
                <a:latin typeface="Times New Roman" pitchFamily="18" charset="0"/>
              </a:defRPr>
            </a:lvl8pPr>
            <a:lvl9pPr marL="1828800" algn="l" rtl="0" eaLnBrk="0" fontAlgn="base" hangingPunct="0">
              <a:spcBef>
                <a:spcPct val="0"/>
              </a:spcBef>
              <a:spcAft>
                <a:spcPct val="0"/>
              </a:spcAft>
              <a:defRPr kumimoji="1" sz="3200" b="1">
                <a:solidFill>
                  <a:schemeClr val="tx1"/>
                </a:solidFill>
                <a:latin typeface="Times New Roman" pitchFamily="18" charset="0"/>
              </a:defRPr>
            </a:lvl9pPr>
          </a:lstStyle>
          <a:p>
            <a:pPr>
              <a:defRPr/>
            </a:pPr>
            <a:r>
              <a:rPr lang="en-US" kern="0" dirty="0" smtClean="0"/>
              <a:t>CSC 301 – Design and </a:t>
            </a:r>
            <a:r>
              <a:rPr lang="en-US" kern="0" dirty="0"/>
              <a:t>Analysis </a:t>
            </a:r>
            <a:r>
              <a:rPr lang="en-US" kern="0" dirty="0" smtClean="0"/>
              <a:t>of Algorithms</a:t>
            </a:r>
            <a:endParaRPr lang="en-US" kern="0" dirty="0"/>
          </a:p>
        </p:txBody>
      </p:sp>
      <p:sp>
        <p:nvSpPr>
          <p:cNvPr id="8" name="Subtitle 2"/>
          <p:cNvSpPr txBox="1">
            <a:spLocks/>
          </p:cNvSpPr>
          <p:nvPr/>
        </p:nvSpPr>
        <p:spPr bwMode="auto">
          <a:xfrm>
            <a:off x="609600" y="3505200"/>
            <a:ext cx="7848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Q"/>
              <a:defRPr kumimoji="1" sz="2400" b="1">
                <a:solidFill>
                  <a:schemeClr val="tx1"/>
                </a:solidFill>
                <a:latin typeface="+mn-lt"/>
                <a:sym typeface="MT Extra" pitchFamily="18" charset="2"/>
              </a:defRPr>
            </a:lvl2pPr>
            <a:lvl3pPr marL="1143000" indent="-228600" algn="l" rtl="0" eaLnBrk="0" fontAlgn="base" hangingPunct="0">
              <a:spcBef>
                <a:spcPct val="20000"/>
              </a:spcBef>
              <a:spcAft>
                <a:spcPct val="0"/>
              </a:spcAft>
              <a:buClr>
                <a:srgbClr val="FF0000"/>
              </a:buClr>
              <a:buFont typeface="MT Extra" pitchFamily="18" charset="2"/>
              <a:buChar char="f"/>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a:lstStyle>
          <a:p>
            <a:pPr marL="0" indent="0" algn="ctr">
              <a:buFontTx/>
              <a:buNone/>
              <a:defRPr/>
            </a:pPr>
            <a:r>
              <a:rPr lang="en-US" b="1" spc="-100" dirty="0">
                <a:solidFill>
                  <a:schemeClr val="tx2"/>
                </a:solidFill>
              </a:rPr>
              <a:t>Instructor: </a:t>
            </a:r>
            <a:r>
              <a:rPr lang="en-US" b="1" spc="-100" dirty="0" smtClean="0">
                <a:solidFill>
                  <a:schemeClr val="tx2"/>
                </a:solidFill>
              </a:rPr>
              <a:t>Duaa-e-</a:t>
            </a:r>
            <a:r>
              <a:rPr lang="en-US" b="1" spc="-100" dirty="0" err="1" smtClean="0">
                <a:solidFill>
                  <a:schemeClr val="tx2"/>
                </a:solidFill>
              </a:rPr>
              <a:t>Nadeem</a:t>
            </a:r>
            <a:endParaRPr lang="en-US" b="1" spc="-100" dirty="0">
              <a:solidFill>
                <a:schemeClr val="tx2"/>
              </a:solidFill>
            </a:endParaRPr>
          </a:p>
          <a:p>
            <a:pPr marL="0" indent="0" algn="ctr">
              <a:buFontTx/>
              <a:buNone/>
              <a:defRPr/>
            </a:pPr>
            <a:r>
              <a:rPr lang="en-US" b="1" spc="-100" dirty="0">
                <a:solidFill>
                  <a:schemeClr val="tx2"/>
                </a:solidFill>
              </a:rPr>
              <a:t>Lecture# </a:t>
            </a:r>
            <a:r>
              <a:rPr lang="en-US" b="1" spc="-100" dirty="0" smtClean="0">
                <a:solidFill>
                  <a:schemeClr val="tx2"/>
                </a:solidFill>
              </a:rPr>
              <a:t>06: </a:t>
            </a:r>
            <a:r>
              <a:rPr lang="en-US" b="1" kern="0" spc="-100" dirty="0" smtClean="0">
                <a:solidFill>
                  <a:schemeClr val="tx2"/>
                </a:solidFill>
                <a:latin typeface="+mj-lt"/>
                <a:ea typeface="+mj-ea"/>
                <a:cs typeface="+mj-cs"/>
              </a:rPr>
              <a:t>Graph Algorithms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6" name="Rectangle 2"/>
          <p:cNvSpPr>
            <a:spLocks noGrp="1" noChangeArrowheads="1"/>
          </p:cNvSpPr>
          <p:nvPr>
            <p:ph type="title"/>
          </p:nvPr>
        </p:nvSpPr>
        <p:spPr>
          <a:xfrm>
            <a:off x="381000" y="152400"/>
            <a:ext cx="8229600" cy="685800"/>
          </a:xfrm>
        </p:spPr>
        <p:txBody>
          <a:bodyPr/>
          <a:lstStyle/>
          <a:p>
            <a:r>
              <a:rPr lang="en-US" altLang="en-US"/>
              <a:t>Review: Graphs</a:t>
            </a:r>
          </a:p>
        </p:txBody>
      </p:sp>
      <p:sp>
        <p:nvSpPr>
          <p:cNvPr id="1188867" name="Rectangle 3"/>
          <p:cNvSpPr>
            <a:spLocks noGrp="1" noChangeArrowheads="1"/>
          </p:cNvSpPr>
          <p:nvPr>
            <p:ph type="body" idx="1"/>
          </p:nvPr>
        </p:nvSpPr>
        <p:spPr>
          <a:xfrm>
            <a:off x="304800" y="1066800"/>
            <a:ext cx="8686800" cy="4724400"/>
          </a:xfrm>
        </p:spPr>
        <p:txBody>
          <a:bodyPr/>
          <a:lstStyle/>
          <a:p>
            <a:r>
              <a:rPr lang="en-US" altLang="en-US" dirty="0"/>
              <a:t>A graph G = (V, E)</a:t>
            </a:r>
          </a:p>
          <a:p>
            <a:pPr lvl="1"/>
            <a:r>
              <a:rPr lang="en-US" altLang="en-US" dirty="0"/>
              <a:t>V = set of vertices, E = set of edges </a:t>
            </a:r>
          </a:p>
          <a:p>
            <a:pPr lvl="1"/>
            <a:r>
              <a:rPr lang="en-US" altLang="en-US" i="1" dirty="0">
                <a:solidFill>
                  <a:schemeClr val="tx2"/>
                </a:solidFill>
              </a:rPr>
              <a:t>Dense</a:t>
            </a:r>
            <a:r>
              <a:rPr lang="en-US" altLang="en-US" i="1" dirty="0"/>
              <a:t> </a:t>
            </a:r>
            <a:r>
              <a:rPr lang="en-US" altLang="en-US" dirty="0"/>
              <a:t>graph: |E| </a:t>
            </a:r>
            <a:r>
              <a:rPr lang="en-US" altLang="en-US" dirty="0">
                <a:sym typeface="Symbol" pitchFamily="18" charset="2"/>
              </a:rPr>
              <a:t> |V|</a:t>
            </a:r>
            <a:r>
              <a:rPr lang="en-US" altLang="en-US" baseline="30000" dirty="0">
                <a:sym typeface="Symbol" pitchFamily="18" charset="2"/>
              </a:rPr>
              <a:t>2</a:t>
            </a:r>
            <a:r>
              <a:rPr lang="en-US" altLang="en-US" dirty="0">
                <a:sym typeface="Symbol" pitchFamily="18" charset="2"/>
              </a:rPr>
              <a:t>; </a:t>
            </a:r>
            <a:r>
              <a:rPr lang="en-US" altLang="en-US" i="1" dirty="0">
                <a:solidFill>
                  <a:schemeClr val="tx2"/>
                </a:solidFill>
                <a:sym typeface="Symbol" pitchFamily="18" charset="2"/>
              </a:rPr>
              <a:t>Sparse</a:t>
            </a:r>
            <a:r>
              <a:rPr lang="en-US" altLang="en-US" dirty="0">
                <a:sym typeface="Symbol" pitchFamily="18" charset="2"/>
              </a:rPr>
              <a:t> graph: </a:t>
            </a:r>
            <a:r>
              <a:rPr lang="en-US" altLang="en-US" dirty="0"/>
              <a:t>|E| </a:t>
            </a:r>
            <a:r>
              <a:rPr lang="en-US" altLang="en-US" dirty="0">
                <a:sym typeface="Symbol" pitchFamily="18" charset="2"/>
              </a:rPr>
              <a:t> |V|</a:t>
            </a:r>
            <a:endParaRPr lang="en-US" altLang="en-US" i="1" dirty="0"/>
          </a:p>
          <a:p>
            <a:pPr lvl="1"/>
            <a:r>
              <a:rPr lang="en-US" altLang="en-US" i="1" dirty="0">
                <a:solidFill>
                  <a:schemeClr val="tx2"/>
                </a:solidFill>
              </a:rPr>
              <a:t>Undirected graph:</a:t>
            </a:r>
          </a:p>
          <a:p>
            <a:pPr lvl="2"/>
            <a:r>
              <a:rPr lang="en-US" altLang="en-US" sz="2200" dirty="0"/>
              <a:t>Edge (</a:t>
            </a:r>
            <a:r>
              <a:rPr lang="en-US" altLang="en-US" sz="2200" dirty="0" err="1"/>
              <a:t>u,v</a:t>
            </a:r>
            <a:r>
              <a:rPr lang="en-US" altLang="en-US" sz="2200" dirty="0"/>
              <a:t>) = edge (</a:t>
            </a:r>
            <a:r>
              <a:rPr lang="en-US" altLang="en-US" sz="2200" dirty="0" err="1"/>
              <a:t>v,u</a:t>
            </a:r>
            <a:r>
              <a:rPr lang="en-US" altLang="en-US" sz="2200" dirty="0"/>
              <a:t>)</a:t>
            </a:r>
          </a:p>
          <a:p>
            <a:pPr lvl="2"/>
            <a:r>
              <a:rPr lang="en-US" altLang="en-US" sz="2200" dirty="0"/>
              <a:t>No self-loops</a:t>
            </a:r>
          </a:p>
          <a:p>
            <a:pPr lvl="1"/>
            <a:r>
              <a:rPr lang="en-US" altLang="en-US" i="1" dirty="0">
                <a:solidFill>
                  <a:schemeClr val="tx2"/>
                </a:solidFill>
              </a:rPr>
              <a:t>Directed</a:t>
            </a:r>
            <a:r>
              <a:rPr lang="en-US" altLang="en-US" dirty="0"/>
              <a:t> graph:</a:t>
            </a:r>
          </a:p>
          <a:p>
            <a:pPr lvl="2"/>
            <a:r>
              <a:rPr lang="en-US" altLang="en-US" sz="2200" dirty="0"/>
              <a:t>Edge (</a:t>
            </a:r>
            <a:r>
              <a:rPr lang="en-US" altLang="en-US" sz="2200" dirty="0" err="1"/>
              <a:t>u,v</a:t>
            </a:r>
            <a:r>
              <a:rPr lang="en-US" altLang="en-US" sz="2200" dirty="0"/>
              <a:t>) goes from vertex u to vertex v, notated </a:t>
            </a:r>
            <a:r>
              <a:rPr lang="en-US" altLang="en-US" sz="2200" dirty="0" err="1"/>
              <a:t>u</a:t>
            </a:r>
            <a:r>
              <a:rPr lang="en-US" altLang="en-US" sz="2200" dirty="0" err="1">
                <a:sym typeface="Symbol" pitchFamily="18" charset="2"/>
              </a:rPr>
              <a:t>v</a:t>
            </a:r>
            <a:endParaRPr lang="en-US" altLang="en-US" sz="2200" dirty="0"/>
          </a:p>
          <a:p>
            <a:pPr lvl="1"/>
            <a:r>
              <a:rPr lang="en-US" altLang="en-US" dirty="0"/>
              <a:t>A </a:t>
            </a:r>
            <a:r>
              <a:rPr lang="en-US" altLang="en-US" i="1" dirty="0">
                <a:solidFill>
                  <a:schemeClr val="tx2"/>
                </a:solidFill>
              </a:rPr>
              <a:t>weighted graph</a:t>
            </a:r>
            <a:r>
              <a:rPr lang="en-US" altLang="en-US" dirty="0"/>
              <a:t> associates weights with either the edges or the vertices</a:t>
            </a:r>
          </a:p>
        </p:txBody>
      </p:sp>
    </p:spTree>
    <p:extLst>
      <p:ext uri="{BB962C8B-B14F-4D97-AF65-F5344CB8AC3E}">
        <p14:creationId xmlns:p14="http://schemas.microsoft.com/office/powerpoint/2010/main" val="24251683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890" name="Rectangle 2"/>
          <p:cNvSpPr>
            <a:spLocks noGrp="1" noChangeArrowheads="1"/>
          </p:cNvSpPr>
          <p:nvPr>
            <p:ph type="title"/>
          </p:nvPr>
        </p:nvSpPr>
        <p:spPr>
          <a:xfrm>
            <a:off x="381000" y="152400"/>
            <a:ext cx="8229600" cy="685800"/>
          </a:xfrm>
        </p:spPr>
        <p:txBody>
          <a:bodyPr/>
          <a:lstStyle/>
          <a:p>
            <a:r>
              <a:rPr lang="en-US" altLang="en-US"/>
              <a:t>Review: Representing Graphs</a:t>
            </a:r>
          </a:p>
        </p:txBody>
      </p:sp>
      <p:sp>
        <p:nvSpPr>
          <p:cNvPr id="1189891" name="Rectangle 3"/>
          <p:cNvSpPr>
            <a:spLocks noGrp="1" noChangeArrowheads="1"/>
          </p:cNvSpPr>
          <p:nvPr>
            <p:ph type="body" idx="1"/>
          </p:nvPr>
        </p:nvSpPr>
        <p:spPr>
          <a:xfrm>
            <a:off x="304800" y="1066800"/>
            <a:ext cx="8458200" cy="5181600"/>
          </a:xfrm>
        </p:spPr>
        <p:txBody>
          <a:bodyPr/>
          <a:lstStyle/>
          <a:p>
            <a:r>
              <a:rPr lang="en-US" altLang="en-US" dirty="0"/>
              <a:t>Assume V = {1, 2, …, </a:t>
            </a:r>
            <a:r>
              <a:rPr lang="en-US" altLang="en-US" i="1" dirty="0"/>
              <a:t>n</a:t>
            </a:r>
            <a:r>
              <a:rPr lang="en-US" altLang="en-US" dirty="0"/>
              <a:t>}</a:t>
            </a:r>
          </a:p>
          <a:p>
            <a:r>
              <a:rPr lang="en-US" altLang="en-US" dirty="0"/>
              <a:t>An </a:t>
            </a:r>
            <a:r>
              <a:rPr lang="en-US" altLang="en-US" i="1" dirty="0">
                <a:solidFill>
                  <a:schemeClr val="tx2"/>
                </a:solidFill>
              </a:rPr>
              <a:t>adjacency matrix</a:t>
            </a:r>
            <a:r>
              <a:rPr lang="en-US" altLang="en-US" i="1" dirty="0"/>
              <a:t> </a:t>
            </a:r>
            <a:r>
              <a:rPr lang="en-US" altLang="en-US" dirty="0"/>
              <a:t>represents the graph as a </a:t>
            </a:r>
            <a:r>
              <a:rPr lang="en-US" altLang="en-US" i="1" dirty="0"/>
              <a:t>n </a:t>
            </a:r>
            <a:r>
              <a:rPr lang="en-US" altLang="en-US" dirty="0"/>
              <a:t>x </a:t>
            </a:r>
            <a:r>
              <a:rPr lang="en-US" altLang="en-US" i="1" dirty="0"/>
              <a:t>n</a:t>
            </a:r>
            <a:r>
              <a:rPr lang="en-US" altLang="en-US" dirty="0"/>
              <a:t> matrix A:</a:t>
            </a:r>
          </a:p>
          <a:p>
            <a:pPr lvl="1"/>
            <a:r>
              <a:rPr lang="en-US" altLang="en-US" dirty="0"/>
              <a:t>A[</a:t>
            </a:r>
            <a:r>
              <a:rPr lang="en-US" altLang="en-US" i="1" dirty="0" err="1"/>
              <a:t>i</a:t>
            </a:r>
            <a:r>
              <a:rPr lang="en-US" altLang="en-US" dirty="0"/>
              <a:t>, </a:t>
            </a:r>
            <a:r>
              <a:rPr lang="en-US" altLang="en-US" i="1" dirty="0"/>
              <a:t>j</a:t>
            </a:r>
            <a:r>
              <a:rPr lang="en-US" altLang="en-US" dirty="0"/>
              <a:t>] 	= 1 if edge (</a:t>
            </a:r>
            <a:r>
              <a:rPr lang="en-US" altLang="en-US" i="1" dirty="0" err="1"/>
              <a:t>i</a:t>
            </a:r>
            <a:r>
              <a:rPr lang="en-US" altLang="en-US" dirty="0"/>
              <a:t>, </a:t>
            </a:r>
            <a:r>
              <a:rPr lang="en-US" altLang="en-US" i="1" dirty="0"/>
              <a:t>j</a:t>
            </a:r>
            <a:r>
              <a:rPr lang="en-US" altLang="en-US" dirty="0"/>
              <a:t>) </a:t>
            </a:r>
            <a:r>
              <a:rPr lang="en-US" altLang="en-US" dirty="0">
                <a:sym typeface="Symbol" pitchFamily="18" charset="2"/>
              </a:rPr>
              <a:t> </a:t>
            </a:r>
            <a:r>
              <a:rPr lang="en-US" altLang="en-US" dirty="0"/>
              <a:t>E   (or weight of edge)</a:t>
            </a:r>
            <a:br>
              <a:rPr lang="en-US" altLang="en-US" dirty="0"/>
            </a:br>
            <a:r>
              <a:rPr lang="en-US" altLang="en-US" dirty="0"/>
              <a:t>		= 0 if edge (</a:t>
            </a:r>
            <a:r>
              <a:rPr lang="en-US" altLang="en-US" i="1" dirty="0" err="1"/>
              <a:t>i</a:t>
            </a:r>
            <a:r>
              <a:rPr lang="en-US" altLang="en-US" dirty="0"/>
              <a:t>, </a:t>
            </a:r>
            <a:r>
              <a:rPr lang="en-US" altLang="en-US" i="1" dirty="0"/>
              <a:t>j</a:t>
            </a:r>
            <a:r>
              <a:rPr lang="en-US" altLang="en-US" dirty="0"/>
              <a:t>) </a:t>
            </a:r>
            <a:r>
              <a:rPr lang="en-US" altLang="en-US" dirty="0">
                <a:sym typeface="Symbol" pitchFamily="18" charset="2"/>
              </a:rPr>
              <a:t> E</a:t>
            </a:r>
          </a:p>
          <a:p>
            <a:pPr lvl="1"/>
            <a:r>
              <a:rPr lang="en-US" altLang="en-US" dirty="0">
                <a:sym typeface="Symbol" pitchFamily="18" charset="2"/>
              </a:rPr>
              <a:t>Storage requirements: O(V</a:t>
            </a:r>
            <a:r>
              <a:rPr lang="en-US" altLang="en-US" baseline="30000" dirty="0">
                <a:sym typeface="Symbol" pitchFamily="18" charset="2"/>
              </a:rPr>
              <a:t>2</a:t>
            </a:r>
            <a:r>
              <a:rPr lang="en-US" altLang="en-US" dirty="0">
                <a:sym typeface="Symbol" pitchFamily="18" charset="2"/>
              </a:rPr>
              <a:t>) </a:t>
            </a:r>
          </a:p>
          <a:p>
            <a:pPr lvl="2"/>
            <a:r>
              <a:rPr lang="en-US" altLang="en-US" sz="2200" dirty="0">
                <a:sym typeface="Symbol" pitchFamily="18" charset="2"/>
              </a:rPr>
              <a:t>A dense representation</a:t>
            </a:r>
          </a:p>
          <a:p>
            <a:pPr lvl="1"/>
            <a:r>
              <a:rPr lang="en-US" altLang="en-US" dirty="0">
                <a:sym typeface="Symbol" pitchFamily="18" charset="2"/>
              </a:rPr>
              <a:t>But, can be very efficient for small graphs</a:t>
            </a:r>
          </a:p>
          <a:p>
            <a:pPr lvl="2"/>
            <a:r>
              <a:rPr lang="en-US" altLang="en-US" sz="2200" dirty="0">
                <a:sym typeface="Symbol" pitchFamily="18" charset="2"/>
              </a:rPr>
              <a:t>Especially if store just one bit/edge</a:t>
            </a:r>
          </a:p>
          <a:p>
            <a:pPr lvl="2"/>
            <a:r>
              <a:rPr lang="en-US" altLang="en-US" sz="2200" dirty="0">
                <a:sym typeface="Symbol" pitchFamily="18" charset="2"/>
              </a:rPr>
              <a:t>Undirected graph: only need one diagonal of matrix</a:t>
            </a:r>
          </a:p>
        </p:txBody>
      </p:sp>
    </p:spTree>
    <p:extLst>
      <p:ext uri="{BB962C8B-B14F-4D97-AF65-F5344CB8AC3E}">
        <p14:creationId xmlns:p14="http://schemas.microsoft.com/office/powerpoint/2010/main" val="35189523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890" name="Rectangle 2"/>
          <p:cNvSpPr>
            <a:spLocks noGrp="1" noChangeArrowheads="1"/>
          </p:cNvSpPr>
          <p:nvPr>
            <p:ph type="title"/>
          </p:nvPr>
        </p:nvSpPr>
        <p:spPr>
          <a:xfrm>
            <a:off x="381000" y="152400"/>
            <a:ext cx="8229600" cy="685800"/>
          </a:xfrm>
        </p:spPr>
        <p:txBody>
          <a:bodyPr/>
          <a:lstStyle/>
          <a:p>
            <a:r>
              <a:rPr lang="en-US" altLang="en-US" dirty="0"/>
              <a:t>Review: Representing Graphs</a:t>
            </a:r>
          </a:p>
        </p:txBody>
      </p:sp>
      <p:sp>
        <p:nvSpPr>
          <p:cNvPr id="1189891" name="Rectangle 3"/>
          <p:cNvSpPr>
            <a:spLocks noGrp="1" noChangeArrowheads="1"/>
          </p:cNvSpPr>
          <p:nvPr>
            <p:ph type="body" idx="1"/>
          </p:nvPr>
        </p:nvSpPr>
        <p:spPr>
          <a:xfrm>
            <a:off x="304800" y="1066800"/>
            <a:ext cx="8458200" cy="5181600"/>
          </a:xfrm>
        </p:spPr>
        <p:txBody>
          <a:bodyPr/>
          <a:lstStyle/>
          <a:p>
            <a:r>
              <a:rPr lang="en-US" altLang="en-US" dirty="0"/>
              <a:t>Assume V = {1, 2, …, </a:t>
            </a:r>
            <a:r>
              <a:rPr lang="en-US" altLang="en-US" i="1" dirty="0"/>
              <a:t>n</a:t>
            </a:r>
            <a:r>
              <a:rPr lang="en-US" altLang="en-US" dirty="0"/>
              <a:t>}</a:t>
            </a:r>
          </a:p>
          <a:p>
            <a:pPr algn="just"/>
            <a:r>
              <a:rPr lang="en-US" altLang="en-US" dirty="0"/>
              <a:t>An </a:t>
            </a:r>
            <a:r>
              <a:rPr lang="en-US" altLang="en-US" i="1" dirty="0">
                <a:solidFill>
                  <a:schemeClr val="tx2"/>
                </a:solidFill>
              </a:rPr>
              <a:t>adjacency </a:t>
            </a:r>
            <a:r>
              <a:rPr lang="en-US" altLang="en-US" i="1" dirty="0" smtClean="0">
                <a:solidFill>
                  <a:schemeClr val="tx2"/>
                </a:solidFill>
              </a:rPr>
              <a:t>list</a:t>
            </a:r>
            <a:r>
              <a:rPr lang="en-US" altLang="en-US" i="1" dirty="0" smtClean="0"/>
              <a:t> </a:t>
            </a:r>
            <a:r>
              <a:rPr lang="en-US" altLang="en-US" dirty="0"/>
              <a:t>represents the graph as </a:t>
            </a:r>
            <a:r>
              <a:rPr lang="en-US" altLang="en-US" dirty="0" smtClean="0"/>
              <a:t>an array of linked list. For each u </a:t>
            </a:r>
            <a:r>
              <a:rPr lang="el-GR" altLang="en-US" dirty="0" smtClean="0">
                <a:latin typeface="Calibri"/>
                <a:cs typeface="Calibri"/>
              </a:rPr>
              <a:t>ϵ</a:t>
            </a:r>
            <a:r>
              <a:rPr lang="en-US" altLang="en-US" dirty="0" smtClean="0"/>
              <a:t> V, the adjacency list A[u] consists of all the vertices adjacent to vertex u.</a:t>
            </a:r>
            <a:endParaRPr lang="en-US" altLang="en-US" dirty="0"/>
          </a:p>
          <a:p>
            <a:pPr lvl="1"/>
            <a:r>
              <a:rPr lang="en-US" altLang="en-US" dirty="0" smtClean="0">
                <a:sym typeface="Symbol" pitchFamily="18" charset="2"/>
              </a:rPr>
              <a:t>Storage </a:t>
            </a:r>
            <a:r>
              <a:rPr lang="en-US" altLang="en-US" dirty="0">
                <a:sym typeface="Symbol" pitchFamily="18" charset="2"/>
              </a:rPr>
              <a:t>requirements: </a:t>
            </a:r>
            <a:r>
              <a:rPr lang="en-US" altLang="en-US" dirty="0" smtClean="0">
                <a:sym typeface="Symbol" pitchFamily="18" charset="2"/>
              </a:rPr>
              <a:t>O(V + E) </a:t>
            </a:r>
            <a:endParaRPr lang="en-US" altLang="en-US" dirty="0">
              <a:sym typeface="Symbol" pitchFamily="18" charset="2"/>
            </a:endParaRPr>
          </a:p>
          <a:p>
            <a:pPr lvl="2"/>
            <a:r>
              <a:rPr lang="en-US" altLang="en-US" sz="2200" dirty="0">
                <a:sym typeface="Symbol" pitchFamily="18" charset="2"/>
              </a:rPr>
              <a:t>A </a:t>
            </a:r>
            <a:r>
              <a:rPr lang="en-US" altLang="en-US" sz="2200" dirty="0" smtClean="0">
                <a:sym typeface="Symbol" pitchFamily="18" charset="2"/>
              </a:rPr>
              <a:t>sparse </a:t>
            </a:r>
            <a:r>
              <a:rPr lang="en-US" altLang="en-US" sz="2200" dirty="0">
                <a:sym typeface="Symbol" pitchFamily="18" charset="2"/>
              </a:rPr>
              <a:t>representation</a:t>
            </a:r>
          </a:p>
          <a:p>
            <a:pPr lvl="1"/>
            <a:r>
              <a:rPr lang="en-US" altLang="en-US" dirty="0" smtClean="0">
                <a:sym typeface="Symbol" pitchFamily="18" charset="2"/>
              </a:rPr>
              <a:t>Used for large sparse graphs</a:t>
            </a:r>
            <a:endParaRPr lang="en-US" altLang="en-US" dirty="0">
              <a:sym typeface="Symbol" pitchFamily="18" charset="2"/>
            </a:endParaRPr>
          </a:p>
          <a:p>
            <a:pPr lvl="2"/>
            <a:r>
              <a:rPr lang="en-US" altLang="en-US" sz="2200" dirty="0" smtClean="0">
                <a:sym typeface="Symbol" pitchFamily="18" charset="2"/>
              </a:rPr>
              <a:t>E = O(V)</a:t>
            </a:r>
            <a:endParaRPr lang="en-US" altLang="en-US" sz="2200" dirty="0">
              <a:sym typeface="Symbol" pitchFamily="18" charset="2"/>
            </a:endParaRPr>
          </a:p>
        </p:txBody>
      </p:sp>
    </p:spTree>
    <p:extLst>
      <p:ext uri="{BB962C8B-B14F-4D97-AF65-F5344CB8AC3E}">
        <p14:creationId xmlns:p14="http://schemas.microsoft.com/office/powerpoint/2010/main" val="4620842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81000" y="152400"/>
            <a:ext cx="8229600" cy="685800"/>
          </a:xfrm>
        </p:spPr>
        <p:txBody>
          <a:bodyPr/>
          <a:lstStyle/>
          <a:p>
            <a:r>
              <a:rPr lang="en-US" altLang="en-US" dirty="0" smtClean="0">
                <a:cs typeface="Calibri" pitchFamily="34" charset="0"/>
                <a:sym typeface="Symbol" pitchFamily="18" charset="2"/>
              </a:rPr>
              <a:t>Graph Searching/ </a:t>
            </a:r>
            <a:r>
              <a:rPr lang="en-US" altLang="en-US" dirty="0" smtClean="0">
                <a:cs typeface="Calibri" pitchFamily="34" charset="0"/>
              </a:rPr>
              <a:t>Traversals</a:t>
            </a:r>
          </a:p>
        </p:txBody>
      </p:sp>
      <p:sp>
        <p:nvSpPr>
          <p:cNvPr id="3075" name="Rectangle 3"/>
          <p:cNvSpPr>
            <a:spLocks noGrp="1" noChangeArrowheads="1"/>
          </p:cNvSpPr>
          <p:nvPr>
            <p:ph type="body" idx="1"/>
          </p:nvPr>
        </p:nvSpPr>
        <p:spPr>
          <a:xfrm>
            <a:off x="304800" y="1066800"/>
            <a:ext cx="8534400" cy="5029200"/>
          </a:xfrm>
        </p:spPr>
        <p:txBody>
          <a:bodyPr/>
          <a:lstStyle/>
          <a:p>
            <a:r>
              <a:rPr lang="en-US" altLang="en-US" sz="2400" dirty="0">
                <a:solidFill>
                  <a:srgbClr val="262626"/>
                </a:solidFill>
              </a:rPr>
              <a:t>Searching for a path from one vertex to another:</a:t>
            </a:r>
            <a:endParaRPr lang="en-US" altLang="en-US" sz="2400" dirty="0" smtClean="0">
              <a:cs typeface="Calibri" pitchFamily="34" charset="0"/>
            </a:endParaRPr>
          </a:p>
          <a:p>
            <a:pPr lvl="1"/>
            <a:r>
              <a:rPr lang="en-US" altLang="en-US" sz="2000" dirty="0"/>
              <a:t>Sometimes, we just want </a:t>
            </a:r>
            <a:r>
              <a:rPr lang="en-US" altLang="en-US" sz="2000" i="1" dirty="0"/>
              <a:t>any </a:t>
            </a:r>
            <a:r>
              <a:rPr lang="en-US" altLang="en-US" sz="2000" dirty="0"/>
              <a:t>path (or want to know there </a:t>
            </a:r>
            <a:r>
              <a:rPr lang="en-US" altLang="en-US" sz="2000" i="1" dirty="0"/>
              <a:t>is</a:t>
            </a:r>
            <a:r>
              <a:rPr lang="en-US" altLang="en-US" sz="2000" dirty="0"/>
              <a:t> a path</a:t>
            </a:r>
            <a:r>
              <a:rPr lang="en-US" altLang="en-US" sz="2000" dirty="0" smtClean="0"/>
              <a:t>)</a:t>
            </a:r>
          </a:p>
          <a:p>
            <a:pPr lvl="1"/>
            <a:r>
              <a:rPr lang="en-US" altLang="en-US" sz="2000" dirty="0"/>
              <a:t>Sometimes, we want to minimize path </a:t>
            </a:r>
            <a:r>
              <a:rPr lang="en-US" altLang="en-US" sz="2000" i="1" dirty="0"/>
              <a:t>length</a:t>
            </a:r>
            <a:r>
              <a:rPr lang="en-US" altLang="en-US" sz="2000" dirty="0"/>
              <a:t> (# of edges</a:t>
            </a:r>
            <a:r>
              <a:rPr lang="en-US" altLang="en-US" sz="2000" dirty="0" smtClean="0"/>
              <a:t>)</a:t>
            </a:r>
          </a:p>
          <a:p>
            <a:pPr lvl="1"/>
            <a:r>
              <a:rPr lang="en-US" altLang="en-US" sz="2000" dirty="0"/>
              <a:t>Sometimes, we want to minimize path </a:t>
            </a:r>
            <a:r>
              <a:rPr lang="en-US" altLang="en-US" sz="2000" i="1" dirty="0"/>
              <a:t>cost</a:t>
            </a:r>
            <a:r>
              <a:rPr lang="en-US" altLang="en-US" sz="2000" dirty="0"/>
              <a:t> (sum of edge weights)</a:t>
            </a:r>
            <a:endParaRPr lang="en-US" altLang="en-US" sz="2000" dirty="0" smtClean="0">
              <a:cs typeface="Calibri" pitchFamily="34" charset="0"/>
            </a:endParaRPr>
          </a:p>
          <a:p>
            <a:pPr lvl="1"/>
            <a:r>
              <a:rPr lang="en-US" altLang="en-US" sz="2000" dirty="0" smtClean="0">
                <a:cs typeface="Calibri" pitchFamily="34" charset="0"/>
              </a:rPr>
              <a:t>Sometimes, we want to visit every vertex in the graph exactly once</a:t>
            </a:r>
            <a:endParaRPr lang="en-US" altLang="en-US" dirty="0" smtClean="0">
              <a:cs typeface="Calibri" pitchFamily="34" charset="0"/>
            </a:endParaRPr>
          </a:p>
          <a:p>
            <a:endParaRPr lang="en-US" altLang="en-US" sz="1600" dirty="0" smtClean="0">
              <a:solidFill>
                <a:srgbClr val="262626"/>
              </a:solidFill>
            </a:endParaRPr>
          </a:p>
          <a:p>
            <a:r>
              <a:rPr lang="en-US" altLang="en-US" sz="2400" dirty="0" smtClean="0">
                <a:solidFill>
                  <a:srgbClr val="262626"/>
                </a:solidFill>
              </a:rPr>
              <a:t>What </a:t>
            </a:r>
            <a:r>
              <a:rPr lang="en-US" altLang="en-US" sz="2400" dirty="0">
                <a:solidFill>
                  <a:srgbClr val="262626"/>
                </a:solidFill>
              </a:rPr>
              <a:t>is the shortest path from MIA to </a:t>
            </a:r>
            <a:r>
              <a:rPr lang="en-US" altLang="en-US" sz="2400" dirty="0" smtClean="0">
                <a:solidFill>
                  <a:srgbClr val="262626"/>
                </a:solidFill>
              </a:rPr>
              <a:t>SFO?</a:t>
            </a:r>
          </a:p>
          <a:p>
            <a:r>
              <a:rPr lang="en-US" altLang="en-US" sz="2400" dirty="0" smtClean="0">
                <a:solidFill>
                  <a:srgbClr val="262626"/>
                </a:solidFill>
              </a:rPr>
              <a:t>Which </a:t>
            </a:r>
            <a:r>
              <a:rPr lang="en-US" altLang="en-US" sz="2400" dirty="0">
                <a:solidFill>
                  <a:srgbClr val="262626"/>
                </a:solidFill>
              </a:rPr>
              <a:t>path has the minimum cost?</a:t>
            </a:r>
            <a:endParaRPr lang="en-US" altLang="en-US" sz="2400" dirty="0" smtClean="0">
              <a:cs typeface="Calibri" pitchFamily="34" charset="0"/>
            </a:endParaRPr>
          </a:p>
        </p:txBody>
      </p:sp>
      <p:grpSp>
        <p:nvGrpSpPr>
          <p:cNvPr id="4" name="Group 42"/>
          <p:cNvGrpSpPr>
            <a:grpSpLocks/>
          </p:cNvGrpSpPr>
          <p:nvPr/>
        </p:nvGrpSpPr>
        <p:grpSpPr bwMode="auto">
          <a:xfrm>
            <a:off x="739775" y="4267200"/>
            <a:ext cx="7794625" cy="2263775"/>
            <a:chOff x="336" y="2654"/>
            <a:chExt cx="4910" cy="1426"/>
          </a:xfrm>
        </p:grpSpPr>
        <p:sp>
          <p:nvSpPr>
            <p:cNvPr id="5" name="Oval 5"/>
            <p:cNvSpPr>
              <a:spLocks noChangeArrowheads="1"/>
            </p:cNvSpPr>
            <p:nvPr/>
          </p:nvSpPr>
          <p:spPr bwMode="auto">
            <a:xfrm>
              <a:off x="2880" y="2736"/>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ORD</a:t>
              </a:r>
            </a:p>
          </p:txBody>
        </p:sp>
        <p:sp>
          <p:nvSpPr>
            <p:cNvPr id="7" name="Oval 7"/>
            <p:cNvSpPr>
              <a:spLocks noChangeArrowheads="1"/>
            </p:cNvSpPr>
            <p:nvPr/>
          </p:nvSpPr>
          <p:spPr bwMode="auto">
            <a:xfrm>
              <a:off x="4306" y="3758"/>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MIA</a:t>
              </a:r>
            </a:p>
          </p:txBody>
        </p:sp>
        <p:sp>
          <p:nvSpPr>
            <p:cNvPr id="8" name="Oval 8"/>
            <p:cNvSpPr>
              <a:spLocks noChangeArrowheads="1"/>
            </p:cNvSpPr>
            <p:nvPr/>
          </p:nvSpPr>
          <p:spPr bwMode="auto">
            <a:xfrm>
              <a:off x="2698" y="3608"/>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DFW</a:t>
              </a:r>
            </a:p>
          </p:txBody>
        </p:sp>
        <p:sp>
          <p:nvSpPr>
            <p:cNvPr id="9" name="Oval 9"/>
            <p:cNvSpPr>
              <a:spLocks noChangeArrowheads="1"/>
            </p:cNvSpPr>
            <p:nvPr/>
          </p:nvSpPr>
          <p:spPr bwMode="auto">
            <a:xfrm>
              <a:off x="1488" y="2798"/>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SFO</a:t>
              </a:r>
            </a:p>
          </p:txBody>
        </p:sp>
        <p:sp>
          <p:nvSpPr>
            <p:cNvPr id="10" name="Oval 10"/>
            <p:cNvSpPr>
              <a:spLocks noChangeArrowheads="1"/>
            </p:cNvSpPr>
            <p:nvPr/>
          </p:nvSpPr>
          <p:spPr bwMode="auto">
            <a:xfrm>
              <a:off x="1584" y="3518"/>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LAX</a:t>
              </a:r>
            </a:p>
          </p:txBody>
        </p:sp>
        <p:sp>
          <p:nvSpPr>
            <p:cNvPr id="11" name="Oval 11"/>
            <p:cNvSpPr>
              <a:spLocks noChangeArrowheads="1"/>
            </p:cNvSpPr>
            <p:nvPr/>
          </p:nvSpPr>
          <p:spPr bwMode="auto">
            <a:xfrm>
              <a:off x="4656" y="3120"/>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LGA</a:t>
              </a:r>
            </a:p>
          </p:txBody>
        </p:sp>
        <p:sp>
          <p:nvSpPr>
            <p:cNvPr id="12" name="Oval 12"/>
            <p:cNvSpPr>
              <a:spLocks noChangeArrowheads="1"/>
            </p:cNvSpPr>
            <p:nvPr/>
          </p:nvSpPr>
          <p:spPr bwMode="auto">
            <a:xfrm>
              <a:off x="336" y="3374"/>
              <a:ext cx="590" cy="288"/>
            </a:xfrm>
            <a:prstGeom prst="ellipse">
              <a:avLst/>
            </a:prstGeom>
            <a:solidFill>
              <a:srgbClr val="E8E8E8"/>
            </a:solidFill>
            <a:ln w="19050">
              <a:solidFill>
                <a:schemeClr val="tx1"/>
              </a:solidFill>
              <a:round/>
              <a:headEnd/>
              <a:tailEnd/>
            </a:ln>
          </p:spPr>
          <p:txBody>
            <a:bodyPr wrap="none" anchor="ct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sz="2000">
                  <a:latin typeface="Calibri" pitchFamily="34" charset="0"/>
                  <a:ea typeface="ＭＳ Ｐゴシック" pitchFamily="34" charset="-128"/>
                </a:rPr>
                <a:t>HNL</a:t>
              </a:r>
            </a:p>
          </p:txBody>
        </p:sp>
        <p:cxnSp>
          <p:nvCxnSpPr>
            <p:cNvPr id="13" name="AutoShape 13"/>
            <p:cNvCxnSpPr>
              <a:cxnSpLocks noChangeShapeType="1"/>
              <a:stCxn id="9" idx="6"/>
              <a:endCxn id="5" idx="2"/>
            </p:cNvCxnSpPr>
            <p:nvPr/>
          </p:nvCxnSpPr>
          <p:spPr bwMode="auto">
            <a:xfrm flipV="1">
              <a:off x="2078" y="2880"/>
              <a:ext cx="802" cy="6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8" idx="0"/>
              <a:endCxn id="5" idx="4"/>
            </p:cNvCxnSpPr>
            <p:nvPr/>
          </p:nvCxnSpPr>
          <p:spPr bwMode="auto">
            <a:xfrm flipV="1">
              <a:off x="2993" y="3024"/>
              <a:ext cx="182" cy="58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8" idx="7"/>
              <a:endCxn id="11" idx="3"/>
            </p:cNvCxnSpPr>
            <p:nvPr/>
          </p:nvCxnSpPr>
          <p:spPr bwMode="auto">
            <a:xfrm flipV="1">
              <a:off x="3202" y="3372"/>
              <a:ext cx="1540" cy="27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7" name="AutoShape 17"/>
            <p:cNvCxnSpPr>
              <a:cxnSpLocks noChangeShapeType="1"/>
              <a:stCxn id="5" idx="6"/>
              <a:endCxn id="11" idx="1"/>
            </p:cNvCxnSpPr>
            <p:nvPr/>
          </p:nvCxnSpPr>
          <p:spPr bwMode="auto">
            <a:xfrm>
              <a:off x="3470" y="2880"/>
              <a:ext cx="1272" cy="28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8" name="AutoShape 18"/>
            <p:cNvCxnSpPr>
              <a:cxnSpLocks noChangeShapeType="1"/>
              <a:stCxn id="12" idx="6"/>
              <a:endCxn id="10" idx="2"/>
            </p:cNvCxnSpPr>
            <p:nvPr/>
          </p:nvCxnSpPr>
          <p:spPr bwMode="auto">
            <a:xfrm>
              <a:off x="932" y="3518"/>
              <a:ext cx="646" cy="14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9" name="AutoShape 19"/>
            <p:cNvCxnSpPr>
              <a:cxnSpLocks noChangeShapeType="1"/>
              <a:stCxn id="9" idx="4"/>
              <a:endCxn id="10" idx="0"/>
            </p:cNvCxnSpPr>
            <p:nvPr/>
          </p:nvCxnSpPr>
          <p:spPr bwMode="auto">
            <a:xfrm>
              <a:off x="1783" y="3092"/>
              <a:ext cx="96" cy="42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0" name="AutoShape 20"/>
            <p:cNvCxnSpPr>
              <a:cxnSpLocks noChangeShapeType="1"/>
              <a:stCxn id="11" idx="4"/>
              <a:endCxn id="7" idx="0"/>
            </p:cNvCxnSpPr>
            <p:nvPr/>
          </p:nvCxnSpPr>
          <p:spPr bwMode="auto">
            <a:xfrm flipH="1">
              <a:off x="4601" y="3414"/>
              <a:ext cx="350" cy="33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1" name="AutoShape 21"/>
            <p:cNvCxnSpPr>
              <a:cxnSpLocks noChangeShapeType="1"/>
              <a:endCxn id="8" idx="6"/>
            </p:cNvCxnSpPr>
            <p:nvPr/>
          </p:nvCxnSpPr>
          <p:spPr bwMode="auto">
            <a:xfrm flipH="1" flipV="1">
              <a:off x="3294" y="3752"/>
              <a:ext cx="1006" cy="1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2" name="AutoShape 22"/>
            <p:cNvCxnSpPr>
              <a:cxnSpLocks noChangeShapeType="1"/>
              <a:stCxn id="10" idx="6"/>
              <a:endCxn id="8" idx="2"/>
            </p:cNvCxnSpPr>
            <p:nvPr/>
          </p:nvCxnSpPr>
          <p:spPr bwMode="auto">
            <a:xfrm>
              <a:off x="2180" y="3662"/>
              <a:ext cx="512" cy="9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 name="AutoShape 23"/>
            <p:cNvCxnSpPr>
              <a:cxnSpLocks noChangeShapeType="1"/>
              <a:stCxn id="10" idx="7"/>
              <a:endCxn id="5" idx="3"/>
            </p:cNvCxnSpPr>
            <p:nvPr/>
          </p:nvCxnSpPr>
          <p:spPr bwMode="auto">
            <a:xfrm flipV="1">
              <a:off x="2088" y="2982"/>
              <a:ext cx="879" cy="57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5" name="Text Box 25"/>
            <p:cNvSpPr txBox="1">
              <a:spLocks noChangeArrowheads="1"/>
            </p:cNvSpPr>
            <p:nvPr/>
          </p:nvSpPr>
          <p:spPr bwMode="auto">
            <a:xfrm rot="-4662247">
              <a:off x="2829" y="3148"/>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$80</a:t>
              </a:r>
            </a:p>
          </p:txBody>
        </p:sp>
        <p:sp>
          <p:nvSpPr>
            <p:cNvPr id="26" name="Text Box 26"/>
            <p:cNvSpPr txBox="1">
              <a:spLocks noChangeArrowheads="1"/>
            </p:cNvSpPr>
            <p:nvPr/>
          </p:nvSpPr>
          <p:spPr bwMode="auto">
            <a:xfrm rot="-477704">
              <a:off x="3720" y="3273"/>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$140</a:t>
              </a:r>
            </a:p>
          </p:txBody>
        </p:sp>
        <p:sp>
          <p:nvSpPr>
            <p:cNvPr id="27" name="Text Box 27"/>
            <p:cNvSpPr txBox="1">
              <a:spLocks noChangeArrowheads="1"/>
            </p:cNvSpPr>
            <p:nvPr/>
          </p:nvSpPr>
          <p:spPr bwMode="auto">
            <a:xfrm rot="-2136302">
              <a:off x="2161" y="3119"/>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$170</a:t>
              </a:r>
            </a:p>
          </p:txBody>
        </p:sp>
        <p:sp>
          <p:nvSpPr>
            <p:cNvPr id="28" name="Text Box 28"/>
            <p:cNvSpPr txBox="1">
              <a:spLocks noChangeArrowheads="1"/>
            </p:cNvSpPr>
            <p:nvPr/>
          </p:nvSpPr>
          <p:spPr bwMode="auto">
            <a:xfrm rot="21316253">
              <a:off x="2271" y="2654"/>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dirty="0">
                  <a:latin typeface="Calibri" pitchFamily="34" charset="0"/>
                  <a:ea typeface="ＭＳ Ｐゴシック" pitchFamily="34" charset="-128"/>
                </a:rPr>
                <a:t>$70</a:t>
              </a:r>
            </a:p>
          </p:txBody>
        </p:sp>
        <p:sp>
          <p:nvSpPr>
            <p:cNvPr id="29" name="Text Box 29"/>
            <p:cNvSpPr txBox="1">
              <a:spLocks noChangeArrowheads="1"/>
            </p:cNvSpPr>
            <p:nvPr/>
          </p:nvSpPr>
          <p:spPr bwMode="auto">
            <a:xfrm rot="-2595961">
              <a:off x="4680" y="350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$100</a:t>
              </a:r>
            </a:p>
          </p:txBody>
        </p:sp>
        <p:sp>
          <p:nvSpPr>
            <p:cNvPr id="30" name="Text Box 30"/>
            <p:cNvSpPr txBox="1">
              <a:spLocks noChangeArrowheads="1"/>
            </p:cNvSpPr>
            <p:nvPr/>
          </p:nvSpPr>
          <p:spPr bwMode="auto">
            <a:xfrm rot="565849">
              <a:off x="3649" y="360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$110</a:t>
              </a:r>
            </a:p>
          </p:txBody>
        </p:sp>
        <p:sp>
          <p:nvSpPr>
            <p:cNvPr id="31" name="Text Box 31"/>
            <p:cNvSpPr txBox="1">
              <a:spLocks noChangeArrowheads="1"/>
            </p:cNvSpPr>
            <p:nvPr/>
          </p:nvSpPr>
          <p:spPr bwMode="auto">
            <a:xfrm rot="695916">
              <a:off x="2265" y="349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$120</a:t>
              </a:r>
            </a:p>
          </p:txBody>
        </p:sp>
        <p:sp>
          <p:nvSpPr>
            <p:cNvPr id="32" name="Text Box 32"/>
            <p:cNvSpPr txBox="1">
              <a:spLocks noChangeArrowheads="1"/>
            </p:cNvSpPr>
            <p:nvPr/>
          </p:nvSpPr>
          <p:spPr bwMode="auto">
            <a:xfrm rot="4665015">
              <a:off x="1773" y="3208"/>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$60</a:t>
              </a:r>
            </a:p>
          </p:txBody>
        </p:sp>
        <p:sp>
          <p:nvSpPr>
            <p:cNvPr id="33" name="Text Box 33"/>
            <p:cNvSpPr txBox="1">
              <a:spLocks noChangeArrowheads="1"/>
            </p:cNvSpPr>
            <p:nvPr/>
          </p:nvSpPr>
          <p:spPr bwMode="auto">
            <a:xfrm rot="832501">
              <a:off x="1101" y="337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$250</a:t>
              </a:r>
            </a:p>
          </p:txBody>
        </p:sp>
        <p:sp>
          <p:nvSpPr>
            <p:cNvPr id="34" name="Text Box 34"/>
            <p:cNvSpPr txBox="1">
              <a:spLocks noChangeArrowheads="1"/>
            </p:cNvSpPr>
            <p:nvPr/>
          </p:nvSpPr>
          <p:spPr bwMode="auto">
            <a:xfrm rot="912768">
              <a:off x="4067" y="2784"/>
              <a:ext cx="4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dirty="0" smtClean="0">
                  <a:latin typeface="Calibri" pitchFamily="34" charset="0"/>
                  <a:ea typeface="ＭＳ Ｐゴシック" pitchFamily="34" charset="-128"/>
                </a:rPr>
                <a:t>$190</a:t>
              </a:r>
              <a:endParaRPr lang="en-US" altLang="en-US" dirty="0">
                <a:latin typeface="Calibri" pitchFamily="34" charset="0"/>
                <a:ea typeface="ＭＳ Ｐゴシック" pitchFamily="34" charset="-128"/>
              </a:endParaRPr>
            </a:p>
          </p:txBody>
        </p:sp>
        <p:cxnSp>
          <p:nvCxnSpPr>
            <p:cNvPr id="35" name="AutoShape 37"/>
            <p:cNvCxnSpPr>
              <a:cxnSpLocks noChangeShapeType="1"/>
              <a:stCxn id="12" idx="4"/>
              <a:endCxn id="7" idx="3"/>
            </p:cNvCxnSpPr>
            <p:nvPr/>
          </p:nvCxnSpPr>
          <p:spPr bwMode="auto">
            <a:xfrm rot="16200000" flipH="1">
              <a:off x="2341" y="1958"/>
              <a:ext cx="342" cy="3761"/>
            </a:xfrm>
            <a:prstGeom prst="curvedConnector3">
              <a:avLst>
                <a:gd name="adj1" fmla="val 117833"/>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31"/>
            <p:cNvSpPr txBox="1">
              <a:spLocks noChangeArrowheads="1"/>
            </p:cNvSpPr>
            <p:nvPr/>
          </p:nvSpPr>
          <p:spPr bwMode="auto">
            <a:xfrm>
              <a:off x="2258" y="3849"/>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$500</a:t>
              </a:r>
            </a:p>
          </p:txBody>
        </p:sp>
        <p:cxnSp>
          <p:nvCxnSpPr>
            <p:cNvPr id="37" name="AutoShape 19"/>
            <p:cNvCxnSpPr>
              <a:cxnSpLocks noChangeShapeType="1"/>
              <a:stCxn id="9" idx="3"/>
              <a:endCxn id="12" idx="0"/>
            </p:cNvCxnSpPr>
            <p:nvPr/>
          </p:nvCxnSpPr>
          <p:spPr bwMode="auto">
            <a:xfrm flipH="1">
              <a:off x="631" y="3050"/>
              <a:ext cx="943" cy="31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38" name="Text Box 28"/>
            <p:cNvSpPr txBox="1">
              <a:spLocks noChangeArrowheads="1"/>
            </p:cNvSpPr>
            <p:nvPr/>
          </p:nvSpPr>
          <p:spPr bwMode="auto">
            <a:xfrm rot="-868609">
              <a:off x="852" y="2985"/>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tLang="en-US">
                  <a:latin typeface="Calibri" pitchFamily="34" charset="0"/>
                  <a:ea typeface="ＭＳ Ｐゴシック" pitchFamily="34" charset="-128"/>
                </a:rPr>
                <a:t>$130</a:t>
              </a: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304800" y="152400"/>
            <a:ext cx="8229600" cy="685800"/>
          </a:xfrm>
        </p:spPr>
        <p:txBody>
          <a:bodyPr/>
          <a:lstStyle/>
          <a:p>
            <a:r>
              <a:rPr lang="en-US" altLang="en-US" dirty="0" smtClean="0"/>
              <a:t>Spanning Tree</a:t>
            </a:r>
          </a:p>
        </p:txBody>
      </p:sp>
      <p:sp>
        <p:nvSpPr>
          <p:cNvPr id="49155" name="Content Placeholder 2"/>
          <p:cNvSpPr>
            <a:spLocks noGrp="1"/>
          </p:cNvSpPr>
          <p:nvPr>
            <p:ph idx="1"/>
          </p:nvPr>
        </p:nvSpPr>
        <p:spPr>
          <a:xfrm>
            <a:off x="304800" y="1143000"/>
            <a:ext cx="8382000" cy="3276600"/>
          </a:xfrm>
        </p:spPr>
        <p:txBody>
          <a:bodyPr/>
          <a:lstStyle/>
          <a:p>
            <a:r>
              <a:rPr lang="en-US" altLang="en-US" dirty="0" smtClean="0"/>
              <a:t>A </a:t>
            </a:r>
            <a:r>
              <a:rPr lang="en-US" altLang="en-US" dirty="0" smtClean="0">
                <a:hlinkClick r:id="rId2" tooltip="Spanning tree (mathematics)"/>
              </a:rPr>
              <a:t>spanning tree</a:t>
            </a:r>
            <a:r>
              <a:rPr lang="en-US" altLang="en-US" dirty="0" smtClean="0"/>
              <a:t> of a respective graph is  </a:t>
            </a:r>
            <a:r>
              <a:rPr lang="en-US" altLang="en-US" dirty="0" smtClean="0">
                <a:hlinkClick r:id="rId3" tooltip="Glossary of graph theory"/>
              </a:rPr>
              <a:t>subgraph</a:t>
            </a:r>
            <a:r>
              <a:rPr lang="en-US" altLang="en-US" dirty="0" smtClean="0"/>
              <a:t> that is a </a:t>
            </a:r>
            <a:r>
              <a:rPr lang="en-US" altLang="en-US" dirty="0" smtClean="0">
                <a:hlinkClick r:id="rId4" tooltip="Tree graph"/>
              </a:rPr>
              <a:t>tree</a:t>
            </a:r>
            <a:r>
              <a:rPr lang="en-US" altLang="en-US" dirty="0" smtClean="0"/>
              <a:t> and connects all the </a:t>
            </a:r>
            <a:r>
              <a:rPr lang="en-US" altLang="en-US" dirty="0" smtClean="0">
                <a:hlinkClick r:id="rId5" tooltip="Vertex (graph theory)"/>
              </a:rPr>
              <a:t>vertices</a:t>
            </a:r>
            <a:r>
              <a:rPr lang="en-US" altLang="en-US" dirty="0" smtClean="0"/>
              <a:t> together</a:t>
            </a:r>
          </a:p>
          <a:p>
            <a:endParaRPr lang="en-US" altLang="en-US" dirty="0" smtClean="0"/>
          </a:p>
          <a:p>
            <a:r>
              <a:rPr lang="en-US" altLang="en-US" dirty="0" smtClean="0"/>
              <a:t>If there are N vertices in a graph then there are n-1 edges in a spanning Tree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304800" y="152400"/>
            <a:ext cx="8229600" cy="685800"/>
          </a:xfrm>
        </p:spPr>
        <p:txBody>
          <a:bodyPr/>
          <a:lstStyle/>
          <a:p>
            <a:r>
              <a:rPr lang="en-US" altLang="en-US" dirty="0" smtClean="0"/>
              <a:t>Minimum Spanning Tree</a:t>
            </a:r>
          </a:p>
        </p:txBody>
      </p:sp>
      <p:sp>
        <p:nvSpPr>
          <p:cNvPr id="50179" name="Content Placeholder 2"/>
          <p:cNvSpPr>
            <a:spLocks noGrp="1"/>
          </p:cNvSpPr>
          <p:nvPr>
            <p:ph idx="1"/>
          </p:nvPr>
        </p:nvSpPr>
        <p:spPr>
          <a:xfrm>
            <a:off x="304800" y="1066800"/>
            <a:ext cx="8458200" cy="5638800"/>
          </a:xfrm>
        </p:spPr>
        <p:txBody>
          <a:bodyPr/>
          <a:lstStyle/>
          <a:p>
            <a:pPr algn="just"/>
            <a:r>
              <a:rPr lang="en-US" altLang="en-US" dirty="0" smtClean="0"/>
              <a:t>A </a:t>
            </a:r>
            <a:r>
              <a:rPr lang="en-US" altLang="en-US" b="1" dirty="0" smtClean="0"/>
              <a:t>minimum spanning tree</a:t>
            </a:r>
            <a:r>
              <a:rPr lang="en-US" altLang="en-US" dirty="0" smtClean="0"/>
              <a:t> (</a:t>
            </a:r>
            <a:r>
              <a:rPr lang="en-US" altLang="en-US" b="1" dirty="0" smtClean="0"/>
              <a:t>MST</a:t>
            </a:r>
            <a:r>
              <a:rPr lang="en-US" altLang="en-US" dirty="0" smtClean="0"/>
              <a:t>) or </a:t>
            </a:r>
            <a:r>
              <a:rPr lang="en-US" altLang="en-US" b="1" dirty="0" smtClean="0"/>
              <a:t>minimum weight spanning tree</a:t>
            </a:r>
            <a:r>
              <a:rPr lang="en-US" altLang="en-US" dirty="0" smtClean="0"/>
              <a:t> is then a spanning tree with weight less than or equal to the weight of every other spanning tree</a:t>
            </a:r>
          </a:p>
        </p:txBody>
      </p:sp>
      <p:pic>
        <p:nvPicPr>
          <p:cNvPr id="50180"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3766" y="2743200"/>
            <a:ext cx="4884234"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15"/>
          <p:cNvSpPr txBox="1">
            <a:spLocks noChangeArrowheads="1"/>
          </p:cNvSpPr>
          <p:nvPr/>
        </p:nvSpPr>
        <p:spPr bwMode="auto">
          <a:xfrm>
            <a:off x="304800" y="1066800"/>
            <a:ext cx="8382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marL="457200" indent="-457200" algn="just"/>
            <a:r>
              <a:rPr lang="en-US" altLang="en-US" dirty="0">
                <a:sym typeface="Symbol" pitchFamily="18" charset="2"/>
              </a:rPr>
              <a:t>Problem: given a connected, undirected, weighted graph, find a </a:t>
            </a:r>
            <a:r>
              <a:rPr lang="en-US" altLang="en-US" i="1" dirty="0">
                <a:solidFill>
                  <a:schemeClr val="tx2"/>
                </a:solidFill>
                <a:sym typeface="Symbol" pitchFamily="18" charset="2"/>
              </a:rPr>
              <a:t>spanning tree</a:t>
            </a:r>
            <a:r>
              <a:rPr lang="en-US" altLang="en-US" dirty="0">
                <a:sym typeface="Symbol" pitchFamily="18" charset="2"/>
              </a:rPr>
              <a:t> using edges that minimize the total weight</a:t>
            </a:r>
          </a:p>
        </p:txBody>
      </p:sp>
      <p:grpSp>
        <p:nvGrpSpPr>
          <p:cNvPr id="51204" name="Group 5"/>
          <p:cNvGrpSpPr>
            <a:grpSpLocks/>
          </p:cNvGrpSpPr>
          <p:nvPr/>
        </p:nvGrpSpPr>
        <p:grpSpPr bwMode="auto">
          <a:xfrm>
            <a:off x="1295400" y="2819400"/>
            <a:ext cx="6381750" cy="3505200"/>
            <a:chOff x="1466850" y="3124200"/>
            <a:chExt cx="6381750" cy="3505200"/>
          </a:xfrm>
        </p:grpSpPr>
        <p:sp>
          <p:nvSpPr>
            <p:cNvPr id="51205" name="Oval 4"/>
            <p:cNvSpPr>
              <a:spLocks noChangeArrowheads="1"/>
            </p:cNvSpPr>
            <p:nvPr/>
          </p:nvSpPr>
          <p:spPr bwMode="auto">
            <a:xfrm>
              <a:off x="1600200" y="38100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06" name="Oval 5"/>
            <p:cNvSpPr>
              <a:spLocks noChangeArrowheads="1"/>
            </p:cNvSpPr>
            <p:nvPr/>
          </p:nvSpPr>
          <p:spPr bwMode="auto">
            <a:xfrm>
              <a:off x="4648200" y="38100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07" name="Oval 6"/>
            <p:cNvSpPr>
              <a:spLocks noChangeArrowheads="1"/>
            </p:cNvSpPr>
            <p:nvPr/>
          </p:nvSpPr>
          <p:spPr bwMode="auto">
            <a:xfrm>
              <a:off x="7315200" y="38100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08" name="Oval 7"/>
            <p:cNvSpPr>
              <a:spLocks noChangeArrowheads="1"/>
            </p:cNvSpPr>
            <p:nvPr/>
          </p:nvSpPr>
          <p:spPr bwMode="auto">
            <a:xfrm>
              <a:off x="1600200" y="54102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09" name="Oval 8"/>
            <p:cNvSpPr>
              <a:spLocks noChangeArrowheads="1"/>
            </p:cNvSpPr>
            <p:nvPr/>
          </p:nvSpPr>
          <p:spPr bwMode="auto">
            <a:xfrm>
              <a:off x="4648200" y="54102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10" name="Oval 9"/>
            <p:cNvSpPr>
              <a:spLocks noChangeArrowheads="1"/>
            </p:cNvSpPr>
            <p:nvPr/>
          </p:nvSpPr>
          <p:spPr bwMode="auto">
            <a:xfrm>
              <a:off x="7315200" y="54102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11" name="Oval 10"/>
            <p:cNvSpPr>
              <a:spLocks noChangeArrowheads="1"/>
            </p:cNvSpPr>
            <p:nvPr/>
          </p:nvSpPr>
          <p:spPr bwMode="auto">
            <a:xfrm>
              <a:off x="3124200" y="60960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sp>
          <p:nvSpPr>
            <p:cNvPr id="51212" name="Oval 11"/>
            <p:cNvSpPr>
              <a:spLocks noChangeArrowheads="1"/>
            </p:cNvSpPr>
            <p:nvPr/>
          </p:nvSpPr>
          <p:spPr bwMode="auto">
            <a:xfrm>
              <a:off x="3124200" y="3124200"/>
              <a:ext cx="533400" cy="533400"/>
            </a:xfrm>
            <a:prstGeom prst="ellipse">
              <a:avLst/>
            </a:prstGeom>
            <a:solidFill>
              <a:schemeClr val="accent1"/>
            </a:solidFill>
            <a:ln w="38100">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a:latin typeface="Arial" pitchFamily="34" charset="0"/>
              </a:endParaRPr>
            </a:p>
          </p:txBody>
        </p:sp>
        <p:cxnSp>
          <p:nvCxnSpPr>
            <p:cNvPr id="51213" name="AutoShape 12"/>
            <p:cNvCxnSpPr>
              <a:cxnSpLocks noChangeShapeType="1"/>
              <a:stCxn id="51212" idx="5"/>
              <a:endCxn id="51206" idx="1"/>
            </p:cNvCxnSpPr>
            <p:nvPr/>
          </p:nvCxnSpPr>
          <p:spPr bwMode="auto">
            <a:xfrm>
              <a:off x="3579813" y="3598863"/>
              <a:ext cx="1146175" cy="269875"/>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14" name="AutoShape 13"/>
            <p:cNvCxnSpPr>
              <a:cxnSpLocks noChangeShapeType="1"/>
              <a:stCxn id="51212" idx="3"/>
              <a:endCxn id="51205" idx="7"/>
            </p:cNvCxnSpPr>
            <p:nvPr/>
          </p:nvCxnSpPr>
          <p:spPr bwMode="auto">
            <a:xfrm flipH="1">
              <a:off x="2055813" y="3598863"/>
              <a:ext cx="1146175" cy="269875"/>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15" name="AutoShape 14"/>
            <p:cNvCxnSpPr>
              <a:cxnSpLocks noChangeShapeType="1"/>
              <a:stCxn id="51205" idx="6"/>
              <a:endCxn id="51206" idx="2"/>
            </p:cNvCxnSpPr>
            <p:nvPr/>
          </p:nvCxnSpPr>
          <p:spPr bwMode="auto">
            <a:xfrm>
              <a:off x="2152650" y="4076700"/>
              <a:ext cx="2476500" cy="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16" name="AutoShape 15"/>
            <p:cNvCxnSpPr>
              <a:cxnSpLocks noChangeShapeType="1"/>
              <a:stCxn id="51208" idx="0"/>
              <a:endCxn id="51205" idx="4"/>
            </p:cNvCxnSpPr>
            <p:nvPr/>
          </p:nvCxnSpPr>
          <p:spPr bwMode="auto">
            <a:xfrm flipV="1">
              <a:off x="1866900" y="4362450"/>
              <a:ext cx="0" cy="102870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17" name="AutoShape 16"/>
            <p:cNvCxnSpPr>
              <a:cxnSpLocks noChangeShapeType="1"/>
              <a:stCxn id="51208" idx="5"/>
              <a:endCxn id="51211" idx="1"/>
            </p:cNvCxnSpPr>
            <p:nvPr/>
          </p:nvCxnSpPr>
          <p:spPr bwMode="auto">
            <a:xfrm>
              <a:off x="2055813" y="5884863"/>
              <a:ext cx="1146175" cy="269875"/>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18" name="AutoShape 17"/>
            <p:cNvCxnSpPr>
              <a:cxnSpLocks noChangeShapeType="1"/>
              <a:stCxn id="51211" idx="7"/>
              <a:endCxn id="51209" idx="3"/>
            </p:cNvCxnSpPr>
            <p:nvPr/>
          </p:nvCxnSpPr>
          <p:spPr bwMode="auto">
            <a:xfrm flipV="1">
              <a:off x="3579813" y="5884863"/>
              <a:ext cx="1146175" cy="269875"/>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19" name="AutoShape 18"/>
            <p:cNvCxnSpPr>
              <a:cxnSpLocks noChangeShapeType="1"/>
              <a:stCxn id="51209" idx="0"/>
              <a:endCxn id="51206" idx="4"/>
            </p:cNvCxnSpPr>
            <p:nvPr/>
          </p:nvCxnSpPr>
          <p:spPr bwMode="auto">
            <a:xfrm flipV="1">
              <a:off x="4914900" y="4362450"/>
              <a:ext cx="0" cy="102870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20" name="AutoShape 19"/>
            <p:cNvCxnSpPr>
              <a:cxnSpLocks noChangeShapeType="1"/>
              <a:stCxn id="51206" idx="6"/>
              <a:endCxn id="51207" idx="2"/>
            </p:cNvCxnSpPr>
            <p:nvPr/>
          </p:nvCxnSpPr>
          <p:spPr bwMode="auto">
            <a:xfrm>
              <a:off x="5200650" y="4076700"/>
              <a:ext cx="2095500" cy="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21" name="AutoShape 20"/>
            <p:cNvCxnSpPr>
              <a:cxnSpLocks noChangeShapeType="1"/>
              <a:stCxn id="51209" idx="6"/>
              <a:endCxn id="51210" idx="2"/>
            </p:cNvCxnSpPr>
            <p:nvPr/>
          </p:nvCxnSpPr>
          <p:spPr bwMode="auto">
            <a:xfrm>
              <a:off x="5200650" y="5676900"/>
              <a:ext cx="2095500" cy="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51222" name="AutoShape 21"/>
            <p:cNvCxnSpPr>
              <a:cxnSpLocks noChangeShapeType="1"/>
              <a:stCxn id="51211" idx="0"/>
              <a:endCxn id="51205" idx="5"/>
            </p:cNvCxnSpPr>
            <p:nvPr/>
          </p:nvCxnSpPr>
          <p:spPr bwMode="auto">
            <a:xfrm rot="5400000" flipH="1">
              <a:off x="1827213" y="4513263"/>
              <a:ext cx="1792287" cy="1335087"/>
            </a:xfrm>
            <a:prstGeom prst="curvedConnector3">
              <a:avLst>
                <a:gd name="adj1" fmla="val 47829"/>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51223" name="Text Box 22"/>
            <p:cNvSpPr txBox="1">
              <a:spLocks noChangeArrowheads="1"/>
            </p:cNvSpPr>
            <p:nvPr/>
          </p:nvSpPr>
          <p:spPr bwMode="auto">
            <a:xfrm>
              <a:off x="1466850" y="45862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14</a:t>
              </a:r>
            </a:p>
          </p:txBody>
        </p:sp>
        <p:sp>
          <p:nvSpPr>
            <p:cNvPr id="51224" name="Text Box 23"/>
            <p:cNvSpPr txBox="1">
              <a:spLocks noChangeArrowheads="1"/>
            </p:cNvSpPr>
            <p:nvPr/>
          </p:nvSpPr>
          <p:spPr bwMode="auto">
            <a:xfrm>
              <a:off x="2762250" y="487680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10</a:t>
              </a:r>
            </a:p>
          </p:txBody>
        </p:sp>
        <p:sp>
          <p:nvSpPr>
            <p:cNvPr id="51225" name="Text Box 24"/>
            <p:cNvSpPr txBox="1">
              <a:spLocks noChangeArrowheads="1"/>
            </p:cNvSpPr>
            <p:nvPr/>
          </p:nvSpPr>
          <p:spPr bwMode="auto">
            <a:xfrm>
              <a:off x="2438400" y="5943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3</a:t>
              </a:r>
            </a:p>
          </p:txBody>
        </p:sp>
        <p:sp>
          <p:nvSpPr>
            <p:cNvPr id="51226" name="Text Box 25"/>
            <p:cNvSpPr txBox="1">
              <a:spLocks noChangeArrowheads="1"/>
            </p:cNvSpPr>
            <p:nvPr/>
          </p:nvSpPr>
          <p:spPr bwMode="auto">
            <a:xfrm>
              <a:off x="2438400" y="3352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6</a:t>
              </a:r>
            </a:p>
          </p:txBody>
        </p:sp>
        <p:sp>
          <p:nvSpPr>
            <p:cNvPr id="51227" name="Text Box 26"/>
            <p:cNvSpPr txBox="1">
              <a:spLocks noChangeArrowheads="1"/>
            </p:cNvSpPr>
            <p:nvPr/>
          </p:nvSpPr>
          <p:spPr bwMode="auto">
            <a:xfrm>
              <a:off x="4108450" y="3352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4</a:t>
              </a:r>
            </a:p>
          </p:txBody>
        </p:sp>
        <p:sp>
          <p:nvSpPr>
            <p:cNvPr id="51228" name="Text Box 27"/>
            <p:cNvSpPr txBox="1">
              <a:spLocks noChangeArrowheads="1"/>
            </p:cNvSpPr>
            <p:nvPr/>
          </p:nvSpPr>
          <p:spPr bwMode="auto">
            <a:xfrm>
              <a:off x="3200400" y="372427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5</a:t>
              </a:r>
            </a:p>
          </p:txBody>
        </p:sp>
        <p:sp>
          <p:nvSpPr>
            <p:cNvPr id="51229" name="Text Box 28"/>
            <p:cNvSpPr txBox="1">
              <a:spLocks noChangeArrowheads="1"/>
            </p:cNvSpPr>
            <p:nvPr/>
          </p:nvSpPr>
          <p:spPr bwMode="auto">
            <a:xfrm>
              <a:off x="4946650" y="46323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2</a:t>
              </a:r>
            </a:p>
          </p:txBody>
        </p:sp>
        <p:sp>
          <p:nvSpPr>
            <p:cNvPr id="51230" name="Text Box 29"/>
            <p:cNvSpPr txBox="1">
              <a:spLocks noChangeArrowheads="1"/>
            </p:cNvSpPr>
            <p:nvPr/>
          </p:nvSpPr>
          <p:spPr bwMode="auto">
            <a:xfrm>
              <a:off x="6089650" y="3733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9</a:t>
              </a:r>
            </a:p>
          </p:txBody>
        </p:sp>
        <p:sp>
          <p:nvSpPr>
            <p:cNvPr id="51231" name="Text Box 30"/>
            <p:cNvSpPr txBox="1">
              <a:spLocks noChangeArrowheads="1"/>
            </p:cNvSpPr>
            <p:nvPr/>
          </p:nvSpPr>
          <p:spPr bwMode="auto">
            <a:xfrm>
              <a:off x="6032500" y="53181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15</a:t>
              </a:r>
            </a:p>
          </p:txBody>
        </p:sp>
        <p:sp>
          <p:nvSpPr>
            <p:cNvPr id="51232" name="Text Box 31"/>
            <p:cNvSpPr txBox="1">
              <a:spLocks noChangeArrowheads="1"/>
            </p:cNvSpPr>
            <p:nvPr/>
          </p:nvSpPr>
          <p:spPr bwMode="auto">
            <a:xfrm>
              <a:off x="4025900" y="59690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t>8</a:t>
              </a:r>
            </a:p>
          </p:txBody>
        </p:sp>
      </p:grpSp>
      <p:sp>
        <p:nvSpPr>
          <p:cNvPr id="34" name="Title 1"/>
          <p:cNvSpPr>
            <a:spLocks noGrp="1"/>
          </p:cNvSpPr>
          <p:nvPr>
            <p:ph type="title"/>
          </p:nvPr>
        </p:nvSpPr>
        <p:spPr>
          <a:xfrm>
            <a:off x="304800" y="152400"/>
            <a:ext cx="8229600" cy="685800"/>
          </a:xfrm>
        </p:spPr>
        <p:txBody>
          <a:bodyPr/>
          <a:lstStyle/>
          <a:p>
            <a:r>
              <a:rPr lang="en-US" altLang="en-US" dirty="0" smtClean="0"/>
              <a:t>Minimum Spanning Tree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p:cNvSpPr>
            <a:spLocks noGrp="1"/>
          </p:cNvSpPr>
          <p:nvPr>
            <p:ph idx="1"/>
          </p:nvPr>
        </p:nvSpPr>
        <p:spPr>
          <a:xfrm>
            <a:off x="304800" y="1143000"/>
            <a:ext cx="8458200" cy="5715000"/>
          </a:xfrm>
        </p:spPr>
        <p:txBody>
          <a:bodyPr/>
          <a:lstStyle/>
          <a:p>
            <a:r>
              <a:rPr kumimoji="0" lang="en-US" altLang="en-US" sz="2400" dirty="0"/>
              <a:t>Two Algorithms </a:t>
            </a:r>
            <a:r>
              <a:rPr kumimoji="0" lang="en-US" altLang="en-US" sz="2400" dirty="0" smtClean="0"/>
              <a:t>used </a:t>
            </a:r>
            <a:r>
              <a:rPr kumimoji="0" lang="en-US" altLang="en-US" sz="2400" dirty="0"/>
              <a:t>to solve minimum spanning tree problem</a:t>
            </a:r>
          </a:p>
          <a:p>
            <a:pPr lvl="1"/>
            <a:r>
              <a:rPr kumimoji="0" lang="en-US" altLang="en-US" sz="2000" dirty="0"/>
              <a:t>Let </a:t>
            </a:r>
            <a:r>
              <a:rPr kumimoji="0" lang="en-US" altLang="en-US" sz="2000" i="1" dirty="0"/>
              <a:t>A</a:t>
            </a:r>
            <a:r>
              <a:rPr kumimoji="0" lang="en-US" altLang="en-US" sz="2000" dirty="0"/>
              <a:t> be a subset of edges included in some MST</a:t>
            </a:r>
          </a:p>
          <a:p>
            <a:endParaRPr lang="en-US" altLang="en-US" dirty="0" smtClean="0"/>
          </a:p>
          <a:p>
            <a:r>
              <a:rPr lang="en-US" altLang="en-US" sz="2400" dirty="0" err="1" smtClean="0"/>
              <a:t>Kruskal’s</a:t>
            </a:r>
            <a:r>
              <a:rPr lang="en-US" altLang="en-US" sz="2400" dirty="0" smtClean="0"/>
              <a:t> Algorithm</a:t>
            </a:r>
          </a:p>
          <a:p>
            <a:pPr lvl="1"/>
            <a:r>
              <a:rPr kumimoji="0" lang="en-US" altLang="en-US" sz="2000" dirty="0"/>
              <a:t>A is a forest</a:t>
            </a:r>
          </a:p>
          <a:p>
            <a:pPr lvl="1"/>
            <a:r>
              <a:rPr kumimoji="0" lang="en-US" altLang="en-US" sz="2000" dirty="0"/>
              <a:t>The safe edge added to A has least weight among all edges connecting its two components.</a:t>
            </a:r>
          </a:p>
          <a:p>
            <a:endParaRPr lang="en-US" altLang="en-US" dirty="0" smtClean="0"/>
          </a:p>
          <a:p>
            <a:r>
              <a:rPr lang="en-US" altLang="en-US" sz="2400" dirty="0" smtClean="0"/>
              <a:t>Prim’s Algorithm</a:t>
            </a:r>
          </a:p>
          <a:p>
            <a:pPr lvl="1"/>
            <a:r>
              <a:rPr kumimoji="0" lang="en-US" altLang="en-US" sz="2000" dirty="0"/>
              <a:t>A is a tree</a:t>
            </a:r>
          </a:p>
          <a:p>
            <a:pPr lvl="1"/>
            <a:r>
              <a:rPr kumimoji="0" lang="en-US" altLang="en-US" sz="2000" dirty="0"/>
              <a:t>The safe edge is a light edge connecting a vertex in A to one not in A.</a:t>
            </a:r>
          </a:p>
        </p:txBody>
      </p:sp>
      <p:sp>
        <p:nvSpPr>
          <p:cNvPr id="6" name="Title 1"/>
          <p:cNvSpPr>
            <a:spLocks noGrp="1"/>
          </p:cNvSpPr>
          <p:nvPr>
            <p:ph type="title"/>
          </p:nvPr>
        </p:nvSpPr>
        <p:spPr>
          <a:xfrm>
            <a:off x="304800" y="152400"/>
            <a:ext cx="8229600" cy="685800"/>
          </a:xfrm>
        </p:spPr>
        <p:txBody>
          <a:bodyPr/>
          <a:lstStyle/>
          <a:p>
            <a:r>
              <a:rPr lang="en-US" altLang="en-US" dirty="0" smtClean="0"/>
              <a:t>Minimum Spanning Tree: Algorithms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304800" y="152400"/>
            <a:ext cx="8229600" cy="685800"/>
          </a:xfrm>
        </p:spPr>
        <p:txBody>
          <a:bodyPr/>
          <a:lstStyle/>
          <a:p>
            <a:r>
              <a:rPr lang="en-US" altLang="en-US" dirty="0" err="1" smtClean="0"/>
              <a:t>Kruskal’s</a:t>
            </a:r>
            <a:r>
              <a:rPr lang="en-US" altLang="en-US" dirty="0" smtClean="0"/>
              <a:t> Algorithm: Operations</a:t>
            </a:r>
          </a:p>
        </p:txBody>
      </p:sp>
      <p:sp>
        <p:nvSpPr>
          <p:cNvPr id="54275" name="Content Placeholder 2"/>
          <p:cNvSpPr>
            <a:spLocks noGrp="1"/>
          </p:cNvSpPr>
          <p:nvPr>
            <p:ph idx="1"/>
          </p:nvPr>
        </p:nvSpPr>
        <p:spPr>
          <a:xfrm>
            <a:off x="304800" y="1143000"/>
            <a:ext cx="8458200" cy="4267200"/>
          </a:xfrm>
        </p:spPr>
        <p:txBody>
          <a:bodyPr/>
          <a:lstStyle/>
          <a:p>
            <a:r>
              <a:rPr lang="en-US" altLang="en-US" sz="2400" b="1" dirty="0" smtClean="0"/>
              <a:t>Make-set(u): </a:t>
            </a:r>
            <a:r>
              <a:rPr lang="en-US" altLang="en-US" sz="2400" dirty="0" smtClean="0"/>
              <a:t>Create a set containing a single item u. </a:t>
            </a:r>
          </a:p>
          <a:p>
            <a:endParaRPr lang="en-US" altLang="en-US" sz="2400" b="1" dirty="0" smtClean="0"/>
          </a:p>
          <a:p>
            <a:r>
              <a:rPr lang="en-US" altLang="en-US" sz="2400" b="1" dirty="0" smtClean="0"/>
              <a:t>Find-set(u): </a:t>
            </a:r>
            <a:r>
              <a:rPr lang="en-US" altLang="en-US" sz="2400" dirty="0" smtClean="0"/>
              <a:t>Find the set that contains u</a:t>
            </a:r>
          </a:p>
          <a:p>
            <a:endParaRPr lang="en-US" altLang="en-US" sz="2400" b="1" dirty="0" smtClean="0"/>
          </a:p>
          <a:p>
            <a:r>
              <a:rPr lang="en-US" altLang="en-US" sz="2400" b="1" dirty="0" smtClean="0"/>
              <a:t>Union(</a:t>
            </a:r>
            <a:r>
              <a:rPr lang="en-US" altLang="en-US" sz="2400" b="1" dirty="0" err="1" smtClean="0"/>
              <a:t>u,v</a:t>
            </a:r>
            <a:r>
              <a:rPr lang="en-US" altLang="en-US" sz="2400" b="1" dirty="0" smtClean="0"/>
              <a:t>): </a:t>
            </a:r>
            <a:r>
              <a:rPr lang="en-US" altLang="en-US" sz="2400" dirty="0" smtClean="0"/>
              <a:t>merge the set containing u and set containing v into a common set.</a:t>
            </a:r>
          </a:p>
          <a:p>
            <a:endParaRPr lang="en-US" alt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304800" y="228600"/>
            <a:ext cx="7620000" cy="609600"/>
          </a:xfrm>
        </p:spPr>
        <p:txBody>
          <a:bodyPr/>
          <a:lstStyle/>
          <a:p>
            <a:r>
              <a:rPr lang="en-US" altLang="en-US" dirty="0" err="1"/>
              <a:t>Kruskal’s</a:t>
            </a:r>
            <a:r>
              <a:rPr lang="en-US" altLang="en-US" dirty="0"/>
              <a:t> </a:t>
            </a:r>
            <a:r>
              <a:rPr lang="en-US" altLang="en-US" dirty="0" smtClean="0"/>
              <a:t>Algorithm: Pseudocode</a:t>
            </a:r>
          </a:p>
        </p:txBody>
      </p:sp>
      <p:sp>
        <p:nvSpPr>
          <p:cNvPr id="53251" name="Content Placeholder 2"/>
          <p:cNvSpPr>
            <a:spLocks noGrp="1"/>
          </p:cNvSpPr>
          <p:nvPr>
            <p:ph idx="1"/>
          </p:nvPr>
        </p:nvSpPr>
        <p:spPr>
          <a:xfrm>
            <a:off x="304800" y="1046163"/>
            <a:ext cx="8382000" cy="5507037"/>
          </a:xfrm>
        </p:spPr>
        <p:txBody>
          <a:bodyPr/>
          <a:lstStyle/>
          <a:p>
            <a:pPr algn="just"/>
            <a:endParaRPr lang="en-US" altLang="en-US" dirty="0" smtClean="0"/>
          </a:p>
          <a:p>
            <a:pPr algn="just"/>
            <a:endParaRPr lang="en-US" altLang="en-US" dirty="0" smtClean="0"/>
          </a:p>
          <a:p>
            <a:pPr algn="just"/>
            <a:endParaRPr lang="en-US" altLang="en-US" dirty="0" smtClean="0"/>
          </a:p>
          <a:p>
            <a:pPr algn="just"/>
            <a:endParaRPr lang="en-US" altLang="en-US" dirty="0" smtClean="0"/>
          </a:p>
          <a:p>
            <a:pPr algn="just"/>
            <a:endParaRPr lang="en-US" altLang="en-US" dirty="0" smtClean="0"/>
          </a:p>
          <a:p>
            <a:pPr algn="just"/>
            <a:r>
              <a:rPr lang="en-US" altLang="en-US" sz="2000" dirty="0" smtClean="0"/>
              <a:t>Lines 1–3 initialize the set A to the empty set and create |V |trees, one containing each vertex. </a:t>
            </a:r>
          </a:p>
          <a:p>
            <a:pPr algn="just"/>
            <a:r>
              <a:rPr lang="en-US" altLang="en-US" sz="2000" dirty="0" smtClean="0"/>
              <a:t>The for loop in lines 5–8 examines edges in order of weight, from lowest to highest. </a:t>
            </a:r>
          </a:p>
          <a:p>
            <a:pPr algn="just"/>
            <a:r>
              <a:rPr lang="en-US" altLang="en-US" sz="2000" dirty="0" smtClean="0"/>
              <a:t>The loop checks, for each </a:t>
            </a:r>
            <a:r>
              <a:rPr lang="en-US" altLang="en-US" sz="2000" i="1" dirty="0" smtClean="0"/>
              <a:t>edge (</a:t>
            </a:r>
            <a:r>
              <a:rPr lang="en-US" altLang="en-US" sz="2000" i="1" dirty="0" err="1" smtClean="0"/>
              <a:t>u,v</a:t>
            </a:r>
            <a:r>
              <a:rPr lang="en-US" altLang="en-US" sz="2000" i="1" dirty="0" smtClean="0"/>
              <a:t>)</a:t>
            </a:r>
            <a:r>
              <a:rPr lang="en-US" altLang="en-US" sz="2000" dirty="0" smtClean="0"/>
              <a:t>, whether the endpoints </a:t>
            </a:r>
            <a:r>
              <a:rPr lang="en-US" altLang="en-US" sz="2000" i="1" dirty="0" smtClean="0"/>
              <a:t>u</a:t>
            </a:r>
            <a:r>
              <a:rPr lang="en-US" altLang="en-US" sz="2000" dirty="0" smtClean="0"/>
              <a:t> and </a:t>
            </a:r>
            <a:r>
              <a:rPr lang="en-US" altLang="en-US" sz="2000" i="1" dirty="0" smtClean="0"/>
              <a:t>v</a:t>
            </a:r>
            <a:r>
              <a:rPr lang="en-US" altLang="en-US" sz="2000" dirty="0" smtClean="0"/>
              <a:t> belong to the same tree. If they do, then the </a:t>
            </a:r>
            <a:r>
              <a:rPr lang="en-US" altLang="en-US" sz="2000" i="1" dirty="0" smtClean="0"/>
              <a:t>edge (</a:t>
            </a:r>
            <a:r>
              <a:rPr lang="en-US" altLang="en-US" sz="2000" i="1" dirty="0" err="1" smtClean="0"/>
              <a:t>u,v</a:t>
            </a:r>
            <a:r>
              <a:rPr lang="en-US" altLang="en-US" sz="2000" i="1" dirty="0" smtClean="0"/>
              <a:t>) </a:t>
            </a:r>
            <a:r>
              <a:rPr lang="en-US" altLang="en-US" sz="2000" dirty="0" smtClean="0"/>
              <a:t>cannot be added to the forest without creating a cycle, and the edge is discarded. Otherwise, the two vertices belong to different trees. In this case, line 7 adds the </a:t>
            </a:r>
            <a:r>
              <a:rPr lang="en-US" altLang="en-US" sz="2000" i="1" dirty="0" smtClean="0"/>
              <a:t>edge (</a:t>
            </a:r>
            <a:r>
              <a:rPr lang="en-US" altLang="en-US" sz="2000" i="1" dirty="0" err="1" smtClean="0"/>
              <a:t>u,v</a:t>
            </a:r>
            <a:r>
              <a:rPr lang="en-US" altLang="en-US" sz="2000" i="1" dirty="0" smtClean="0"/>
              <a:t>) </a:t>
            </a:r>
            <a:r>
              <a:rPr lang="en-US" altLang="en-US" sz="2000" dirty="0" smtClean="0"/>
              <a:t>to A, and line 8 merges the vertices in the two trees.</a:t>
            </a:r>
          </a:p>
        </p:txBody>
      </p:sp>
      <p:pic>
        <p:nvPicPr>
          <p:cNvPr id="53252"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0837" y="1066800"/>
            <a:ext cx="6126163"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55299"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55300" name="Oval 4"/>
          <p:cNvSpPr>
            <a:spLocks noChangeArrowheads="1"/>
          </p:cNvSpPr>
          <p:nvPr/>
        </p:nvSpPr>
        <p:spPr bwMode="auto">
          <a:xfrm>
            <a:off x="3886200" y="1846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5301" name="Oval 5"/>
          <p:cNvSpPr>
            <a:spLocks noChangeArrowheads="1"/>
          </p:cNvSpPr>
          <p:nvPr/>
        </p:nvSpPr>
        <p:spPr bwMode="auto">
          <a:xfrm>
            <a:off x="5562600" y="1846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5302" name="Oval 6"/>
          <p:cNvSpPr>
            <a:spLocks noChangeArrowheads="1"/>
          </p:cNvSpPr>
          <p:nvPr/>
        </p:nvSpPr>
        <p:spPr bwMode="auto">
          <a:xfrm>
            <a:off x="7239000" y="1846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5303" name="Oval 7"/>
          <p:cNvSpPr>
            <a:spLocks noChangeArrowheads="1"/>
          </p:cNvSpPr>
          <p:nvPr/>
        </p:nvSpPr>
        <p:spPr bwMode="auto">
          <a:xfrm>
            <a:off x="7239000" y="32940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5304" name="Oval 8"/>
          <p:cNvSpPr>
            <a:spLocks noChangeArrowheads="1"/>
          </p:cNvSpPr>
          <p:nvPr/>
        </p:nvSpPr>
        <p:spPr bwMode="auto">
          <a:xfrm>
            <a:off x="8229600" y="2608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5305" name="Oval 9"/>
          <p:cNvSpPr>
            <a:spLocks noChangeArrowheads="1"/>
          </p:cNvSpPr>
          <p:nvPr/>
        </p:nvSpPr>
        <p:spPr bwMode="auto">
          <a:xfrm>
            <a:off x="5562600" y="32940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5306" name="Oval 10"/>
          <p:cNvSpPr>
            <a:spLocks noChangeArrowheads="1"/>
          </p:cNvSpPr>
          <p:nvPr/>
        </p:nvSpPr>
        <p:spPr bwMode="auto">
          <a:xfrm>
            <a:off x="3886200" y="32940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55307" name="AutoShape 11"/>
          <p:cNvCxnSpPr>
            <a:cxnSpLocks noChangeShapeType="1"/>
            <a:stCxn id="55300" idx="6"/>
            <a:endCxn id="55301" idx="2"/>
          </p:cNvCxnSpPr>
          <p:nvPr/>
        </p:nvCxnSpPr>
        <p:spPr bwMode="auto">
          <a:xfrm>
            <a:off x="43576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08" name="AutoShape 12"/>
          <p:cNvCxnSpPr>
            <a:cxnSpLocks noChangeShapeType="1"/>
            <a:stCxn id="55301" idx="6"/>
            <a:endCxn id="55302"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09" name="AutoShape 13"/>
          <p:cNvCxnSpPr>
            <a:cxnSpLocks noChangeShapeType="1"/>
            <a:stCxn id="55302" idx="3"/>
            <a:endCxn id="55305"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0" name="AutoShape 14"/>
          <p:cNvCxnSpPr>
            <a:cxnSpLocks noChangeShapeType="1"/>
            <a:stCxn id="55305" idx="2"/>
            <a:endCxn id="55306"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1" name="AutoShape 15"/>
          <p:cNvCxnSpPr>
            <a:cxnSpLocks noChangeShapeType="1"/>
            <a:stCxn id="55306" idx="0"/>
            <a:endCxn id="55300"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2" name="AutoShape 16"/>
          <p:cNvCxnSpPr>
            <a:cxnSpLocks noChangeShapeType="1"/>
            <a:stCxn id="55300" idx="5"/>
            <a:endCxn id="55305"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3" name="AutoShape 17"/>
          <p:cNvCxnSpPr>
            <a:cxnSpLocks noChangeShapeType="1"/>
            <a:stCxn id="55305" idx="0"/>
            <a:endCxn id="55301"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4" name="AutoShape 18"/>
          <p:cNvCxnSpPr>
            <a:cxnSpLocks noChangeShapeType="1"/>
            <a:stCxn id="55305" idx="6"/>
            <a:endCxn id="55303"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5" name="AutoShape 19"/>
          <p:cNvCxnSpPr>
            <a:cxnSpLocks noChangeShapeType="1"/>
            <a:stCxn id="55303" idx="0"/>
            <a:endCxn id="55302"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6" name="AutoShape 20"/>
          <p:cNvCxnSpPr>
            <a:cxnSpLocks noChangeShapeType="1"/>
            <a:stCxn id="55302" idx="5"/>
            <a:endCxn id="55304"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5317" name="AutoShape 21"/>
          <p:cNvCxnSpPr>
            <a:cxnSpLocks noChangeShapeType="1"/>
            <a:stCxn id="55303" idx="7"/>
            <a:endCxn id="55304" idx="3"/>
          </p:cNvCxnSpPr>
          <p:nvPr/>
        </p:nvCxnSpPr>
        <p:spPr bwMode="auto">
          <a:xfrm flipV="1">
            <a:off x="7629525" y="3013075"/>
            <a:ext cx="666750" cy="333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sp>
        <p:nvSpPr>
          <p:cNvPr id="55318"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55319"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55320"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55321"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55322"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55323"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55324"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55325"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55326"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55327"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55328"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55329"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56353" name="AutoShape 34"/>
          <p:cNvSpPr>
            <a:spLocks/>
          </p:cNvSpPr>
          <p:nvPr/>
        </p:nvSpPr>
        <p:spPr bwMode="auto">
          <a:xfrm>
            <a:off x="762000" y="3276600"/>
            <a:ext cx="152400" cy="838200"/>
          </a:xfrm>
          <a:prstGeom prst="leftBrace">
            <a:avLst>
              <a:gd name="adj1" fmla="val 45833"/>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36" name="Rectangle 3"/>
          <p:cNvSpPr txBox="1">
            <a:spLocks noChangeArrowheads="1"/>
          </p:cNvSpPr>
          <p:nvPr/>
        </p:nvSpPr>
        <p:spPr bwMode="auto">
          <a:xfrm>
            <a:off x="381000" y="1828800"/>
            <a:ext cx="8255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Q"/>
              <a:defRPr kumimoji="1" sz="2400" b="1">
                <a:solidFill>
                  <a:schemeClr val="tx1"/>
                </a:solidFill>
                <a:latin typeface="+mn-lt"/>
                <a:sym typeface="MT Extra" pitchFamily="18" charset="2"/>
              </a:defRPr>
            </a:lvl2pPr>
            <a:lvl3pPr marL="1143000" indent="-228600" algn="l" rtl="0" eaLnBrk="0" fontAlgn="base" hangingPunct="0">
              <a:spcBef>
                <a:spcPct val="20000"/>
              </a:spcBef>
              <a:spcAft>
                <a:spcPct val="0"/>
              </a:spcAft>
              <a:buClr>
                <a:srgbClr val="FF0000"/>
              </a:buClr>
              <a:buFont typeface="MT Extra" pitchFamily="18" charset="2"/>
              <a:buChar char="f"/>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a:lstStyle>
          <a:p>
            <a:pPr>
              <a:buFont typeface="Times New Roman" pitchFamily="18" charset="0"/>
              <a:buNone/>
              <a:defRPr/>
            </a:pPr>
            <a:r>
              <a:rPr lang="en-US" altLang="en-US" sz="2400" b="1" kern="0" dirty="0" err="1" smtClean="0">
                <a:latin typeface="Courier New" pitchFamily="49" charset="0"/>
              </a:rPr>
              <a:t>Kruskal</a:t>
            </a:r>
            <a:r>
              <a:rPr lang="en-US" altLang="en-US" sz="2400" b="1" kern="0" dirty="0" smtClean="0">
                <a:latin typeface="Courier New" pitchFamily="49" charset="0"/>
              </a:rPr>
              <a:t>()</a:t>
            </a:r>
          </a:p>
          <a:p>
            <a:pPr>
              <a:buFont typeface="Times New Roman" pitchFamily="18" charset="0"/>
              <a:buNone/>
              <a:defRPr/>
            </a:pPr>
            <a:r>
              <a:rPr lang="en-US" altLang="en-US" sz="2400" b="1" kern="0" dirty="0" smtClean="0">
                <a:latin typeface="Courier New" pitchFamily="49" charset="0"/>
              </a:rPr>
              <a:t> </a:t>
            </a:r>
          </a:p>
          <a:p>
            <a:pPr>
              <a:buFont typeface="Times New Roman" pitchFamily="18" charset="0"/>
              <a:buNone/>
              <a:defRPr/>
            </a:pPr>
            <a:r>
              <a:rPr lang="en-US" altLang="en-US" sz="2400" b="1" kern="0" dirty="0" smtClean="0">
                <a:latin typeface="Courier New" pitchFamily="49" charset="0"/>
              </a:rPr>
              <a:t>   T = </a:t>
            </a:r>
            <a:r>
              <a:rPr lang="en-US" altLang="en-US" sz="2400" b="1" kern="0" dirty="0" smtClean="0">
                <a:latin typeface="Courier New" pitchFamily="49" charset="0"/>
                <a:sym typeface="Symbol" pitchFamily="18" charset="2"/>
              </a:rPr>
              <a:t></a:t>
            </a:r>
            <a:r>
              <a:rPr lang="en-US" altLang="en-US" sz="2400" b="1" kern="0" dirty="0" smtClean="0">
                <a:latin typeface="Courier New" pitchFamily="49" charset="0"/>
              </a:rPr>
              <a:t>;</a:t>
            </a:r>
          </a:p>
          <a:p>
            <a:pPr>
              <a:buFont typeface="Times New Roman" pitchFamily="18" charset="0"/>
              <a:buNone/>
              <a:defRPr/>
            </a:pPr>
            <a:r>
              <a:rPr lang="en-US" altLang="en-US" sz="2400" b="1" kern="0" dirty="0" smtClean="0">
                <a:latin typeface="Courier New" pitchFamily="49" charset="0"/>
              </a:rPr>
              <a:t>   for each v </a:t>
            </a:r>
            <a:r>
              <a:rPr lang="en-US" altLang="en-US" sz="2400" kern="0" dirty="0" smtClean="0">
                <a:sym typeface="Symbol" pitchFamily="18" charset="2"/>
              </a:rPr>
              <a:t></a:t>
            </a:r>
            <a:r>
              <a:rPr lang="en-US" altLang="en-US" sz="2400" b="1" kern="0" dirty="0" smtClean="0">
                <a:latin typeface="Courier New" pitchFamily="49" charset="0"/>
              </a:rPr>
              <a:t> V</a:t>
            </a:r>
          </a:p>
          <a:p>
            <a:pPr>
              <a:buFont typeface="Times New Roman" pitchFamily="18" charset="0"/>
              <a:buNone/>
              <a:defRPr/>
            </a:pPr>
            <a:r>
              <a:rPr lang="en-US" altLang="en-US" sz="2400" b="1" kern="0" dirty="0" smtClean="0">
                <a:latin typeface="Courier New" pitchFamily="49" charset="0"/>
              </a:rPr>
              <a:t>      </a:t>
            </a:r>
            <a:r>
              <a:rPr lang="en-US" altLang="en-US" sz="2400" b="1" kern="0" dirty="0" err="1" smtClean="0">
                <a:latin typeface="Courier New" pitchFamily="49" charset="0"/>
              </a:rPr>
              <a:t>MakeSet</a:t>
            </a:r>
            <a:r>
              <a:rPr lang="en-US" altLang="en-US" sz="2400" b="1" kern="0" dirty="0" smtClean="0">
                <a:latin typeface="Courier New" pitchFamily="49" charset="0"/>
              </a:rPr>
              <a:t>(v);</a:t>
            </a:r>
          </a:p>
          <a:p>
            <a:pPr>
              <a:buFont typeface="Times New Roman" pitchFamily="18" charset="0"/>
              <a:buNone/>
              <a:defRPr/>
            </a:pPr>
            <a:r>
              <a:rPr lang="en-US" altLang="en-US" sz="2400" b="1" kern="0" dirty="0" smtClean="0">
                <a:latin typeface="Courier New" pitchFamily="49" charset="0"/>
              </a:rPr>
              <a:t>   sort E by increasing edge weight w</a:t>
            </a:r>
          </a:p>
          <a:p>
            <a:pPr>
              <a:buFont typeface="Times New Roman" pitchFamily="18" charset="0"/>
              <a:buNone/>
              <a:defRPr/>
            </a:pPr>
            <a:r>
              <a:rPr lang="en-US" altLang="en-US" sz="2400" b="1" kern="0" dirty="0" smtClean="0">
                <a:latin typeface="Courier New" pitchFamily="49" charset="0"/>
              </a:rPr>
              <a:t>   for each (</a:t>
            </a:r>
            <a:r>
              <a:rPr lang="en-US" altLang="en-US" sz="2400" b="1" kern="0" dirty="0" err="1" smtClean="0">
                <a:latin typeface="Courier New" pitchFamily="49" charset="0"/>
              </a:rPr>
              <a:t>u,v</a:t>
            </a:r>
            <a:r>
              <a:rPr lang="en-US" altLang="en-US" sz="2400" b="1" kern="0" dirty="0" smtClean="0">
                <a:latin typeface="Courier New" pitchFamily="49" charset="0"/>
              </a:rPr>
              <a:t>) </a:t>
            </a:r>
            <a:r>
              <a:rPr lang="en-US" altLang="en-US" sz="2400" b="1" kern="0" dirty="0" smtClean="0">
                <a:latin typeface="Courier New" pitchFamily="49" charset="0"/>
                <a:sym typeface="Symbol" pitchFamily="18" charset="2"/>
              </a:rPr>
              <a:t></a:t>
            </a:r>
            <a:r>
              <a:rPr lang="en-US" altLang="en-US" sz="2400" b="1" kern="0" dirty="0" smtClean="0">
                <a:latin typeface="Courier New" pitchFamily="49" charset="0"/>
              </a:rPr>
              <a:t> E (in sorted order)</a:t>
            </a:r>
          </a:p>
          <a:p>
            <a:pPr>
              <a:buFont typeface="Times New Roman" pitchFamily="18" charset="0"/>
              <a:buNone/>
              <a:defRPr/>
            </a:pPr>
            <a:r>
              <a:rPr lang="en-US" altLang="en-US" sz="2400" b="1" kern="0" dirty="0" smtClean="0">
                <a:latin typeface="Courier New" pitchFamily="49" charset="0"/>
              </a:rPr>
              <a:t>      if </a:t>
            </a:r>
            <a:r>
              <a:rPr lang="en-US" altLang="en-US" sz="2400" b="1" kern="0" dirty="0" err="1" smtClean="0">
                <a:latin typeface="Courier New" pitchFamily="49" charset="0"/>
              </a:rPr>
              <a:t>FindSet</a:t>
            </a:r>
            <a:r>
              <a:rPr lang="en-US" altLang="en-US" sz="2400" b="1" kern="0" dirty="0" smtClean="0">
                <a:latin typeface="Courier New" pitchFamily="49" charset="0"/>
              </a:rPr>
              <a:t>(u) </a:t>
            </a:r>
            <a:r>
              <a:rPr lang="en-US" altLang="en-US" sz="2400" b="1" kern="0" dirty="0" smtClean="0">
                <a:latin typeface="Courier New" pitchFamily="49" charset="0"/>
                <a:sym typeface="Symbol" pitchFamily="18" charset="2"/>
              </a:rPr>
              <a:t> </a:t>
            </a:r>
            <a:r>
              <a:rPr lang="en-US" altLang="en-US" sz="2400" b="1" kern="0" dirty="0" err="1" smtClean="0">
                <a:latin typeface="Courier New" pitchFamily="49" charset="0"/>
                <a:sym typeface="Symbol" pitchFamily="18" charset="2"/>
              </a:rPr>
              <a:t>FindSet</a:t>
            </a:r>
            <a:r>
              <a:rPr lang="en-US" altLang="en-US" sz="2400" b="1" kern="0" dirty="0" smtClean="0">
                <a:latin typeface="Courier New" pitchFamily="49" charset="0"/>
                <a:sym typeface="Symbol" pitchFamily="18" charset="2"/>
              </a:rPr>
              <a:t>(v)</a:t>
            </a:r>
          </a:p>
          <a:p>
            <a:pPr>
              <a:buFont typeface="Times New Roman" pitchFamily="18" charset="0"/>
              <a:buNone/>
              <a:defRPr/>
            </a:pPr>
            <a:r>
              <a:rPr lang="en-US" altLang="en-US" sz="2400" b="1" kern="0" dirty="0" smtClean="0">
                <a:latin typeface="Courier New" pitchFamily="49" charset="0"/>
                <a:sym typeface="Symbol" pitchFamily="18" charset="2"/>
              </a:rPr>
              <a:t>         T = T </a:t>
            </a:r>
            <a:r>
              <a:rPr lang="en-US" altLang="en-US" sz="2400" b="1" kern="0" dirty="0" smtClean="0">
                <a:latin typeface="Microsoft Sans Serif" pitchFamily="34" charset="0"/>
                <a:sym typeface="Math B" pitchFamily="2" charset="2"/>
              </a:rPr>
              <a:t>U</a:t>
            </a:r>
            <a:r>
              <a:rPr lang="en-US" altLang="en-US" sz="2400" b="1" kern="0" dirty="0" smtClean="0">
                <a:latin typeface="Courier New" pitchFamily="49" charset="0"/>
                <a:sym typeface="Math B" pitchFamily="2" charset="2"/>
              </a:rPr>
              <a:t> {{</a:t>
            </a:r>
            <a:r>
              <a:rPr lang="en-US" altLang="en-US" sz="2400" b="1" kern="0" dirty="0" err="1" smtClean="0">
                <a:latin typeface="Courier New" pitchFamily="49" charset="0"/>
                <a:sym typeface="Math B" pitchFamily="2" charset="2"/>
              </a:rPr>
              <a:t>u,v</a:t>
            </a:r>
            <a:r>
              <a:rPr lang="en-US" altLang="en-US" sz="2400" b="1" kern="0" dirty="0" smtClean="0">
                <a:latin typeface="Courier New" pitchFamily="49" charset="0"/>
                <a:sym typeface="Math B" pitchFamily="2" charset="2"/>
              </a:rPr>
              <a:t>}};</a:t>
            </a:r>
          </a:p>
          <a:p>
            <a:pPr>
              <a:buFont typeface="Times New Roman" pitchFamily="18" charset="0"/>
              <a:buNone/>
              <a:defRPr/>
            </a:pPr>
            <a:r>
              <a:rPr lang="en-US" altLang="en-US" sz="2400" b="1" kern="0" dirty="0" smtClean="0">
                <a:latin typeface="Courier New" pitchFamily="49" charset="0"/>
                <a:sym typeface="Math B" pitchFamily="2" charset="2"/>
              </a:rPr>
              <a:t>         Union(u, v);</a:t>
            </a:r>
          </a:p>
          <a:p>
            <a:pPr>
              <a:buFont typeface="Times New Roman" pitchFamily="18" charset="0"/>
              <a:buNone/>
              <a:defRPr/>
            </a:pPr>
            <a:r>
              <a:rPr lang="en-US" altLang="en-US" sz="2400" b="1" kern="0" dirty="0" smtClean="0">
                <a:latin typeface="Courier New" pitchFamily="49" charset="0"/>
                <a:sym typeface="Math B" pitchFamily="2" charset="2"/>
              </a:rPr>
              <a:t>Return T</a:t>
            </a:r>
          </a:p>
          <a:p>
            <a:pPr>
              <a:buFont typeface="Times New Roman" pitchFamily="18" charset="0"/>
              <a:buNone/>
              <a:defRPr/>
            </a:pPr>
            <a:endParaRPr lang="en-US" altLang="en-US" sz="2400" b="1" kern="0" dirty="0" smtClean="0">
              <a:latin typeface="Courier New" pitchFamily="49" charset="0"/>
              <a:sym typeface="Math B" pitchFamily="2" charset="2"/>
            </a:endParaRPr>
          </a:p>
        </p:txBody>
      </p:sp>
      <p:sp>
        <p:nvSpPr>
          <p:cNvPr id="56323"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6324" name="Oval 5"/>
          <p:cNvSpPr>
            <a:spLocks noChangeArrowheads="1"/>
          </p:cNvSpPr>
          <p:nvPr/>
        </p:nvSpPr>
        <p:spPr bwMode="auto">
          <a:xfrm>
            <a:off x="5562600" y="1846263"/>
            <a:ext cx="457200" cy="457200"/>
          </a:xfrm>
          <a:prstGeom prst="ellipse">
            <a:avLst/>
          </a:prstGeom>
          <a:solidFill>
            <a:srgbClr val="FF00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6325"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6326"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6327" name="Oval 8"/>
          <p:cNvSpPr>
            <a:spLocks noChangeArrowheads="1"/>
          </p:cNvSpPr>
          <p:nvPr/>
        </p:nvSpPr>
        <p:spPr bwMode="auto">
          <a:xfrm>
            <a:off x="8229600" y="2608263"/>
            <a:ext cx="457200" cy="457200"/>
          </a:xfrm>
          <a:prstGeom prst="ellipse">
            <a:avLst/>
          </a:prstGeom>
          <a:solidFill>
            <a:schemeClr val="tx2"/>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6328"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6329"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56330" name="AutoShape 11"/>
          <p:cNvCxnSpPr>
            <a:cxnSpLocks noChangeShapeType="1"/>
            <a:stCxn id="56323" idx="6"/>
            <a:endCxn id="56324" idx="2"/>
          </p:cNvCxnSpPr>
          <p:nvPr/>
        </p:nvCxnSpPr>
        <p:spPr bwMode="auto">
          <a:xfrm>
            <a:off x="43576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1" name="AutoShape 12"/>
          <p:cNvCxnSpPr>
            <a:cxnSpLocks noChangeShapeType="1"/>
            <a:stCxn id="56324" idx="6"/>
            <a:endCxn id="56325"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2" name="AutoShape 13"/>
          <p:cNvCxnSpPr>
            <a:cxnSpLocks noChangeShapeType="1"/>
            <a:stCxn id="56325" idx="3"/>
            <a:endCxn id="56328"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3" name="AutoShape 14"/>
          <p:cNvCxnSpPr>
            <a:cxnSpLocks noChangeShapeType="1"/>
            <a:stCxn id="56328" idx="2"/>
            <a:endCxn id="56329"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4" name="AutoShape 15"/>
          <p:cNvCxnSpPr>
            <a:cxnSpLocks noChangeShapeType="1"/>
            <a:stCxn id="56329" idx="0"/>
            <a:endCxn id="56323"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5" name="AutoShape 16"/>
          <p:cNvCxnSpPr>
            <a:cxnSpLocks noChangeShapeType="1"/>
            <a:stCxn id="56323" idx="5"/>
            <a:endCxn id="56328"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6" name="AutoShape 17"/>
          <p:cNvCxnSpPr>
            <a:cxnSpLocks noChangeShapeType="1"/>
            <a:stCxn id="56328" idx="0"/>
            <a:endCxn id="56324"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7" name="AutoShape 18"/>
          <p:cNvCxnSpPr>
            <a:cxnSpLocks noChangeShapeType="1"/>
            <a:stCxn id="56328" idx="6"/>
            <a:endCxn id="56326"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8" name="AutoShape 19"/>
          <p:cNvCxnSpPr>
            <a:cxnSpLocks noChangeShapeType="1"/>
            <a:stCxn id="56326" idx="0"/>
            <a:endCxn id="56325"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39" name="AutoShape 20"/>
          <p:cNvCxnSpPr>
            <a:cxnSpLocks noChangeShapeType="1"/>
            <a:stCxn id="56325" idx="5"/>
            <a:endCxn id="56327"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6340" name="AutoShape 21"/>
          <p:cNvCxnSpPr>
            <a:cxnSpLocks noChangeShapeType="1"/>
            <a:stCxn id="56326" idx="7"/>
            <a:endCxn id="56327" idx="3"/>
          </p:cNvCxnSpPr>
          <p:nvPr/>
        </p:nvCxnSpPr>
        <p:spPr bwMode="auto">
          <a:xfrm flipV="1">
            <a:off x="7629525" y="3013075"/>
            <a:ext cx="666750" cy="333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sp>
        <p:nvSpPr>
          <p:cNvPr id="56341"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56342"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56343"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56344"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56345"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56346"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56347"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56348"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56349"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56350"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56351"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56352"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dirty="0">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57376"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57377" name="AutoShape 34"/>
          <p:cNvSpPr>
            <a:spLocks/>
          </p:cNvSpPr>
          <p:nvPr/>
        </p:nvSpPr>
        <p:spPr bwMode="auto">
          <a:xfrm>
            <a:off x="762000" y="4114800"/>
            <a:ext cx="152400" cy="381000"/>
          </a:xfrm>
          <a:prstGeom prst="leftBrace">
            <a:avLst>
              <a:gd name="adj1" fmla="val 20833"/>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78"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dirty="0" err="1" smtClean="0">
                <a:latin typeface="Courier New" pitchFamily="49" charset="0"/>
              </a:rPr>
              <a:t>Kruskal</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a:t>
            </a:r>
          </a:p>
          <a:p>
            <a:pPr>
              <a:buFont typeface="Times New Roman" pitchFamily="18" charset="0"/>
              <a:buNone/>
            </a:pPr>
            <a:r>
              <a:rPr lang="en-US" altLang="en-US" sz="2400" b="1" dirty="0" smtClean="0">
                <a:latin typeface="Courier New" pitchFamily="49" charset="0"/>
              </a:rPr>
              <a:t>   T =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for each v </a:t>
            </a:r>
            <a:r>
              <a:rPr lang="en-US" altLang="en-US" sz="2400" dirty="0" smtClean="0">
                <a:sym typeface="Symbol" pitchFamily="18" charset="2"/>
              </a:rPr>
              <a:t></a:t>
            </a:r>
            <a:r>
              <a:rPr lang="en-US" altLang="en-US" sz="2400" b="1" dirty="0" smtClean="0">
                <a:latin typeface="Courier New" pitchFamily="49" charset="0"/>
              </a:rPr>
              <a:t> V</a:t>
            </a:r>
          </a:p>
          <a:p>
            <a:pPr>
              <a:buFont typeface="Times New Roman" pitchFamily="18" charset="0"/>
              <a:buNone/>
            </a:pPr>
            <a:r>
              <a:rPr lang="en-US" altLang="en-US" sz="2400" b="1" dirty="0" smtClean="0">
                <a:latin typeface="Courier New" pitchFamily="49" charset="0"/>
              </a:rPr>
              <a:t>      </a:t>
            </a:r>
            <a:r>
              <a:rPr lang="en-US" altLang="en-US" sz="2400" b="1" dirty="0" err="1" smtClean="0">
                <a:latin typeface="Courier New" pitchFamily="49" charset="0"/>
              </a:rPr>
              <a:t>MakeSet</a:t>
            </a:r>
            <a:r>
              <a:rPr lang="en-US" altLang="en-US" sz="2400" b="1" dirty="0" smtClean="0">
                <a:latin typeface="Courier New" pitchFamily="49" charset="0"/>
              </a:rPr>
              <a:t>(v);</a:t>
            </a:r>
          </a:p>
          <a:p>
            <a:pPr>
              <a:buFont typeface="Times New Roman" pitchFamily="18" charset="0"/>
              <a:buNone/>
            </a:pPr>
            <a:r>
              <a:rPr lang="en-US" altLang="en-US" sz="2400" b="1" dirty="0" smtClean="0">
                <a:latin typeface="Courier New" pitchFamily="49" charset="0"/>
              </a:rPr>
              <a:t>   sort E by increasing edge weight w</a:t>
            </a:r>
          </a:p>
          <a:p>
            <a:pPr>
              <a:buFont typeface="Times New Roman" pitchFamily="18" charset="0"/>
              <a:buNone/>
            </a:pPr>
            <a:r>
              <a:rPr lang="en-US" altLang="en-US" sz="2400" b="1" dirty="0" smtClean="0">
                <a:latin typeface="Courier New" pitchFamily="49" charset="0"/>
              </a:rPr>
              <a:t>   for each (</a:t>
            </a:r>
            <a:r>
              <a:rPr lang="en-US" altLang="en-US" sz="2400" b="1" dirty="0" err="1" smtClean="0">
                <a:latin typeface="Courier New" pitchFamily="49" charset="0"/>
              </a:rPr>
              <a:t>u,v</a:t>
            </a:r>
            <a:r>
              <a:rPr lang="en-US" altLang="en-US" sz="2400" b="1" dirty="0" smtClean="0">
                <a:latin typeface="Courier New" pitchFamily="49" charset="0"/>
              </a:rPr>
              <a:t>)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 E (in sorted order)</a:t>
            </a:r>
          </a:p>
          <a:p>
            <a:pPr>
              <a:buFont typeface="Times New Roman" pitchFamily="18" charset="0"/>
              <a:buNone/>
            </a:pPr>
            <a:r>
              <a:rPr lang="en-US" altLang="en-US" sz="2400" b="1" dirty="0" smtClean="0">
                <a:latin typeface="Courier New" pitchFamily="49" charset="0"/>
              </a:rPr>
              <a:t>      if </a:t>
            </a:r>
            <a:r>
              <a:rPr lang="en-US" altLang="en-US" sz="2400" b="1" dirty="0" err="1" smtClean="0">
                <a:latin typeface="Courier New" pitchFamily="49" charset="0"/>
              </a:rPr>
              <a:t>FindSet</a:t>
            </a:r>
            <a:r>
              <a:rPr lang="en-US" altLang="en-US" sz="2400" b="1" dirty="0" smtClean="0">
                <a:latin typeface="Courier New" pitchFamily="49" charset="0"/>
              </a:rPr>
              <a:t>(u) </a:t>
            </a:r>
            <a:r>
              <a:rPr lang="en-US" altLang="en-US" sz="2400" b="1" dirty="0" smtClean="0">
                <a:latin typeface="Courier New" pitchFamily="49" charset="0"/>
                <a:sym typeface="Symbol" pitchFamily="18" charset="2"/>
              </a:rPr>
              <a:t> </a:t>
            </a:r>
            <a:r>
              <a:rPr lang="en-US" altLang="en-US" sz="2400" b="1" dirty="0" err="1" smtClean="0">
                <a:latin typeface="Courier New" pitchFamily="49" charset="0"/>
                <a:sym typeface="Symbol" pitchFamily="18" charset="2"/>
              </a:rPr>
              <a:t>FindSet</a:t>
            </a:r>
            <a:r>
              <a:rPr lang="en-US" altLang="en-US" sz="2400" b="1" dirty="0" smtClean="0">
                <a:latin typeface="Courier New" pitchFamily="49" charset="0"/>
                <a:sym typeface="Symbol" pitchFamily="18" charset="2"/>
              </a:rPr>
              <a:t>(v)</a:t>
            </a:r>
          </a:p>
          <a:p>
            <a:pPr>
              <a:buFont typeface="Times New Roman" pitchFamily="18" charset="0"/>
              <a:buNone/>
            </a:pPr>
            <a:r>
              <a:rPr lang="en-US" altLang="en-US" sz="2400" b="1" dirty="0" smtClean="0">
                <a:latin typeface="Courier New" pitchFamily="49" charset="0"/>
                <a:sym typeface="Symbol" pitchFamily="18" charset="2"/>
              </a:rPr>
              <a:t>         T = T </a:t>
            </a:r>
            <a:r>
              <a:rPr lang="en-US" altLang="en-US" sz="2400" b="1" dirty="0" smtClean="0">
                <a:latin typeface="Microsoft Sans Serif" pitchFamily="34" charset="0"/>
                <a:sym typeface="Math B" pitchFamily="2" charset="2"/>
              </a:rPr>
              <a:t>U</a:t>
            </a:r>
            <a:r>
              <a:rPr lang="en-US" altLang="en-US" sz="2400" b="1" dirty="0" smtClean="0">
                <a:latin typeface="Courier New" pitchFamily="49" charset="0"/>
                <a:sym typeface="Math B" pitchFamily="2" charset="2"/>
              </a:rPr>
              <a:t> {{</a:t>
            </a:r>
            <a:r>
              <a:rPr lang="en-US" altLang="en-US" sz="2400" b="1" dirty="0" err="1" smtClean="0">
                <a:latin typeface="Courier New" pitchFamily="49" charset="0"/>
                <a:sym typeface="Math B" pitchFamily="2" charset="2"/>
              </a:rPr>
              <a:t>u,v</a:t>
            </a:r>
            <a:r>
              <a:rPr lang="en-US" altLang="en-US" sz="2400" b="1" dirty="0" smtClean="0">
                <a:latin typeface="Courier New" pitchFamily="49" charset="0"/>
                <a:sym typeface="Math B" pitchFamily="2" charset="2"/>
              </a:rPr>
              <a:t>}};</a:t>
            </a:r>
          </a:p>
          <a:p>
            <a:pPr>
              <a:buFont typeface="Times New Roman" pitchFamily="18" charset="0"/>
              <a:buNone/>
            </a:pPr>
            <a:r>
              <a:rPr lang="en-US" altLang="en-US" sz="2400" b="1" dirty="0" smtClean="0">
                <a:latin typeface="Courier New" pitchFamily="49" charset="0"/>
                <a:sym typeface="Math B" pitchFamily="2" charset="2"/>
              </a:rPr>
              <a:t>         Union(u, v);</a:t>
            </a:r>
          </a:p>
          <a:p>
            <a:pPr>
              <a:buFont typeface="Times New Roman" pitchFamily="18" charset="0"/>
              <a:buNone/>
            </a:pPr>
            <a:r>
              <a:rPr lang="en-US" altLang="en-US" sz="2400" b="1" dirty="0" smtClean="0">
                <a:latin typeface="Courier New" pitchFamily="49" charset="0"/>
                <a:sym typeface="Math B" pitchFamily="2" charset="2"/>
              </a:rPr>
              <a:t>Return T</a:t>
            </a:r>
          </a:p>
          <a:p>
            <a:pPr>
              <a:buFont typeface="Times New Roman" pitchFamily="18" charset="0"/>
              <a:buNone/>
            </a:pPr>
            <a:endParaRPr lang="en-US" altLang="en-US" sz="2400" b="1" dirty="0" smtClean="0">
              <a:latin typeface="Courier New" pitchFamily="49" charset="0"/>
              <a:sym typeface="Math B" pitchFamily="2" charset="2"/>
            </a:endParaRPr>
          </a:p>
        </p:txBody>
      </p:sp>
      <p:sp>
        <p:nvSpPr>
          <p:cNvPr id="57347"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48" name="Oval 5"/>
          <p:cNvSpPr>
            <a:spLocks noChangeArrowheads="1"/>
          </p:cNvSpPr>
          <p:nvPr/>
        </p:nvSpPr>
        <p:spPr bwMode="auto">
          <a:xfrm>
            <a:off x="5562600" y="1846263"/>
            <a:ext cx="457200" cy="457200"/>
          </a:xfrm>
          <a:prstGeom prst="ellipse">
            <a:avLst/>
          </a:prstGeom>
          <a:solidFill>
            <a:srgbClr val="FF00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49"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50"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51" name="Oval 8"/>
          <p:cNvSpPr>
            <a:spLocks noChangeArrowheads="1"/>
          </p:cNvSpPr>
          <p:nvPr/>
        </p:nvSpPr>
        <p:spPr bwMode="auto">
          <a:xfrm>
            <a:off x="8229600" y="2608263"/>
            <a:ext cx="457200" cy="457200"/>
          </a:xfrm>
          <a:prstGeom prst="ellipse">
            <a:avLst/>
          </a:prstGeom>
          <a:solidFill>
            <a:schemeClr val="tx2"/>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52"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7353"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57354" name="AutoShape 11"/>
          <p:cNvCxnSpPr>
            <a:cxnSpLocks noChangeShapeType="1"/>
            <a:stCxn id="57347" idx="6"/>
            <a:endCxn id="57348" idx="2"/>
          </p:cNvCxnSpPr>
          <p:nvPr/>
        </p:nvCxnSpPr>
        <p:spPr bwMode="auto">
          <a:xfrm>
            <a:off x="43576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55" name="AutoShape 12"/>
          <p:cNvCxnSpPr>
            <a:cxnSpLocks noChangeShapeType="1"/>
            <a:stCxn id="57348" idx="6"/>
            <a:endCxn id="57349"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56" name="AutoShape 13"/>
          <p:cNvCxnSpPr>
            <a:cxnSpLocks noChangeShapeType="1"/>
            <a:stCxn id="57349" idx="3"/>
            <a:endCxn id="57352"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57" name="AutoShape 14"/>
          <p:cNvCxnSpPr>
            <a:cxnSpLocks noChangeShapeType="1"/>
            <a:stCxn id="57352" idx="2"/>
            <a:endCxn id="57353"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58" name="AutoShape 15"/>
          <p:cNvCxnSpPr>
            <a:cxnSpLocks noChangeShapeType="1"/>
            <a:stCxn id="57353" idx="0"/>
            <a:endCxn id="57347"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59" name="AutoShape 16"/>
          <p:cNvCxnSpPr>
            <a:cxnSpLocks noChangeShapeType="1"/>
            <a:stCxn id="57347" idx="5"/>
            <a:endCxn id="57352"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60" name="AutoShape 17"/>
          <p:cNvCxnSpPr>
            <a:cxnSpLocks noChangeShapeType="1"/>
            <a:stCxn id="57352" idx="0"/>
            <a:endCxn id="57348"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61" name="AutoShape 18"/>
          <p:cNvCxnSpPr>
            <a:cxnSpLocks noChangeShapeType="1"/>
            <a:stCxn id="57352" idx="6"/>
            <a:endCxn id="57350"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62" name="AutoShape 19"/>
          <p:cNvCxnSpPr>
            <a:cxnSpLocks noChangeShapeType="1"/>
            <a:stCxn id="57350" idx="0"/>
            <a:endCxn id="57349"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63" name="AutoShape 20"/>
          <p:cNvCxnSpPr>
            <a:cxnSpLocks noChangeShapeType="1"/>
            <a:stCxn id="57349" idx="5"/>
            <a:endCxn id="57351"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7364" name="AutoShape 21"/>
          <p:cNvCxnSpPr>
            <a:cxnSpLocks noChangeShapeType="1"/>
            <a:stCxn id="57350" idx="7"/>
            <a:endCxn id="57351" idx="3"/>
          </p:cNvCxnSpPr>
          <p:nvPr/>
        </p:nvCxnSpPr>
        <p:spPr bwMode="auto">
          <a:xfrm flipV="1">
            <a:off x="7629525" y="3013075"/>
            <a:ext cx="666750" cy="333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sp>
        <p:nvSpPr>
          <p:cNvPr id="57365"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57366"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57367"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57368"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57369"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57370"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57371"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57372"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57373"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57374"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57375"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58400"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58401"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402"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58371"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372" name="Oval 5"/>
          <p:cNvSpPr>
            <a:spLocks noChangeArrowheads="1"/>
          </p:cNvSpPr>
          <p:nvPr/>
        </p:nvSpPr>
        <p:spPr bwMode="auto">
          <a:xfrm>
            <a:off x="5562600" y="1846263"/>
            <a:ext cx="457200" cy="457200"/>
          </a:xfrm>
          <a:prstGeom prst="ellipse">
            <a:avLst/>
          </a:prstGeom>
          <a:solidFill>
            <a:srgbClr val="FF00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373"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374"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375" name="Oval 8"/>
          <p:cNvSpPr>
            <a:spLocks noChangeArrowheads="1"/>
          </p:cNvSpPr>
          <p:nvPr/>
        </p:nvSpPr>
        <p:spPr bwMode="auto">
          <a:xfrm>
            <a:off x="8229600" y="2608263"/>
            <a:ext cx="457200" cy="457200"/>
          </a:xfrm>
          <a:prstGeom prst="ellipse">
            <a:avLst/>
          </a:prstGeom>
          <a:solidFill>
            <a:schemeClr val="tx2"/>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376"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8377"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58378" name="AutoShape 11"/>
          <p:cNvCxnSpPr>
            <a:cxnSpLocks noChangeShapeType="1"/>
            <a:stCxn id="58371" idx="6"/>
            <a:endCxn id="58372" idx="2"/>
          </p:cNvCxnSpPr>
          <p:nvPr/>
        </p:nvCxnSpPr>
        <p:spPr bwMode="auto">
          <a:xfrm>
            <a:off x="43576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79" name="AutoShape 12"/>
          <p:cNvCxnSpPr>
            <a:cxnSpLocks noChangeShapeType="1"/>
            <a:stCxn id="58372" idx="6"/>
            <a:endCxn id="58373"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0" name="AutoShape 13"/>
          <p:cNvCxnSpPr>
            <a:cxnSpLocks noChangeShapeType="1"/>
            <a:stCxn id="58373" idx="3"/>
            <a:endCxn id="58376"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1" name="AutoShape 14"/>
          <p:cNvCxnSpPr>
            <a:cxnSpLocks noChangeShapeType="1"/>
            <a:stCxn id="58376" idx="2"/>
            <a:endCxn id="58377"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2" name="AutoShape 15"/>
          <p:cNvCxnSpPr>
            <a:cxnSpLocks noChangeShapeType="1"/>
            <a:stCxn id="58377" idx="0"/>
            <a:endCxn id="58371"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3" name="AutoShape 16"/>
          <p:cNvCxnSpPr>
            <a:cxnSpLocks noChangeShapeType="1"/>
            <a:stCxn id="58371" idx="5"/>
            <a:endCxn id="58376"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4" name="AutoShape 17"/>
          <p:cNvCxnSpPr>
            <a:cxnSpLocks noChangeShapeType="1"/>
            <a:stCxn id="58376" idx="0"/>
            <a:endCxn id="58372"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5" name="AutoShape 18"/>
          <p:cNvCxnSpPr>
            <a:cxnSpLocks noChangeShapeType="1"/>
            <a:stCxn id="58376" idx="6"/>
            <a:endCxn id="58374"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6" name="AutoShape 19"/>
          <p:cNvCxnSpPr>
            <a:cxnSpLocks noChangeShapeType="1"/>
            <a:stCxn id="58374" idx="0"/>
            <a:endCxn id="58373"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7" name="AutoShape 20"/>
          <p:cNvCxnSpPr>
            <a:cxnSpLocks noChangeShapeType="1"/>
            <a:stCxn id="58373" idx="5"/>
            <a:endCxn id="58375"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8388" name="AutoShape 21"/>
          <p:cNvCxnSpPr>
            <a:cxnSpLocks noChangeShapeType="1"/>
            <a:stCxn id="58374" idx="7"/>
            <a:endCxn id="58375" idx="3"/>
          </p:cNvCxnSpPr>
          <p:nvPr/>
        </p:nvCxnSpPr>
        <p:spPr bwMode="auto">
          <a:xfrm flipV="1">
            <a:off x="7629525" y="3013075"/>
            <a:ext cx="666750" cy="33337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sp>
        <p:nvSpPr>
          <p:cNvPr id="58389"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58390"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58391"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58392" name="Text Box 25"/>
          <p:cNvSpPr txBox="1">
            <a:spLocks noChangeArrowheads="1"/>
          </p:cNvSpPr>
          <p:nvPr/>
        </p:nvSpPr>
        <p:spPr bwMode="auto">
          <a:xfrm>
            <a:off x="7862888"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58393"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58394"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58395"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58396"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58397"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58398"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58399"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59425"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426"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dirty="0" err="1" smtClean="0">
                <a:latin typeface="Courier New" pitchFamily="49" charset="0"/>
              </a:rPr>
              <a:t>Kruskal</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a:t>
            </a:r>
          </a:p>
          <a:p>
            <a:pPr>
              <a:buFont typeface="Times New Roman" pitchFamily="18" charset="0"/>
              <a:buNone/>
            </a:pPr>
            <a:r>
              <a:rPr lang="en-US" altLang="en-US" sz="2400" b="1" dirty="0" smtClean="0">
                <a:latin typeface="Courier New" pitchFamily="49" charset="0"/>
              </a:rPr>
              <a:t>   T =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for each v </a:t>
            </a:r>
            <a:r>
              <a:rPr lang="en-US" altLang="en-US" sz="2400" dirty="0" smtClean="0">
                <a:sym typeface="Symbol" pitchFamily="18" charset="2"/>
              </a:rPr>
              <a:t></a:t>
            </a:r>
            <a:r>
              <a:rPr lang="en-US" altLang="en-US" sz="2400" b="1" dirty="0" smtClean="0">
                <a:latin typeface="Courier New" pitchFamily="49" charset="0"/>
              </a:rPr>
              <a:t> V</a:t>
            </a:r>
          </a:p>
          <a:p>
            <a:pPr>
              <a:buFont typeface="Times New Roman" pitchFamily="18" charset="0"/>
              <a:buNone/>
            </a:pPr>
            <a:r>
              <a:rPr lang="en-US" altLang="en-US" sz="2400" b="1" dirty="0" smtClean="0">
                <a:latin typeface="Courier New" pitchFamily="49" charset="0"/>
              </a:rPr>
              <a:t>      </a:t>
            </a:r>
            <a:r>
              <a:rPr lang="en-US" altLang="en-US" sz="2400" b="1" dirty="0" err="1" smtClean="0">
                <a:latin typeface="Courier New" pitchFamily="49" charset="0"/>
              </a:rPr>
              <a:t>MakeSet</a:t>
            </a:r>
            <a:r>
              <a:rPr lang="en-US" altLang="en-US" sz="2400" b="1" dirty="0" smtClean="0">
                <a:latin typeface="Courier New" pitchFamily="49" charset="0"/>
              </a:rPr>
              <a:t>(v);</a:t>
            </a:r>
          </a:p>
          <a:p>
            <a:pPr>
              <a:buFont typeface="Times New Roman" pitchFamily="18" charset="0"/>
              <a:buNone/>
            </a:pPr>
            <a:r>
              <a:rPr lang="en-US" altLang="en-US" sz="2400" b="1" dirty="0" smtClean="0">
                <a:latin typeface="Courier New" pitchFamily="49" charset="0"/>
              </a:rPr>
              <a:t>   sort E by increasing edge weight w</a:t>
            </a:r>
          </a:p>
          <a:p>
            <a:pPr>
              <a:buFont typeface="Times New Roman" pitchFamily="18" charset="0"/>
              <a:buNone/>
            </a:pPr>
            <a:r>
              <a:rPr lang="en-US" altLang="en-US" sz="2400" b="1" dirty="0" smtClean="0">
                <a:latin typeface="Courier New" pitchFamily="49" charset="0"/>
              </a:rPr>
              <a:t>   for each (</a:t>
            </a:r>
            <a:r>
              <a:rPr lang="en-US" altLang="en-US" sz="2400" b="1" dirty="0" err="1" smtClean="0">
                <a:latin typeface="Courier New" pitchFamily="49" charset="0"/>
              </a:rPr>
              <a:t>u,v</a:t>
            </a:r>
            <a:r>
              <a:rPr lang="en-US" altLang="en-US" sz="2400" b="1" dirty="0" smtClean="0">
                <a:latin typeface="Courier New" pitchFamily="49" charset="0"/>
              </a:rPr>
              <a:t>)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 E (in sorted order)</a:t>
            </a:r>
          </a:p>
          <a:p>
            <a:pPr>
              <a:buFont typeface="Times New Roman" pitchFamily="18" charset="0"/>
              <a:buNone/>
            </a:pPr>
            <a:r>
              <a:rPr lang="en-US" altLang="en-US" sz="2400" b="1" dirty="0" smtClean="0">
                <a:latin typeface="Courier New" pitchFamily="49" charset="0"/>
              </a:rPr>
              <a:t>      if </a:t>
            </a:r>
            <a:r>
              <a:rPr lang="en-US" altLang="en-US" sz="2400" b="1" dirty="0" err="1" smtClean="0">
                <a:latin typeface="Courier New" pitchFamily="49" charset="0"/>
              </a:rPr>
              <a:t>FindSet</a:t>
            </a:r>
            <a:r>
              <a:rPr lang="en-US" altLang="en-US" sz="2400" b="1" dirty="0" smtClean="0">
                <a:latin typeface="Courier New" pitchFamily="49" charset="0"/>
              </a:rPr>
              <a:t>(u) </a:t>
            </a:r>
            <a:r>
              <a:rPr lang="en-US" altLang="en-US" sz="2400" b="1" dirty="0" smtClean="0">
                <a:latin typeface="Courier New" pitchFamily="49" charset="0"/>
                <a:sym typeface="Symbol" pitchFamily="18" charset="2"/>
              </a:rPr>
              <a:t> </a:t>
            </a:r>
            <a:r>
              <a:rPr lang="en-US" altLang="en-US" sz="2400" b="1" dirty="0" err="1" smtClean="0">
                <a:latin typeface="Courier New" pitchFamily="49" charset="0"/>
                <a:sym typeface="Symbol" pitchFamily="18" charset="2"/>
              </a:rPr>
              <a:t>FindSet</a:t>
            </a:r>
            <a:r>
              <a:rPr lang="en-US" altLang="en-US" sz="2400" b="1" dirty="0" smtClean="0">
                <a:latin typeface="Courier New" pitchFamily="49" charset="0"/>
                <a:sym typeface="Symbol" pitchFamily="18" charset="2"/>
              </a:rPr>
              <a:t>(v)</a:t>
            </a:r>
          </a:p>
          <a:p>
            <a:pPr>
              <a:buFont typeface="Times New Roman" pitchFamily="18" charset="0"/>
              <a:buNone/>
            </a:pPr>
            <a:r>
              <a:rPr lang="en-US" altLang="en-US" sz="2400" b="1" dirty="0" smtClean="0">
                <a:latin typeface="Courier New" pitchFamily="49" charset="0"/>
                <a:sym typeface="Symbol" pitchFamily="18" charset="2"/>
              </a:rPr>
              <a:t>         T = T </a:t>
            </a:r>
            <a:r>
              <a:rPr lang="en-US" altLang="en-US" sz="2400" b="1" dirty="0" smtClean="0">
                <a:latin typeface="Microsoft Sans Serif" pitchFamily="34" charset="0"/>
                <a:sym typeface="Math B" pitchFamily="2" charset="2"/>
              </a:rPr>
              <a:t>U</a:t>
            </a:r>
            <a:r>
              <a:rPr lang="en-US" altLang="en-US" sz="2400" b="1" dirty="0" smtClean="0">
                <a:latin typeface="Courier New" pitchFamily="49" charset="0"/>
                <a:sym typeface="Math B" pitchFamily="2" charset="2"/>
              </a:rPr>
              <a:t> {{</a:t>
            </a:r>
            <a:r>
              <a:rPr lang="en-US" altLang="en-US" sz="2400" b="1" dirty="0" err="1" smtClean="0">
                <a:latin typeface="Courier New" pitchFamily="49" charset="0"/>
                <a:sym typeface="Math B" pitchFamily="2" charset="2"/>
              </a:rPr>
              <a:t>u,v</a:t>
            </a:r>
            <a:r>
              <a:rPr lang="en-US" altLang="en-US" sz="2400" b="1" dirty="0" smtClean="0">
                <a:latin typeface="Courier New" pitchFamily="49" charset="0"/>
                <a:sym typeface="Math B" pitchFamily="2" charset="2"/>
              </a:rPr>
              <a:t>}};</a:t>
            </a:r>
          </a:p>
          <a:p>
            <a:pPr>
              <a:buFont typeface="Times New Roman" pitchFamily="18" charset="0"/>
              <a:buNone/>
            </a:pPr>
            <a:r>
              <a:rPr lang="en-US" altLang="en-US" sz="2400" b="1" dirty="0" smtClean="0">
                <a:latin typeface="Courier New" pitchFamily="49" charset="0"/>
                <a:sym typeface="Math B" pitchFamily="2" charset="2"/>
              </a:rPr>
              <a:t>         Union(u, v);</a:t>
            </a:r>
          </a:p>
          <a:p>
            <a:pPr>
              <a:buFont typeface="Times New Roman" pitchFamily="18" charset="0"/>
              <a:buNone/>
            </a:pPr>
            <a:r>
              <a:rPr lang="en-US" altLang="en-US" sz="2400" b="1" dirty="0" smtClean="0">
                <a:latin typeface="Courier New" pitchFamily="49" charset="0"/>
                <a:sym typeface="Math B" pitchFamily="2" charset="2"/>
              </a:rPr>
              <a:t>Return T</a:t>
            </a:r>
          </a:p>
          <a:p>
            <a:pPr>
              <a:buFont typeface="Times New Roman" pitchFamily="18" charset="0"/>
              <a:buNone/>
            </a:pPr>
            <a:endParaRPr lang="en-US" altLang="en-US" sz="2400" b="1" dirty="0" smtClean="0">
              <a:latin typeface="Courier New" pitchFamily="49" charset="0"/>
              <a:sym typeface="Math B" pitchFamily="2" charset="2"/>
            </a:endParaRPr>
          </a:p>
        </p:txBody>
      </p:sp>
      <p:sp>
        <p:nvSpPr>
          <p:cNvPr id="59395"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396" name="Oval 5"/>
          <p:cNvSpPr>
            <a:spLocks noChangeArrowheads="1"/>
          </p:cNvSpPr>
          <p:nvPr/>
        </p:nvSpPr>
        <p:spPr bwMode="auto">
          <a:xfrm>
            <a:off x="5562600" y="1846263"/>
            <a:ext cx="457200" cy="457200"/>
          </a:xfrm>
          <a:prstGeom prst="ellipse">
            <a:avLst/>
          </a:prstGeom>
          <a:solidFill>
            <a:srgbClr val="FF00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397"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398"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399"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400"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59401"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59402" name="AutoShape 11"/>
          <p:cNvCxnSpPr>
            <a:cxnSpLocks noChangeShapeType="1"/>
            <a:stCxn id="59395" idx="6"/>
            <a:endCxn id="59396" idx="2"/>
          </p:cNvCxnSpPr>
          <p:nvPr/>
        </p:nvCxnSpPr>
        <p:spPr bwMode="auto">
          <a:xfrm>
            <a:off x="43576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3" name="AutoShape 12"/>
          <p:cNvCxnSpPr>
            <a:cxnSpLocks noChangeShapeType="1"/>
            <a:stCxn id="59396" idx="6"/>
            <a:endCxn id="59397"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4" name="AutoShape 13"/>
          <p:cNvCxnSpPr>
            <a:cxnSpLocks noChangeShapeType="1"/>
            <a:stCxn id="59397" idx="3"/>
            <a:endCxn id="59400"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5" name="AutoShape 14"/>
          <p:cNvCxnSpPr>
            <a:cxnSpLocks noChangeShapeType="1"/>
            <a:stCxn id="59400" idx="2"/>
            <a:endCxn id="59401"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6" name="AutoShape 15"/>
          <p:cNvCxnSpPr>
            <a:cxnSpLocks noChangeShapeType="1"/>
            <a:stCxn id="59401" idx="0"/>
            <a:endCxn id="59395"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7" name="AutoShape 16"/>
          <p:cNvCxnSpPr>
            <a:cxnSpLocks noChangeShapeType="1"/>
            <a:stCxn id="59395" idx="5"/>
            <a:endCxn id="59400"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8" name="AutoShape 17"/>
          <p:cNvCxnSpPr>
            <a:cxnSpLocks noChangeShapeType="1"/>
            <a:stCxn id="59400" idx="0"/>
            <a:endCxn id="59396"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09" name="AutoShape 18"/>
          <p:cNvCxnSpPr>
            <a:cxnSpLocks noChangeShapeType="1"/>
            <a:stCxn id="59400" idx="6"/>
            <a:endCxn id="59398"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10" name="AutoShape 19"/>
          <p:cNvCxnSpPr>
            <a:cxnSpLocks noChangeShapeType="1"/>
            <a:stCxn id="59398" idx="0"/>
            <a:endCxn id="59397"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11" name="AutoShape 20"/>
          <p:cNvCxnSpPr>
            <a:cxnSpLocks noChangeShapeType="1"/>
            <a:stCxn id="59397" idx="5"/>
            <a:endCxn id="59399"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59412" name="AutoShape 21"/>
          <p:cNvCxnSpPr>
            <a:cxnSpLocks noChangeShapeType="1"/>
            <a:stCxn id="59398" idx="7"/>
            <a:endCxn id="59399"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59413"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59414"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59415"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59416"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59417"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59418"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59419"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59420"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59421"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59422"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59423"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59424"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0448"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60449"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50"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60419"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20" name="Oval 5"/>
          <p:cNvSpPr>
            <a:spLocks noChangeArrowheads="1"/>
          </p:cNvSpPr>
          <p:nvPr/>
        </p:nvSpPr>
        <p:spPr bwMode="auto">
          <a:xfrm>
            <a:off x="5562600" y="1846263"/>
            <a:ext cx="457200" cy="457200"/>
          </a:xfrm>
          <a:prstGeom prst="ellipse">
            <a:avLst/>
          </a:prstGeom>
          <a:solidFill>
            <a:srgbClr val="FF00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21"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22"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23"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24"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0425"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0426" name="AutoShape 11"/>
          <p:cNvCxnSpPr>
            <a:cxnSpLocks noChangeShapeType="1"/>
            <a:stCxn id="60419" idx="6"/>
            <a:endCxn id="60420" idx="2"/>
          </p:cNvCxnSpPr>
          <p:nvPr/>
        </p:nvCxnSpPr>
        <p:spPr bwMode="auto">
          <a:xfrm>
            <a:off x="4357688" y="2074863"/>
            <a:ext cx="1190625" cy="0"/>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60427" name="AutoShape 12"/>
          <p:cNvCxnSpPr>
            <a:cxnSpLocks noChangeShapeType="1"/>
            <a:stCxn id="60420" idx="6"/>
            <a:endCxn id="60421"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28" name="AutoShape 13"/>
          <p:cNvCxnSpPr>
            <a:cxnSpLocks noChangeShapeType="1"/>
            <a:stCxn id="60421" idx="3"/>
            <a:endCxn id="60424"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29" name="AutoShape 14"/>
          <p:cNvCxnSpPr>
            <a:cxnSpLocks noChangeShapeType="1"/>
            <a:stCxn id="60424" idx="2"/>
            <a:endCxn id="60425"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0" name="AutoShape 15"/>
          <p:cNvCxnSpPr>
            <a:cxnSpLocks noChangeShapeType="1"/>
            <a:stCxn id="60425" idx="0"/>
            <a:endCxn id="60419"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1" name="AutoShape 16"/>
          <p:cNvCxnSpPr>
            <a:cxnSpLocks noChangeShapeType="1"/>
            <a:stCxn id="60419" idx="5"/>
            <a:endCxn id="60424"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2" name="AutoShape 17"/>
          <p:cNvCxnSpPr>
            <a:cxnSpLocks noChangeShapeType="1"/>
            <a:stCxn id="60424" idx="0"/>
            <a:endCxn id="60420"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3" name="AutoShape 18"/>
          <p:cNvCxnSpPr>
            <a:cxnSpLocks noChangeShapeType="1"/>
            <a:stCxn id="60424" idx="6"/>
            <a:endCxn id="60422"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4" name="AutoShape 19"/>
          <p:cNvCxnSpPr>
            <a:cxnSpLocks noChangeShapeType="1"/>
            <a:stCxn id="60422" idx="0"/>
            <a:endCxn id="60421"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5" name="AutoShape 20"/>
          <p:cNvCxnSpPr>
            <a:cxnSpLocks noChangeShapeType="1"/>
            <a:stCxn id="60421" idx="5"/>
            <a:endCxn id="60423"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0436" name="AutoShape 21"/>
          <p:cNvCxnSpPr>
            <a:cxnSpLocks noChangeShapeType="1"/>
            <a:stCxn id="60422" idx="7"/>
            <a:endCxn id="60423"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0437" name="Text Box 22"/>
          <p:cNvSpPr txBox="1">
            <a:spLocks noChangeArrowheads="1"/>
          </p:cNvSpPr>
          <p:nvPr/>
        </p:nvSpPr>
        <p:spPr bwMode="auto">
          <a:xfrm>
            <a:off x="4662488" y="17287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0438"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0439"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0440"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0441"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60442"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0443"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0444"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0445"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0446"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0447"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61473"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74"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dirty="0" err="1" smtClean="0">
                <a:latin typeface="Courier New" pitchFamily="49" charset="0"/>
              </a:rPr>
              <a:t>Kruskal</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a:t>
            </a:r>
          </a:p>
          <a:p>
            <a:pPr>
              <a:buFont typeface="Times New Roman" pitchFamily="18" charset="0"/>
              <a:buNone/>
            </a:pPr>
            <a:r>
              <a:rPr lang="en-US" altLang="en-US" sz="2400" b="1" dirty="0" smtClean="0">
                <a:latin typeface="Courier New" pitchFamily="49" charset="0"/>
              </a:rPr>
              <a:t>   T =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for each v </a:t>
            </a:r>
            <a:r>
              <a:rPr lang="en-US" altLang="en-US" sz="2400" dirty="0" smtClean="0">
                <a:sym typeface="Symbol" pitchFamily="18" charset="2"/>
              </a:rPr>
              <a:t></a:t>
            </a:r>
            <a:r>
              <a:rPr lang="en-US" altLang="en-US" sz="2400" b="1" dirty="0" smtClean="0">
                <a:latin typeface="Courier New" pitchFamily="49" charset="0"/>
              </a:rPr>
              <a:t> V</a:t>
            </a:r>
          </a:p>
          <a:p>
            <a:pPr>
              <a:buFont typeface="Times New Roman" pitchFamily="18" charset="0"/>
              <a:buNone/>
            </a:pPr>
            <a:r>
              <a:rPr lang="en-US" altLang="en-US" sz="2400" b="1" dirty="0" smtClean="0">
                <a:latin typeface="Courier New" pitchFamily="49" charset="0"/>
              </a:rPr>
              <a:t>      </a:t>
            </a:r>
            <a:r>
              <a:rPr lang="en-US" altLang="en-US" sz="2400" b="1" dirty="0" err="1" smtClean="0">
                <a:latin typeface="Courier New" pitchFamily="49" charset="0"/>
              </a:rPr>
              <a:t>MakeSet</a:t>
            </a:r>
            <a:r>
              <a:rPr lang="en-US" altLang="en-US" sz="2400" b="1" dirty="0" smtClean="0">
                <a:latin typeface="Courier New" pitchFamily="49" charset="0"/>
              </a:rPr>
              <a:t>(v);</a:t>
            </a:r>
          </a:p>
          <a:p>
            <a:pPr>
              <a:buFont typeface="Times New Roman" pitchFamily="18" charset="0"/>
              <a:buNone/>
            </a:pPr>
            <a:r>
              <a:rPr lang="en-US" altLang="en-US" sz="2400" b="1" dirty="0" smtClean="0">
                <a:latin typeface="Courier New" pitchFamily="49" charset="0"/>
              </a:rPr>
              <a:t>   sort E by increasing edge weight w</a:t>
            </a:r>
          </a:p>
          <a:p>
            <a:pPr>
              <a:buFont typeface="Times New Roman" pitchFamily="18" charset="0"/>
              <a:buNone/>
            </a:pPr>
            <a:r>
              <a:rPr lang="en-US" altLang="en-US" sz="2400" b="1" dirty="0" smtClean="0">
                <a:latin typeface="Courier New" pitchFamily="49" charset="0"/>
              </a:rPr>
              <a:t>   for each (</a:t>
            </a:r>
            <a:r>
              <a:rPr lang="en-US" altLang="en-US" sz="2400" b="1" dirty="0" err="1" smtClean="0">
                <a:latin typeface="Courier New" pitchFamily="49" charset="0"/>
              </a:rPr>
              <a:t>u,v</a:t>
            </a:r>
            <a:r>
              <a:rPr lang="en-US" altLang="en-US" sz="2400" b="1" dirty="0" smtClean="0">
                <a:latin typeface="Courier New" pitchFamily="49" charset="0"/>
              </a:rPr>
              <a:t>)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 E (in sorted order)</a:t>
            </a:r>
          </a:p>
          <a:p>
            <a:pPr>
              <a:buFont typeface="Times New Roman" pitchFamily="18" charset="0"/>
              <a:buNone/>
            </a:pPr>
            <a:r>
              <a:rPr lang="en-US" altLang="en-US" sz="2400" b="1" dirty="0" smtClean="0">
                <a:latin typeface="Courier New" pitchFamily="49" charset="0"/>
              </a:rPr>
              <a:t>      if </a:t>
            </a:r>
            <a:r>
              <a:rPr lang="en-US" altLang="en-US" sz="2400" b="1" dirty="0" err="1" smtClean="0">
                <a:latin typeface="Courier New" pitchFamily="49" charset="0"/>
              </a:rPr>
              <a:t>FindSet</a:t>
            </a:r>
            <a:r>
              <a:rPr lang="en-US" altLang="en-US" sz="2400" b="1" dirty="0" smtClean="0">
                <a:latin typeface="Courier New" pitchFamily="49" charset="0"/>
              </a:rPr>
              <a:t>(u) </a:t>
            </a:r>
            <a:r>
              <a:rPr lang="en-US" altLang="en-US" sz="2400" b="1" dirty="0" smtClean="0">
                <a:latin typeface="Courier New" pitchFamily="49" charset="0"/>
                <a:sym typeface="Symbol" pitchFamily="18" charset="2"/>
              </a:rPr>
              <a:t> </a:t>
            </a:r>
            <a:r>
              <a:rPr lang="en-US" altLang="en-US" sz="2400" b="1" dirty="0" err="1" smtClean="0">
                <a:latin typeface="Courier New" pitchFamily="49" charset="0"/>
                <a:sym typeface="Symbol" pitchFamily="18" charset="2"/>
              </a:rPr>
              <a:t>FindSet</a:t>
            </a:r>
            <a:r>
              <a:rPr lang="en-US" altLang="en-US" sz="2400" b="1" dirty="0" smtClean="0">
                <a:latin typeface="Courier New" pitchFamily="49" charset="0"/>
                <a:sym typeface="Symbol" pitchFamily="18" charset="2"/>
              </a:rPr>
              <a:t>(v)</a:t>
            </a:r>
          </a:p>
          <a:p>
            <a:pPr>
              <a:buFont typeface="Times New Roman" pitchFamily="18" charset="0"/>
              <a:buNone/>
            </a:pPr>
            <a:r>
              <a:rPr lang="en-US" altLang="en-US" sz="2400" b="1" dirty="0" smtClean="0">
                <a:latin typeface="Courier New" pitchFamily="49" charset="0"/>
                <a:sym typeface="Symbol" pitchFamily="18" charset="2"/>
              </a:rPr>
              <a:t>         T = T </a:t>
            </a:r>
            <a:r>
              <a:rPr lang="en-US" altLang="en-US" sz="2400" b="1" dirty="0" smtClean="0">
                <a:latin typeface="Microsoft Sans Serif" pitchFamily="34" charset="0"/>
                <a:sym typeface="Math B" pitchFamily="2" charset="2"/>
              </a:rPr>
              <a:t>U</a:t>
            </a:r>
            <a:r>
              <a:rPr lang="en-US" altLang="en-US" sz="2400" b="1" dirty="0" smtClean="0">
                <a:latin typeface="Courier New" pitchFamily="49" charset="0"/>
                <a:sym typeface="Math B" pitchFamily="2" charset="2"/>
              </a:rPr>
              <a:t> {{</a:t>
            </a:r>
            <a:r>
              <a:rPr lang="en-US" altLang="en-US" sz="2400" b="1" dirty="0" err="1" smtClean="0">
                <a:latin typeface="Courier New" pitchFamily="49" charset="0"/>
                <a:sym typeface="Math B" pitchFamily="2" charset="2"/>
              </a:rPr>
              <a:t>u,v</a:t>
            </a:r>
            <a:r>
              <a:rPr lang="en-US" altLang="en-US" sz="2400" b="1" dirty="0" smtClean="0">
                <a:latin typeface="Courier New" pitchFamily="49" charset="0"/>
                <a:sym typeface="Math B" pitchFamily="2" charset="2"/>
              </a:rPr>
              <a:t>}};</a:t>
            </a:r>
          </a:p>
          <a:p>
            <a:pPr>
              <a:buFont typeface="Times New Roman" pitchFamily="18" charset="0"/>
              <a:buNone/>
            </a:pPr>
            <a:r>
              <a:rPr lang="en-US" altLang="en-US" sz="2400" b="1" dirty="0" smtClean="0">
                <a:latin typeface="Courier New" pitchFamily="49" charset="0"/>
                <a:sym typeface="Math B" pitchFamily="2" charset="2"/>
              </a:rPr>
              <a:t>         Union(u, v);</a:t>
            </a:r>
          </a:p>
          <a:p>
            <a:pPr>
              <a:buFont typeface="Times New Roman" pitchFamily="18" charset="0"/>
              <a:buNone/>
            </a:pPr>
            <a:r>
              <a:rPr lang="en-US" altLang="en-US" sz="2400" b="1" dirty="0" smtClean="0">
                <a:latin typeface="Courier New" pitchFamily="49" charset="0"/>
                <a:sym typeface="Math B" pitchFamily="2" charset="2"/>
              </a:rPr>
              <a:t>Return T</a:t>
            </a:r>
          </a:p>
          <a:p>
            <a:pPr>
              <a:buFont typeface="Times New Roman" pitchFamily="18" charset="0"/>
              <a:buNone/>
            </a:pPr>
            <a:endParaRPr lang="en-US" altLang="en-US" sz="2400" b="1" dirty="0" smtClean="0">
              <a:latin typeface="Courier New" pitchFamily="49" charset="0"/>
              <a:sym typeface="Math B" pitchFamily="2" charset="2"/>
            </a:endParaRPr>
          </a:p>
        </p:txBody>
      </p:sp>
      <p:sp>
        <p:nvSpPr>
          <p:cNvPr id="61443"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44"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45"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46"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47"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48"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1449"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1450" name="AutoShape 11"/>
          <p:cNvCxnSpPr>
            <a:cxnSpLocks noChangeShapeType="1"/>
            <a:stCxn id="61443" idx="6"/>
            <a:endCxn id="61444"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1451" name="AutoShape 12"/>
          <p:cNvCxnSpPr>
            <a:cxnSpLocks noChangeShapeType="1"/>
            <a:stCxn id="61444" idx="6"/>
            <a:endCxn id="61445"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2" name="AutoShape 13"/>
          <p:cNvCxnSpPr>
            <a:cxnSpLocks noChangeShapeType="1"/>
            <a:stCxn id="61445" idx="3"/>
            <a:endCxn id="61448"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3" name="AutoShape 14"/>
          <p:cNvCxnSpPr>
            <a:cxnSpLocks noChangeShapeType="1"/>
            <a:stCxn id="61448" idx="2"/>
            <a:endCxn id="61449"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4" name="AutoShape 15"/>
          <p:cNvCxnSpPr>
            <a:cxnSpLocks noChangeShapeType="1"/>
            <a:stCxn id="61449" idx="0"/>
            <a:endCxn id="61443"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5" name="AutoShape 16"/>
          <p:cNvCxnSpPr>
            <a:cxnSpLocks noChangeShapeType="1"/>
            <a:stCxn id="61443" idx="5"/>
            <a:endCxn id="61448"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6" name="AutoShape 17"/>
          <p:cNvCxnSpPr>
            <a:cxnSpLocks noChangeShapeType="1"/>
            <a:stCxn id="61448" idx="0"/>
            <a:endCxn id="61444"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7" name="AutoShape 18"/>
          <p:cNvCxnSpPr>
            <a:cxnSpLocks noChangeShapeType="1"/>
            <a:stCxn id="61448" idx="6"/>
            <a:endCxn id="61446"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8" name="AutoShape 19"/>
          <p:cNvCxnSpPr>
            <a:cxnSpLocks noChangeShapeType="1"/>
            <a:stCxn id="61446" idx="0"/>
            <a:endCxn id="61445" idx="4"/>
          </p:cNvCxnSpPr>
          <p:nvPr/>
        </p:nvCxnSpPr>
        <p:spPr bwMode="auto">
          <a:xfrm flipV="1">
            <a:off x="74676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59" name="AutoShape 20"/>
          <p:cNvCxnSpPr>
            <a:cxnSpLocks noChangeShapeType="1"/>
            <a:stCxn id="61445" idx="5"/>
            <a:endCxn id="61447"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1460" name="AutoShape 21"/>
          <p:cNvCxnSpPr>
            <a:cxnSpLocks noChangeShapeType="1"/>
            <a:stCxn id="61446" idx="7"/>
            <a:endCxn id="61447"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1461"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1462"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1463"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1464"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1465"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61466"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1467"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1468"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1469"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1470"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1471"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1472"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2497"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98"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dirty="0" err="1" smtClean="0">
                <a:latin typeface="Courier New" pitchFamily="49" charset="0"/>
              </a:rPr>
              <a:t>Kruskal</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a:t>
            </a:r>
          </a:p>
          <a:p>
            <a:pPr>
              <a:buFont typeface="Times New Roman" pitchFamily="18" charset="0"/>
              <a:buNone/>
            </a:pPr>
            <a:r>
              <a:rPr lang="en-US" altLang="en-US" sz="2400" b="1" dirty="0" smtClean="0">
                <a:latin typeface="Courier New" pitchFamily="49" charset="0"/>
              </a:rPr>
              <a:t>   T =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for each v </a:t>
            </a:r>
            <a:r>
              <a:rPr lang="en-US" altLang="en-US" sz="2400" dirty="0" smtClean="0">
                <a:sym typeface="Symbol" pitchFamily="18" charset="2"/>
              </a:rPr>
              <a:t></a:t>
            </a:r>
            <a:r>
              <a:rPr lang="en-US" altLang="en-US" sz="2400" b="1" dirty="0" smtClean="0">
                <a:latin typeface="Courier New" pitchFamily="49" charset="0"/>
              </a:rPr>
              <a:t> V</a:t>
            </a:r>
          </a:p>
          <a:p>
            <a:pPr>
              <a:buFont typeface="Times New Roman" pitchFamily="18" charset="0"/>
              <a:buNone/>
            </a:pPr>
            <a:r>
              <a:rPr lang="en-US" altLang="en-US" sz="2400" b="1" dirty="0" smtClean="0">
                <a:latin typeface="Courier New" pitchFamily="49" charset="0"/>
              </a:rPr>
              <a:t>      </a:t>
            </a:r>
            <a:r>
              <a:rPr lang="en-US" altLang="en-US" sz="2400" b="1" dirty="0" err="1" smtClean="0">
                <a:latin typeface="Courier New" pitchFamily="49" charset="0"/>
              </a:rPr>
              <a:t>MakeSet</a:t>
            </a:r>
            <a:r>
              <a:rPr lang="en-US" altLang="en-US" sz="2400" b="1" dirty="0" smtClean="0">
                <a:latin typeface="Courier New" pitchFamily="49" charset="0"/>
              </a:rPr>
              <a:t>(v);</a:t>
            </a:r>
          </a:p>
          <a:p>
            <a:pPr>
              <a:buFont typeface="Times New Roman" pitchFamily="18" charset="0"/>
              <a:buNone/>
            </a:pPr>
            <a:r>
              <a:rPr lang="en-US" altLang="en-US" sz="2400" b="1" dirty="0" smtClean="0">
                <a:latin typeface="Courier New" pitchFamily="49" charset="0"/>
              </a:rPr>
              <a:t>   sort E by increasing edge weight w</a:t>
            </a:r>
          </a:p>
          <a:p>
            <a:pPr>
              <a:buFont typeface="Times New Roman" pitchFamily="18" charset="0"/>
              <a:buNone/>
            </a:pPr>
            <a:r>
              <a:rPr lang="en-US" altLang="en-US" sz="2400" b="1" dirty="0" smtClean="0">
                <a:latin typeface="Courier New" pitchFamily="49" charset="0"/>
              </a:rPr>
              <a:t>   for each (</a:t>
            </a:r>
            <a:r>
              <a:rPr lang="en-US" altLang="en-US" sz="2400" b="1" dirty="0" err="1" smtClean="0">
                <a:latin typeface="Courier New" pitchFamily="49" charset="0"/>
              </a:rPr>
              <a:t>u,v</a:t>
            </a:r>
            <a:r>
              <a:rPr lang="en-US" altLang="en-US" sz="2400" b="1" dirty="0" smtClean="0">
                <a:latin typeface="Courier New" pitchFamily="49" charset="0"/>
              </a:rPr>
              <a:t>)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 E (in sorted order)</a:t>
            </a:r>
          </a:p>
          <a:p>
            <a:pPr>
              <a:buFont typeface="Times New Roman" pitchFamily="18" charset="0"/>
              <a:buNone/>
            </a:pPr>
            <a:r>
              <a:rPr lang="en-US" altLang="en-US" sz="2400" b="1" dirty="0" smtClean="0">
                <a:latin typeface="Courier New" pitchFamily="49" charset="0"/>
              </a:rPr>
              <a:t>      if </a:t>
            </a:r>
            <a:r>
              <a:rPr lang="en-US" altLang="en-US" sz="2400" b="1" dirty="0" err="1" smtClean="0">
                <a:latin typeface="Courier New" pitchFamily="49" charset="0"/>
              </a:rPr>
              <a:t>FindSet</a:t>
            </a:r>
            <a:r>
              <a:rPr lang="en-US" altLang="en-US" sz="2400" b="1" dirty="0" smtClean="0">
                <a:latin typeface="Courier New" pitchFamily="49" charset="0"/>
              </a:rPr>
              <a:t>(u) </a:t>
            </a:r>
            <a:r>
              <a:rPr lang="en-US" altLang="en-US" sz="2400" b="1" dirty="0" smtClean="0">
                <a:latin typeface="Courier New" pitchFamily="49" charset="0"/>
                <a:sym typeface="Symbol" pitchFamily="18" charset="2"/>
              </a:rPr>
              <a:t> </a:t>
            </a:r>
            <a:r>
              <a:rPr lang="en-US" altLang="en-US" sz="2400" b="1" dirty="0" err="1" smtClean="0">
                <a:latin typeface="Courier New" pitchFamily="49" charset="0"/>
                <a:sym typeface="Symbol" pitchFamily="18" charset="2"/>
              </a:rPr>
              <a:t>FindSet</a:t>
            </a:r>
            <a:r>
              <a:rPr lang="en-US" altLang="en-US" sz="2400" b="1" dirty="0" smtClean="0">
                <a:latin typeface="Courier New" pitchFamily="49" charset="0"/>
                <a:sym typeface="Symbol" pitchFamily="18" charset="2"/>
              </a:rPr>
              <a:t>(v)</a:t>
            </a:r>
          </a:p>
          <a:p>
            <a:pPr>
              <a:buFont typeface="Times New Roman" pitchFamily="18" charset="0"/>
              <a:buNone/>
            </a:pPr>
            <a:r>
              <a:rPr lang="en-US" altLang="en-US" sz="2400" b="1" dirty="0" smtClean="0">
                <a:latin typeface="Courier New" pitchFamily="49" charset="0"/>
                <a:sym typeface="Symbol" pitchFamily="18" charset="2"/>
              </a:rPr>
              <a:t>         T = T </a:t>
            </a:r>
            <a:r>
              <a:rPr lang="en-US" altLang="en-US" sz="2400" b="1" dirty="0" smtClean="0">
                <a:latin typeface="Microsoft Sans Serif" pitchFamily="34" charset="0"/>
                <a:sym typeface="Math B" pitchFamily="2" charset="2"/>
              </a:rPr>
              <a:t>U</a:t>
            </a:r>
            <a:r>
              <a:rPr lang="en-US" altLang="en-US" sz="2400" b="1" dirty="0" smtClean="0">
                <a:latin typeface="Courier New" pitchFamily="49" charset="0"/>
                <a:sym typeface="Math B" pitchFamily="2" charset="2"/>
              </a:rPr>
              <a:t> {{</a:t>
            </a:r>
            <a:r>
              <a:rPr lang="en-US" altLang="en-US" sz="2400" b="1" dirty="0" err="1" smtClean="0">
                <a:latin typeface="Courier New" pitchFamily="49" charset="0"/>
                <a:sym typeface="Math B" pitchFamily="2" charset="2"/>
              </a:rPr>
              <a:t>u,v</a:t>
            </a:r>
            <a:r>
              <a:rPr lang="en-US" altLang="en-US" sz="2400" b="1" dirty="0" smtClean="0">
                <a:latin typeface="Courier New" pitchFamily="49" charset="0"/>
                <a:sym typeface="Math B" pitchFamily="2" charset="2"/>
              </a:rPr>
              <a:t>}};</a:t>
            </a:r>
          </a:p>
          <a:p>
            <a:pPr>
              <a:buFont typeface="Times New Roman" pitchFamily="18" charset="0"/>
              <a:buNone/>
            </a:pPr>
            <a:r>
              <a:rPr lang="en-US" altLang="en-US" sz="2400" b="1" dirty="0" smtClean="0">
                <a:latin typeface="Courier New" pitchFamily="49" charset="0"/>
                <a:sym typeface="Math B" pitchFamily="2" charset="2"/>
              </a:rPr>
              <a:t>         Union(u, v);</a:t>
            </a:r>
          </a:p>
          <a:p>
            <a:pPr>
              <a:buFont typeface="Times New Roman" pitchFamily="18" charset="0"/>
              <a:buNone/>
            </a:pPr>
            <a:r>
              <a:rPr lang="en-US" altLang="en-US" sz="2400" b="1" dirty="0" smtClean="0">
                <a:latin typeface="Courier New" pitchFamily="49" charset="0"/>
                <a:sym typeface="Math B" pitchFamily="2" charset="2"/>
              </a:rPr>
              <a:t>Return T</a:t>
            </a:r>
          </a:p>
          <a:p>
            <a:pPr>
              <a:buFont typeface="Times New Roman" pitchFamily="18" charset="0"/>
              <a:buNone/>
            </a:pPr>
            <a:endParaRPr lang="en-US" altLang="en-US" sz="2400" b="1" dirty="0" smtClean="0">
              <a:latin typeface="Courier New" pitchFamily="49" charset="0"/>
              <a:sym typeface="Math B" pitchFamily="2" charset="2"/>
            </a:endParaRPr>
          </a:p>
        </p:txBody>
      </p:sp>
      <p:sp>
        <p:nvSpPr>
          <p:cNvPr id="62467"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68"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69" name="Oval 6"/>
          <p:cNvSpPr>
            <a:spLocks noChangeArrowheads="1"/>
          </p:cNvSpPr>
          <p:nvPr/>
        </p:nvSpPr>
        <p:spPr bwMode="auto">
          <a:xfrm>
            <a:off x="7239000" y="1846263"/>
            <a:ext cx="457200" cy="457200"/>
          </a:xfrm>
          <a:prstGeom prst="ellipse">
            <a:avLst/>
          </a:prstGeom>
          <a:solidFill>
            <a:srgbClr val="00B05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70"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71"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72"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2473"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2474" name="AutoShape 11"/>
          <p:cNvCxnSpPr>
            <a:cxnSpLocks noChangeShapeType="1"/>
            <a:stCxn id="62467" idx="6"/>
            <a:endCxn id="62468"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2475" name="AutoShape 12"/>
          <p:cNvCxnSpPr>
            <a:cxnSpLocks noChangeShapeType="1"/>
            <a:stCxn id="62468" idx="6"/>
            <a:endCxn id="62469"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76" name="AutoShape 13"/>
          <p:cNvCxnSpPr>
            <a:cxnSpLocks noChangeShapeType="1"/>
            <a:stCxn id="62469" idx="3"/>
            <a:endCxn id="62472"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77" name="AutoShape 14"/>
          <p:cNvCxnSpPr>
            <a:cxnSpLocks noChangeShapeType="1"/>
            <a:stCxn id="62472" idx="2"/>
            <a:endCxn id="62473"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78" name="AutoShape 15"/>
          <p:cNvCxnSpPr>
            <a:cxnSpLocks noChangeShapeType="1"/>
            <a:stCxn id="62473" idx="0"/>
            <a:endCxn id="62467"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79" name="AutoShape 16"/>
          <p:cNvCxnSpPr>
            <a:cxnSpLocks noChangeShapeType="1"/>
            <a:stCxn id="62467" idx="5"/>
            <a:endCxn id="62472"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80" name="AutoShape 17"/>
          <p:cNvCxnSpPr>
            <a:cxnSpLocks noChangeShapeType="1"/>
            <a:stCxn id="62472" idx="0"/>
            <a:endCxn id="62468"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81" name="AutoShape 18"/>
          <p:cNvCxnSpPr>
            <a:cxnSpLocks noChangeShapeType="1"/>
            <a:stCxn id="62472" idx="6"/>
            <a:endCxn id="62470"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82" name="AutoShape 19"/>
          <p:cNvCxnSpPr>
            <a:cxnSpLocks noChangeShapeType="1"/>
            <a:stCxn id="62470" idx="0"/>
            <a:endCxn id="62469" idx="4"/>
          </p:cNvCxnSpPr>
          <p:nvPr/>
        </p:nvCxnSpPr>
        <p:spPr bwMode="auto">
          <a:xfrm flipV="1">
            <a:off x="7467600" y="2317750"/>
            <a:ext cx="0" cy="96202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62483" name="AutoShape 20"/>
          <p:cNvCxnSpPr>
            <a:cxnSpLocks noChangeShapeType="1"/>
            <a:stCxn id="62469" idx="5"/>
            <a:endCxn id="62471"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2484" name="AutoShape 21"/>
          <p:cNvCxnSpPr>
            <a:cxnSpLocks noChangeShapeType="1"/>
            <a:stCxn id="62470" idx="7"/>
            <a:endCxn id="62471"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2485"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2486"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2487"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2488"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2489" name="Text Box 26"/>
          <p:cNvSpPr txBox="1">
            <a:spLocks noChangeArrowheads="1"/>
          </p:cNvSpPr>
          <p:nvPr/>
        </p:nvSpPr>
        <p:spPr bwMode="auto">
          <a:xfrm>
            <a:off x="7443788" y="26939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2490"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2491"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2492"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2493"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2494"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2495"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2496"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3521"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522"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dirty="0" err="1" smtClean="0">
                <a:latin typeface="Courier New" pitchFamily="49" charset="0"/>
              </a:rPr>
              <a:t>Kruskal</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a:t>
            </a:r>
          </a:p>
          <a:p>
            <a:pPr>
              <a:buFont typeface="Times New Roman" pitchFamily="18" charset="0"/>
              <a:buNone/>
            </a:pPr>
            <a:r>
              <a:rPr lang="en-US" altLang="en-US" sz="2400" b="1" dirty="0" smtClean="0">
                <a:latin typeface="Courier New" pitchFamily="49" charset="0"/>
              </a:rPr>
              <a:t>   T =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a:t>
            </a:r>
          </a:p>
          <a:p>
            <a:pPr>
              <a:buFont typeface="Times New Roman" pitchFamily="18" charset="0"/>
              <a:buNone/>
            </a:pPr>
            <a:r>
              <a:rPr lang="en-US" altLang="en-US" sz="2400" b="1" dirty="0" smtClean="0">
                <a:latin typeface="Courier New" pitchFamily="49" charset="0"/>
              </a:rPr>
              <a:t>   for each v </a:t>
            </a:r>
            <a:r>
              <a:rPr lang="en-US" altLang="en-US" sz="2400" dirty="0" smtClean="0">
                <a:sym typeface="Symbol" pitchFamily="18" charset="2"/>
              </a:rPr>
              <a:t></a:t>
            </a:r>
            <a:r>
              <a:rPr lang="en-US" altLang="en-US" sz="2400" b="1" dirty="0" smtClean="0">
                <a:latin typeface="Courier New" pitchFamily="49" charset="0"/>
              </a:rPr>
              <a:t> V</a:t>
            </a:r>
          </a:p>
          <a:p>
            <a:pPr>
              <a:buFont typeface="Times New Roman" pitchFamily="18" charset="0"/>
              <a:buNone/>
            </a:pPr>
            <a:r>
              <a:rPr lang="en-US" altLang="en-US" sz="2400" b="1" dirty="0" smtClean="0">
                <a:latin typeface="Courier New" pitchFamily="49" charset="0"/>
              </a:rPr>
              <a:t>      </a:t>
            </a:r>
            <a:r>
              <a:rPr lang="en-US" altLang="en-US" sz="2400" b="1" dirty="0" err="1" smtClean="0">
                <a:latin typeface="Courier New" pitchFamily="49" charset="0"/>
              </a:rPr>
              <a:t>MakeSet</a:t>
            </a:r>
            <a:r>
              <a:rPr lang="en-US" altLang="en-US" sz="2400" b="1" dirty="0" smtClean="0">
                <a:latin typeface="Courier New" pitchFamily="49" charset="0"/>
              </a:rPr>
              <a:t>(v);</a:t>
            </a:r>
          </a:p>
          <a:p>
            <a:pPr>
              <a:buFont typeface="Times New Roman" pitchFamily="18" charset="0"/>
              <a:buNone/>
            </a:pPr>
            <a:r>
              <a:rPr lang="en-US" altLang="en-US" sz="2400" b="1" dirty="0" smtClean="0">
                <a:latin typeface="Courier New" pitchFamily="49" charset="0"/>
              </a:rPr>
              <a:t>   sort E by increasing edge weight w</a:t>
            </a:r>
          </a:p>
          <a:p>
            <a:pPr>
              <a:buFont typeface="Times New Roman" pitchFamily="18" charset="0"/>
              <a:buNone/>
            </a:pPr>
            <a:r>
              <a:rPr lang="en-US" altLang="en-US" sz="2400" b="1" dirty="0" smtClean="0">
                <a:latin typeface="Courier New" pitchFamily="49" charset="0"/>
              </a:rPr>
              <a:t>   for each (</a:t>
            </a:r>
            <a:r>
              <a:rPr lang="en-US" altLang="en-US" sz="2400" b="1" dirty="0" err="1" smtClean="0">
                <a:latin typeface="Courier New" pitchFamily="49" charset="0"/>
              </a:rPr>
              <a:t>u,v</a:t>
            </a:r>
            <a:r>
              <a:rPr lang="en-US" altLang="en-US" sz="2400" b="1" dirty="0" smtClean="0">
                <a:latin typeface="Courier New" pitchFamily="49" charset="0"/>
              </a:rPr>
              <a:t>) </a:t>
            </a:r>
            <a:r>
              <a:rPr lang="en-US" altLang="en-US" sz="2400" b="1" dirty="0" smtClean="0">
                <a:latin typeface="Courier New" pitchFamily="49" charset="0"/>
                <a:sym typeface="Symbol" pitchFamily="18" charset="2"/>
              </a:rPr>
              <a:t></a:t>
            </a:r>
            <a:r>
              <a:rPr lang="en-US" altLang="en-US" sz="2400" b="1" dirty="0" smtClean="0">
                <a:latin typeface="Courier New" pitchFamily="49" charset="0"/>
              </a:rPr>
              <a:t> E (in sorted order)</a:t>
            </a:r>
          </a:p>
          <a:p>
            <a:pPr>
              <a:buFont typeface="Times New Roman" pitchFamily="18" charset="0"/>
              <a:buNone/>
            </a:pPr>
            <a:r>
              <a:rPr lang="en-US" altLang="en-US" sz="2400" b="1" dirty="0" smtClean="0">
                <a:latin typeface="Courier New" pitchFamily="49" charset="0"/>
              </a:rPr>
              <a:t>      if </a:t>
            </a:r>
            <a:r>
              <a:rPr lang="en-US" altLang="en-US" sz="2400" b="1" dirty="0" err="1" smtClean="0">
                <a:latin typeface="Courier New" pitchFamily="49" charset="0"/>
              </a:rPr>
              <a:t>FindSet</a:t>
            </a:r>
            <a:r>
              <a:rPr lang="en-US" altLang="en-US" sz="2400" b="1" dirty="0" smtClean="0">
                <a:latin typeface="Courier New" pitchFamily="49" charset="0"/>
              </a:rPr>
              <a:t>(u) </a:t>
            </a:r>
            <a:r>
              <a:rPr lang="en-US" altLang="en-US" sz="2400" b="1" dirty="0" smtClean="0">
                <a:latin typeface="Courier New" pitchFamily="49" charset="0"/>
                <a:sym typeface="Symbol" pitchFamily="18" charset="2"/>
              </a:rPr>
              <a:t> </a:t>
            </a:r>
            <a:r>
              <a:rPr lang="en-US" altLang="en-US" sz="2400" b="1" dirty="0" err="1" smtClean="0">
                <a:latin typeface="Courier New" pitchFamily="49" charset="0"/>
                <a:sym typeface="Symbol" pitchFamily="18" charset="2"/>
              </a:rPr>
              <a:t>FindSet</a:t>
            </a:r>
            <a:r>
              <a:rPr lang="en-US" altLang="en-US" sz="2400" b="1" dirty="0" smtClean="0">
                <a:latin typeface="Courier New" pitchFamily="49" charset="0"/>
                <a:sym typeface="Symbol" pitchFamily="18" charset="2"/>
              </a:rPr>
              <a:t>(v)</a:t>
            </a:r>
          </a:p>
          <a:p>
            <a:pPr>
              <a:buFont typeface="Times New Roman" pitchFamily="18" charset="0"/>
              <a:buNone/>
            </a:pPr>
            <a:r>
              <a:rPr lang="en-US" altLang="en-US" sz="2400" b="1" dirty="0" smtClean="0">
                <a:latin typeface="Courier New" pitchFamily="49" charset="0"/>
                <a:sym typeface="Symbol" pitchFamily="18" charset="2"/>
              </a:rPr>
              <a:t>         T = T </a:t>
            </a:r>
            <a:r>
              <a:rPr lang="en-US" altLang="en-US" sz="2400" b="1" dirty="0" smtClean="0">
                <a:latin typeface="Microsoft Sans Serif" pitchFamily="34" charset="0"/>
                <a:sym typeface="Math B" pitchFamily="2" charset="2"/>
              </a:rPr>
              <a:t>U</a:t>
            </a:r>
            <a:r>
              <a:rPr lang="en-US" altLang="en-US" sz="2400" b="1" dirty="0" smtClean="0">
                <a:latin typeface="Courier New" pitchFamily="49" charset="0"/>
                <a:sym typeface="Math B" pitchFamily="2" charset="2"/>
              </a:rPr>
              <a:t> {{</a:t>
            </a:r>
            <a:r>
              <a:rPr lang="en-US" altLang="en-US" sz="2400" b="1" dirty="0" err="1" smtClean="0">
                <a:latin typeface="Courier New" pitchFamily="49" charset="0"/>
                <a:sym typeface="Math B" pitchFamily="2" charset="2"/>
              </a:rPr>
              <a:t>u,v</a:t>
            </a:r>
            <a:r>
              <a:rPr lang="en-US" altLang="en-US" sz="2400" b="1" dirty="0" smtClean="0">
                <a:latin typeface="Courier New" pitchFamily="49" charset="0"/>
                <a:sym typeface="Math B" pitchFamily="2" charset="2"/>
              </a:rPr>
              <a:t>}};</a:t>
            </a:r>
          </a:p>
          <a:p>
            <a:pPr>
              <a:buFont typeface="Times New Roman" pitchFamily="18" charset="0"/>
              <a:buNone/>
            </a:pPr>
            <a:r>
              <a:rPr lang="en-US" altLang="en-US" sz="2400" b="1" dirty="0" smtClean="0">
                <a:latin typeface="Courier New" pitchFamily="49" charset="0"/>
                <a:sym typeface="Math B" pitchFamily="2" charset="2"/>
              </a:rPr>
              <a:t>         Union(u, v);</a:t>
            </a:r>
          </a:p>
          <a:p>
            <a:pPr>
              <a:buFont typeface="Times New Roman" pitchFamily="18" charset="0"/>
              <a:buNone/>
            </a:pPr>
            <a:r>
              <a:rPr lang="en-US" altLang="en-US" sz="2400" b="1" dirty="0" smtClean="0">
                <a:latin typeface="Courier New" pitchFamily="49" charset="0"/>
                <a:sym typeface="Math B" pitchFamily="2" charset="2"/>
              </a:rPr>
              <a:t>Return T</a:t>
            </a:r>
          </a:p>
          <a:p>
            <a:pPr>
              <a:buFont typeface="Times New Roman" pitchFamily="18" charset="0"/>
              <a:buNone/>
            </a:pPr>
            <a:endParaRPr lang="en-US" altLang="en-US" sz="2400" b="1" dirty="0" smtClean="0">
              <a:latin typeface="Courier New" pitchFamily="49" charset="0"/>
              <a:sym typeface="Math B" pitchFamily="2" charset="2"/>
            </a:endParaRPr>
          </a:p>
        </p:txBody>
      </p:sp>
      <p:sp>
        <p:nvSpPr>
          <p:cNvPr id="63491"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492"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493"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494"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495"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496"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3497"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3498" name="AutoShape 11"/>
          <p:cNvCxnSpPr>
            <a:cxnSpLocks noChangeShapeType="1"/>
            <a:stCxn id="63491" idx="6"/>
            <a:endCxn id="63492"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3499" name="AutoShape 12"/>
          <p:cNvCxnSpPr>
            <a:cxnSpLocks noChangeShapeType="1"/>
            <a:stCxn id="63492" idx="6"/>
            <a:endCxn id="63493"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0" name="AutoShape 13"/>
          <p:cNvCxnSpPr>
            <a:cxnSpLocks noChangeShapeType="1"/>
            <a:stCxn id="63493" idx="3"/>
            <a:endCxn id="63496"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1" name="AutoShape 14"/>
          <p:cNvCxnSpPr>
            <a:cxnSpLocks noChangeShapeType="1"/>
            <a:stCxn id="63496" idx="2"/>
            <a:endCxn id="63497"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2" name="AutoShape 15"/>
          <p:cNvCxnSpPr>
            <a:cxnSpLocks noChangeShapeType="1"/>
            <a:stCxn id="63497" idx="0"/>
            <a:endCxn id="63491" idx="4"/>
          </p:cNvCxnSpPr>
          <p:nvPr/>
        </p:nvCxnSpPr>
        <p:spPr bwMode="auto">
          <a:xfrm flipV="1">
            <a:off x="41148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3" name="AutoShape 16"/>
          <p:cNvCxnSpPr>
            <a:cxnSpLocks noChangeShapeType="1"/>
            <a:stCxn id="63491" idx="5"/>
            <a:endCxn id="63496"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4" name="AutoShape 17"/>
          <p:cNvCxnSpPr>
            <a:cxnSpLocks noChangeShapeType="1"/>
            <a:stCxn id="63496" idx="0"/>
            <a:endCxn id="63492"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5" name="AutoShape 18"/>
          <p:cNvCxnSpPr>
            <a:cxnSpLocks noChangeShapeType="1"/>
            <a:stCxn id="63496" idx="6"/>
            <a:endCxn id="63494"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6" name="AutoShape 19"/>
          <p:cNvCxnSpPr>
            <a:cxnSpLocks noChangeShapeType="1"/>
            <a:stCxn id="63494" idx="0"/>
            <a:endCxn id="63493"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3507" name="AutoShape 20"/>
          <p:cNvCxnSpPr>
            <a:cxnSpLocks noChangeShapeType="1"/>
            <a:stCxn id="63493" idx="5"/>
            <a:endCxn id="63495"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3508" name="AutoShape 21"/>
          <p:cNvCxnSpPr>
            <a:cxnSpLocks noChangeShapeType="1"/>
            <a:stCxn id="63494" idx="7"/>
            <a:endCxn id="63495"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3509"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3510"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3511"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3512"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3513"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3514"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3515"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3516"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3517"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3518"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3519"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3520"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64545"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46"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64515"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16"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17"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18"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19"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20"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4521" name="Oval 10"/>
          <p:cNvSpPr>
            <a:spLocks noChangeArrowheads="1"/>
          </p:cNvSpPr>
          <p:nvPr/>
        </p:nvSpPr>
        <p:spPr bwMode="auto">
          <a:xfrm>
            <a:off x="3886200" y="3294063"/>
            <a:ext cx="457200" cy="457200"/>
          </a:xfrm>
          <a:prstGeom prst="ellipse">
            <a:avLst/>
          </a:prstGeom>
          <a:solidFill>
            <a:schemeClr val="hlink"/>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4522" name="AutoShape 11"/>
          <p:cNvCxnSpPr>
            <a:cxnSpLocks noChangeShapeType="1"/>
            <a:stCxn id="64515" idx="6"/>
            <a:endCxn id="64516"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4523" name="AutoShape 12"/>
          <p:cNvCxnSpPr>
            <a:cxnSpLocks noChangeShapeType="1"/>
            <a:stCxn id="64516" idx="6"/>
            <a:endCxn id="64517"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24" name="AutoShape 13"/>
          <p:cNvCxnSpPr>
            <a:cxnSpLocks noChangeShapeType="1"/>
            <a:stCxn id="64517" idx="3"/>
            <a:endCxn id="64520"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25" name="AutoShape 14"/>
          <p:cNvCxnSpPr>
            <a:cxnSpLocks noChangeShapeType="1"/>
            <a:stCxn id="64520" idx="2"/>
            <a:endCxn id="64521"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26" name="AutoShape 15"/>
          <p:cNvCxnSpPr>
            <a:cxnSpLocks noChangeShapeType="1"/>
            <a:stCxn id="64521" idx="0"/>
            <a:endCxn id="64515" idx="4"/>
          </p:cNvCxnSpPr>
          <p:nvPr/>
        </p:nvCxnSpPr>
        <p:spPr bwMode="auto">
          <a:xfrm flipV="1">
            <a:off x="4114800" y="2317750"/>
            <a:ext cx="0" cy="96202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64527" name="AutoShape 16"/>
          <p:cNvCxnSpPr>
            <a:cxnSpLocks noChangeShapeType="1"/>
            <a:stCxn id="64515" idx="5"/>
            <a:endCxn id="64520"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28" name="AutoShape 17"/>
          <p:cNvCxnSpPr>
            <a:cxnSpLocks noChangeShapeType="1"/>
            <a:stCxn id="64520" idx="0"/>
            <a:endCxn id="64516"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29" name="AutoShape 18"/>
          <p:cNvCxnSpPr>
            <a:cxnSpLocks noChangeShapeType="1"/>
            <a:stCxn id="64520" idx="6"/>
            <a:endCxn id="64518"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30" name="AutoShape 19"/>
          <p:cNvCxnSpPr>
            <a:cxnSpLocks noChangeShapeType="1"/>
            <a:stCxn id="64518" idx="0"/>
            <a:endCxn id="64517"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4531" name="AutoShape 20"/>
          <p:cNvCxnSpPr>
            <a:cxnSpLocks noChangeShapeType="1"/>
            <a:stCxn id="64517" idx="5"/>
            <a:endCxn id="64519"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4532" name="AutoShape 21"/>
          <p:cNvCxnSpPr>
            <a:cxnSpLocks noChangeShapeType="1"/>
            <a:stCxn id="64518" idx="7"/>
            <a:endCxn id="64519"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4533"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4534"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4535"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4536"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4537"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4538"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4539"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4540"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4541"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4542" name="Text Box 31"/>
          <p:cNvSpPr txBox="1">
            <a:spLocks noChangeArrowheads="1"/>
          </p:cNvSpPr>
          <p:nvPr/>
        </p:nvSpPr>
        <p:spPr bwMode="auto">
          <a:xfrm>
            <a:off x="3670300"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4543"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4544"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5569"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70"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65539"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40"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41"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42"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43"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44"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5545" name="Oval 10"/>
          <p:cNvSpPr>
            <a:spLocks noChangeArrowheads="1"/>
          </p:cNvSpPr>
          <p:nvPr/>
        </p:nvSpPr>
        <p:spPr bwMode="auto">
          <a:xfrm>
            <a:off x="3886200" y="32940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5546" name="AutoShape 11"/>
          <p:cNvCxnSpPr>
            <a:cxnSpLocks noChangeShapeType="1"/>
            <a:stCxn id="65539" idx="6"/>
            <a:endCxn id="65540"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5547" name="AutoShape 12"/>
          <p:cNvCxnSpPr>
            <a:cxnSpLocks noChangeShapeType="1"/>
            <a:stCxn id="65540" idx="6"/>
            <a:endCxn id="65541"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48" name="AutoShape 13"/>
          <p:cNvCxnSpPr>
            <a:cxnSpLocks noChangeShapeType="1"/>
            <a:stCxn id="65541" idx="3"/>
            <a:endCxn id="65544"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49" name="AutoShape 14"/>
          <p:cNvCxnSpPr>
            <a:cxnSpLocks noChangeShapeType="1"/>
            <a:stCxn id="65544" idx="2"/>
            <a:endCxn id="65545"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50" name="AutoShape 15"/>
          <p:cNvCxnSpPr>
            <a:cxnSpLocks noChangeShapeType="1"/>
            <a:stCxn id="65545" idx="0"/>
            <a:endCxn id="65539"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5551" name="AutoShape 16"/>
          <p:cNvCxnSpPr>
            <a:cxnSpLocks noChangeShapeType="1"/>
            <a:stCxn id="65539" idx="5"/>
            <a:endCxn id="65544"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52" name="AutoShape 17"/>
          <p:cNvCxnSpPr>
            <a:cxnSpLocks noChangeShapeType="1"/>
            <a:stCxn id="65544" idx="0"/>
            <a:endCxn id="65540"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53" name="AutoShape 18"/>
          <p:cNvCxnSpPr>
            <a:cxnSpLocks noChangeShapeType="1"/>
            <a:stCxn id="65544" idx="6"/>
            <a:endCxn id="65542"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54" name="AutoShape 19"/>
          <p:cNvCxnSpPr>
            <a:cxnSpLocks noChangeShapeType="1"/>
            <a:stCxn id="65542" idx="0"/>
            <a:endCxn id="65541"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5555" name="AutoShape 20"/>
          <p:cNvCxnSpPr>
            <a:cxnSpLocks noChangeShapeType="1"/>
            <a:stCxn id="65541" idx="5"/>
            <a:endCxn id="65543"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5556" name="AutoShape 21"/>
          <p:cNvCxnSpPr>
            <a:cxnSpLocks noChangeShapeType="1"/>
            <a:stCxn id="65542" idx="7"/>
            <a:endCxn id="65543"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5557"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5558"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5559"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5560"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5561"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5562"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5563"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5564"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5565"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5566"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5567"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5568"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6593"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94"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66563"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64"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65"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66"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67"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68"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6569" name="Oval 10"/>
          <p:cNvSpPr>
            <a:spLocks noChangeArrowheads="1"/>
          </p:cNvSpPr>
          <p:nvPr/>
        </p:nvSpPr>
        <p:spPr bwMode="auto">
          <a:xfrm>
            <a:off x="3886200" y="32940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6570" name="AutoShape 11"/>
          <p:cNvCxnSpPr>
            <a:cxnSpLocks noChangeShapeType="1"/>
            <a:stCxn id="66563" idx="6"/>
            <a:endCxn id="66564"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6571" name="AutoShape 12"/>
          <p:cNvCxnSpPr>
            <a:cxnSpLocks noChangeShapeType="1"/>
            <a:stCxn id="66564" idx="6"/>
            <a:endCxn id="66565"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6572" name="AutoShape 13"/>
          <p:cNvCxnSpPr>
            <a:cxnSpLocks noChangeShapeType="1"/>
            <a:stCxn id="66565" idx="3"/>
            <a:endCxn id="66568"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6573" name="AutoShape 14"/>
          <p:cNvCxnSpPr>
            <a:cxnSpLocks noChangeShapeType="1"/>
            <a:stCxn id="66568" idx="2"/>
            <a:endCxn id="66569"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6574" name="AutoShape 15"/>
          <p:cNvCxnSpPr>
            <a:cxnSpLocks noChangeShapeType="1"/>
            <a:stCxn id="66569" idx="0"/>
            <a:endCxn id="66563"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6575" name="AutoShape 16"/>
          <p:cNvCxnSpPr>
            <a:cxnSpLocks noChangeShapeType="1"/>
            <a:stCxn id="66563" idx="5"/>
            <a:endCxn id="66568"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6576" name="AutoShape 17"/>
          <p:cNvCxnSpPr>
            <a:cxnSpLocks noChangeShapeType="1"/>
            <a:stCxn id="66568" idx="0"/>
            <a:endCxn id="66564"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6577" name="AutoShape 18"/>
          <p:cNvCxnSpPr>
            <a:cxnSpLocks noChangeShapeType="1"/>
            <a:stCxn id="66568" idx="6"/>
            <a:endCxn id="66566"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6578" name="AutoShape 19"/>
          <p:cNvCxnSpPr>
            <a:cxnSpLocks noChangeShapeType="1"/>
            <a:stCxn id="66566" idx="0"/>
            <a:endCxn id="66565"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6579" name="AutoShape 20"/>
          <p:cNvCxnSpPr>
            <a:cxnSpLocks noChangeShapeType="1"/>
            <a:stCxn id="66565" idx="5"/>
            <a:endCxn id="66567" idx="1"/>
          </p:cNvCxnSpPr>
          <p:nvPr/>
        </p:nvCxnSpPr>
        <p:spPr bwMode="auto">
          <a:xfrm>
            <a:off x="7629525" y="2251075"/>
            <a:ext cx="666750" cy="40957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66580" name="AutoShape 21"/>
          <p:cNvCxnSpPr>
            <a:cxnSpLocks noChangeShapeType="1"/>
            <a:stCxn id="66566" idx="7"/>
            <a:endCxn id="66567"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6581"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6582"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6583" name="Text Box 24"/>
          <p:cNvSpPr txBox="1">
            <a:spLocks noChangeArrowheads="1"/>
          </p:cNvSpPr>
          <p:nvPr/>
        </p:nvSpPr>
        <p:spPr bwMode="auto">
          <a:xfrm>
            <a:off x="7861300" y="2119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6584"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6585"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6586"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6587"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6588"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6589"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6590"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6591"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6592"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7617"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618"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67587"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588"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589"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590"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591"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592"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7593" name="Oval 10"/>
          <p:cNvSpPr>
            <a:spLocks noChangeArrowheads="1"/>
          </p:cNvSpPr>
          <p:nvPr/>
        </p:nvSpPr>
        <p:spPr bwMode="auto">
          <a:xfrm>
            <a:off x="3886200" y="32940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7594" name="AutoShape 11"/>
          <p:cNvCxnSpPr>
            <a:cxnSpLocks noChangeShapeType="1"/>
            <a:stCxn id="67587" idx="6"/>
            <a:endCxn id="67588"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7595" name="AutoShape 12"/>
          <p:cNvCxnSpPr>
            <a:cxnSpLocks noChangeShapeType="1"/>
            <a:stCxn id="67588" idx="6"/>
            <a:endCxn id="67589"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596" name="AutoShape 13"/>
          <p:cNvCxnSpPr>
            <a:cxnSpLocks noChangeShapeType="1"/>
            <a:stCxn id="67589" idx="3"/>
            <a:endCxn id="67592"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597" name="AutoShape 14"/>
          <p:cNvCxnSpPr>
            <a:cxnSpLocks noChangeShapeType="1"/>
            <a:stCxn id="67592" idx="2"/>
            <a:endCxn id="67593"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598" name="AutoShape 15"/>
          <p:cNvCxnSpPr>
            <a:cxnSpLocks noChangeShapeType="1"/>
            <a:stCxn id="67593" idx="0"/>
            <a:endCxn id="67587"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7599" name="AutoShape 16"/>
          <p:cNvCxnSpPr>
            <a:cxnSpLocks noChangeShapeType="1"/>
            <a:stCxn id="67587" idx="5"/>
            <a:endCxn id="67592"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600" name="AutoShape 17"/>
          <p:cNvCxnSpPr>
            <a:cxnSpLocks noChangeShapeType="1"/>
            <a:stCxn id="67592" idx="0"/>
            <a:endCxn id="67588"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601" name="AutoShape 18"/>
          <p:cNvCxnSpPr>
            <a:cxnSpLocks noChangeShapeType="1"/>
            <a:stCxn id="67592" idx="6"/>
            <a:endCxn id="67590" idx="2"/>
          </p:cNvCxnSpPr>
          <p:nvPr/>
        </p:nvCxnSpPr>
        <p:spPr bwMode="auto">
          <a:xfrm>
            <a:off x="60340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602" name="AutoShape 19"/>
          <p:cNvCxnSpPr>
            <a:cxnSpLocks noChangeShapeType="1"/>
            <a:stCxn id="67590" idx="0"/>
            <a:endCxn id="67589"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7603" name="AutoShape 20"/>
          <p:cNvCxnSpPr>
            <a:cxnSpLocks noChangeShapeType="1"/>
            <a:stCxn id="67589" idx="5"/>
            <a:endCxn id="67591"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7604" name="AutoShape 21"/>
          <p:cNvCxnSpPr>
            <a:cxnSpLocks noChangeShapeType="1"/>
            <a:stCxn id="67590" idx="7"/>
            <a:endCxn id="67591"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7605"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7606"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7607"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7608"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7609"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7610"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7611"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7612"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7613"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7614"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7615"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7616"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8641"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42"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
        <p:nvSpPr>
          <p:cNvPr id="68611"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12"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13"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14"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15"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16" name="Oval 9"/>
          <p:cNvSpPr>
            <a:spLocks noChangeArrowheads="1"/>
          </p:cNvSpPr>
          <p:nvPr/>
        </p:nvSpPr>
        <p:spPr bwMode="auto">
          <a:xfrm>
            <a:off x="5562600" y="3294063"/>
            <a:ext cx="457200" cy="457200"/>
          </a:xfrm>
          <a:prstGeom prst="ellipse">
            <a:avLst/>
          </a:prstGeom>
          <a:solidFill>
            <a:srgbClr val="0070C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8617" name="Oval 10"/>
          <p:cNvSpPr>
            <a:spLocks noChangeArrowheads="1"/>
          </p:cNvSpPr>
          <p:nvPr/>
        </p:nvSpPr>
        <p:spPr bwMode="auto">
          <a:xfrm>
            <a:off x="3886200" y="32940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8618" name="AutoShape 11"/>
          <p:cNvCxnSpPr>
            <a:cxnSpLocks noChangeShapeType="1"/>
            <a:stCxn id="68611" idx="6"/>
            <a:endCxn id="68612"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8619" name="AutoShape 12"/>
          <p:cNvCxnSpPr>
            <a:cxnSpLocks noChangeShapeType="1"/>
            <a:stCxn id="68612" idx="6"/>
            <a:endCxn id="68613"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8620" name="AutoShape 13"/>
          <p:cNvCxnSpPr>
            <a:cxnSpLocks noChangeShapeType="1"/>
            <a:stCxn id="68613" idx="3"/>
            <a:endCxn id="68616"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8621" name="AutoShape 14"/>
          <p:cNvCxnSpPr>
            <a:cxnSpLocks noChangeShapeType="1"/>
            <a:stCxn id="68616" idx="2"/>
            <a:endCxn id="68617"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8622" name="AutoShape 15"/>
          <p:cNvCxnSpPr>
            <a:cxnSpLocks noChangeShapeType="1"/>
            <a:stCxn id="68617" idx="0"/>
            <a:endCxn id="68611"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8623" name="AutoShape 16"/>
          <p:cNvCxnSpPr>
            <a:cxnSpLocks noChangeShapeType="1"/>
            <a:stCxn id="68611" idx="5"/>
            <a:endCxn id="68616"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8624" name="AutoShape 17"/>
          <p:cNvCxnSpPr>
            <a:cxnSpLocks noChangeShapeType="1"/>
            <a:stCxn id="68616" idx="0"/>
            <a:endCxn id="68612"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8625" name="AutoShape 18"/>
          <p:cNvCxnSpPr>
            <a:cxnSpLocks noChangeShapeType="1"/>
            <a:stCxn id="68616" idx="6"/>
            <a:endCxn id="68614" idx="2"/>
          </p:cNvCxnSpPr>
          <p:nvPr/>
        </p:nvCxnSpPr>
        <p:spPr bwMode="auto">
          <a:xfrm>
            <a:off x="6034088" y="3522663"/>
            <a:ext cx="1190625" cy="0"/>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68626" name="AutoShape 19"/>
          <p:cNvCxnSpPr>
            <a:cxnSpLocks noChangeShapeType="1"/>
            <a:stCxn id="68614" idx="0"/>
            <a:endCxn id="68613"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8627" name="AutoShape 20"/>
          <p:cNvCxnSpPr>
            <a:cxnSpLocks noChangeShapeType="1"/>
            <a:stCxn id="68613" idx="5"/>
            <a:endCxn id="68615"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8628" name="AutoShape 21"/>
          <p:cNvCxnSpPr>
            <a:cxnSpLocks noChangeShapeType="1"/>
            <a:stCxn id="68614" idx="7"/>
            <a:endCxn id="68615"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8629"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8630"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8631"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8632"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8633"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8634" name="Text Box 27"/>
          <p:cNvSpPr txBox="1">
            <a:spLocks noChangeArrowheads="1"/>
          </p:cNvSpPr>
          <p:nvPr/>
        </p:nvSpPr>
        <p:spPr bwMode="auto">
          <a:xfrm>
            <a:off x="6492875" y="3186113"/>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8635"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8636"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8637"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8638"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8639"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8640"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69635"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36"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37"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38"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39"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40"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41" name="Oval 10"/>
          <p:cNvSpPr>
            <a:spLocks noChangeArrowheads="1"/>
          </p:cNvSpPr>
          <p:nvPr/>
        </p:nvSpPr>
        <p:spPr bwMode="auto">
          <a:xfrm>
            <a:off x="3886200" y="32940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69642" name="AutoShape 11"/>
          <p:cNvCxnSpPr>
            <a:cxnSpLocks noChangeShapeType="1"/>
            <a:stCxn id="69635" idx="6"/>
            <a:endCxn id="69636"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9643" name="AutoShape 12"/>
          <p:cNvCxnSpPr>
            <a:cxnSpLocks noChangeShapeType="1"/>
            <a:stCxn id="69636" idx="6"/>
            <a:endCxn id="69637"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9644" name="AutoShape 13"/>
          <p:cNvCxnSpPr>
            <a:cxnSpLocks noChangeShapeType="1"/>
            <a:stCxn id="69637" idx="3"/>
            <a:endCxn id="69640"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9645" name="AutoShape 14"/>
          <p:cNvCxnSpPr>
            <a:cxnSpLocks noChangeShapeType="1"/>
            <a:stCxn id="69640" idx="2"/>
            <a:endCxn id="69641"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9646" name="AutoShape 15"/>
          <p:cNvCxnSpPr>
            <a:cxnSpLocks noChangeShapeType="1"/>
            <a:stCxn id="69641" idx="0"/>
            <a:endCxn id="69635"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9647" name="AutoShape 16"/>
          <p:cNvCxnSpPr>
            <a:cxnSpLocks noChangeShapeType="1"/>
            <a:stCxn id="69635" idx="5"/>
            <a:endCxn id="69640" idx="1"/>
          </p:cNvCxnSpPr>
          <p:nvPr/>
        </p:nvCxnSpPr>
        <p:spPr bwMode="auto">
          <a:xfrm>
            <a:off x="42767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9648" name="AutoShape 17"/>
          <p:cNvCxnSpPr>
            <a:cxnSpLocks noChangeShapeType="1"/>
            <a:stCxn id="69640" idx="0"/>
            <a:endCxn id="69636"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9649" name="AutoShape 18"/>
          <p:cNvCxnSpPr>
            <a:cxnSpLocks noChangeShapeType="1"/>
            <a:stCxn id="69640" idx="6"/>
            <a:endCxn id="69638"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9650" name="AutoShape 19"/>
          <p:cNvCxnSpPr>
            <a:cxnSpLocks noChangeShapeType="1"/>
            <a:stCxn id="69638" idx="0"/>
            <a:endCxn id="69637"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69651" name="AutoShape 20"/>
          <p:cNvCxnSpPr>
            <a:cxnSpLocks noChangeShapeType="1"/>
            <a:stCxn id="69637" idx="5"/>
            <a:endCxn id="69639"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69652" name="AutoShape 21"/>
          <p:cNvCxnSpPr>
            <a:cxnSpLocks noChangeShapeType="1"/>
            <a:stCxn id="69638" idx="7"/>
            <a:endCxn id="69639"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69653"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69654"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69655"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69656"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69657"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69658"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69659"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69660"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69661"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69662"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69663"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69664"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69665"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69666"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70659" name="Oval 4"/>
          <p:cNvSpPr>
            <a:spLocks noChangeArrowheads="1"/>
          </p:cNvSpPr>
          <p:nvPr/>
        </p:nvSpPr>
        <p:spPr bwMode="auto">
          <a:xfrm>
            <a:off x="38862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60" name="Oval 5"/>
          <p:cNvSpPr>
            <a:spLocks noChangeArrowheads="1"/>
          </p:cNvSpPr>
          <p:nvPr/>
        </p:nvSpPr>
        <p:spPr bwMode="auto">
          <a:xfrm>
            <a:off x="5562600" y="18462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61"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62"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63"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64"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65" name="Oval 10"/>
          <p:cNvSpPr>
            <a:spLocks noChangeArrowheads="1"/>
          </p:cNvSpPr>
          <p:nvPr/>
        </p:nvSpPr>
        <p:spPr bwMode="auto">
          <a:xfrm>
            <a:off x="3886200" y="3294063"/>
            <a:ext cx="457200" cy="457200"/>
          </a:xfrm>
          <a:prstGeom prst="ellipse">
            <a:avLst/>
          </a:prstGeom>
          <a:solidFill>
            <a:srgbClr val="FFFF00"/>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0666" name="AutoShape 11"/>
          <p:cNvCxnSpPr>
            <a:cxnSpLocks noChangeShapeType="1"/>
            <a:stCxn id="70659" idx="6"/>
            <a:endCxn id="70660"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0667" name="AutoShape 12"/>
          <p:cNvCxnSpPr>
            <a:cxnSpLocks noChangeShapeType="1"/>
            <a:stCxn id="70660" idx="6"/>
            <a:endCxn id="70661"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0668" name="AutoShape 13"/>
          <p:cNvCxnSpPr>
            <a:cxnSpLocks noChangeShapeType="1"/>
            <a:stCxn id="70661" idx="3"/>
            <a:endCxn id="70664"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0669" name="AutoShape 14"/>
          <p:cNvCxnSpPr>
            <a:cxnSpLocks noChangeShapeType="1"/>
            <a:stCxn id="70664" idx="2"/>
            <a:endCxn id="70665"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0670" name="AutoShape 15"/>
          <p:cNvCxnSpPr>
            <a:cxnSpLocks noChangeShapeType="1"/>
            <a:stCxn id="70665" idx="0"/>
            <a:endCxn id="70659"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0671" name="AutoShape 16"/>
          <p:cNvCxnSpPr>
            <a:cxnSpLocks noChangeShapeType="1"/>
            <a:stCxn id="70659" idx="5"/>
            <a:endCxn id="70664" idx="1"/>
          </p:cNvCxnSpPr>
          <p:nvPr/>
        </p:nvCxnSpPr>
        <p:spPr bwMode="auto">
          <a:xfrm>
            <a:off x="4276725" y="2251075"/>
            <a:ext cx="1352550" cy="109537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70672" name="AutoShape 17"/>
          <p:cNvCxnSpPr>
            <a:cxnSpLocks noChangeShapeType="1"/>
            <a:stCxn id="70664" idx="0"/>
            <a:endCxn id="70660"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0673" name="AutoShape 18"/>
          <p:cNvCxnSpPr>
            <a:cxnSpLocks noChangeShapeType="1"/>
            <a:stCxn id="70664" idx="6"/>
            <a:endCxn id="70662"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0674" name="AutoShape 19"/>
          <p:cNvCxnSpPr>
            <a:cxnSpLocks noChangeShapeType="1"/>
            <a:stCxn id="70662" idx="0"/>
            <a:endCxn id="70661"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0675" name="AutoShape 20"/>
          <p:cNvCxnSpPr>
            <a:cxnSpLocks noChangeShapeType="1"/>
            <a:stCxn id="70661" idx="5"/>
            <a:endCxn id="70663"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0676" name="AutoShape 21"/>
          <p:cNvCxnSpPr>
            <a:cxnSpLocks noChangeShapeType="1"/>
            <a:stCxn id="70662" idx="7"/>
            <a:endCxn id="70663"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0677"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0678"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0679"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0680"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0681"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0682"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0683"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70684"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70685" name="Text Box 30"/>
          <p:cNvSpPr txBox="1">
            <a:spLocks noChangeArrowheads="1"/>
          </p:cNvSpPr>
          <p:nvPr/>
        </p:nvSpPr>
        <p:spPr bwMode="auto">
          <a:xfrm>
            <a:off x="4572000" y="2287588"/>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0686"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0687"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0688"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0689"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0690"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71683" name="Oval 4"/>
          <p:cNvSpPr>
            <a:spLocks noChangeArrowheads="1"/>
          </p:cNvSpPr>
          <p:nvPr/>
        </p:nvSpPr>
        <p:spPr bwMode="auto">
          <a:xfrm>
            <a:off x="38862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684" name="Oval 5"/>
          <p:cNvSpPr>
            <a:spLocks noChangeArrowheads="1"/>
          </p:cNvSpPr>
          <p:nvPr/>
        </p:nvSpPr>
        <p:spPr bwMode="auto">
          <a:xfrm>
            <a:off x="55626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685"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686"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687"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688"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689" name="Oval 10"/>
          <p:cNvSpPr>
            <a:spLocks noChangeArrowheads="1"/>
          </p:cNvSpPr>
          <p:nvPr/>
        </p:nvSpPr>
        <p:spPr bwMode="auto">
          <a:xfrm>
            <a:off x="38862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1690" name="AutoShape 11"/>
          <p:cNvCxnSpPr>
            <a:cxnSpLocks noChangeShapeType="1"/>
            <a:stCxn id="71683" idx="6"/>
            <a:endCxn id="71684"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1691" name="AutoShape 12"/>
          <p:cNvCxnSpPr>
            <a:cxnSpLocks noChangeShapeType="1"/>
            <a:stCxn id="71684" idx="6"/>
            <a:endCxn id="71685"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1692" name="AutoShape 13"/>
          <p:cNvCxnSpPr>
            <a:cxnSpLocks noChangeShapeType="1"/>
            <a:stCxn id="71685" idx="3"/>
            <a:endCxn id="71688"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1693" name="AutoShape 14"/>
          <p:cNvCxnSpPr>
            <a:cxnSpLocks noChangeShapeType="1"/>
            <a:stCxn id="71688" idx="2"/>
            <a:endCxn id="71689"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1694" name="AutoShape 15"/>
          <p:cNvCxnSpPr>
            <a:cxnSpLocks noChangeShapeType="1"/>
            <a:stCxn id="71689" idx="0"/>
            <a:endCxn id="71683"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1695" name="AutoShape 16"/>
          <p:cNvCxnSpPr>
            <a:cxnSpLocks noChangeShapeType="1"/>
            <a:stCxn id="71683" idx="5"/>
            <a:endCxn id="71688"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1696" name="AutoShape 17"/>
          <p:cNvCxnSpPr>
            <a:cxnSpLocks noChangeShapeType="1"/>
            <a:stCxn id="71688" idx="0"/>
            <a:endCxn id="71684"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1697" name="AutoShape 18"/>
          <p:cNvCxnSpPr>
            <a:cxnSpLocks noChangeShapeType="1"/>
            <a:stCxn id="71688" idx="6"/>
            <a:endCxn id="71686"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1698" name="AutoShape 19"/>
          <p:cNvCxnSpPr>
            <a:cxnSpLocks noChangeShapeType="1"/>
            <a:stCxn id="71686" idx="0"/>
            <a:endCxn id="71685"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1699" name="AutoShape 20"/>
          <p:cNvCxnSpPr>
            <a:cxnSpLocks noChangeShapeType="1"/>
            <a:stCxn id="71685" idx="5"/>
            <a:endCxn id="71687"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1700" name="AutoShape 21"/>
          <p:cNvCxnSpPr>
            <a:cxnSpLocks noChangeShapeType="1"/>
            <a:stCxn id="71686" idx="7"/>
            <a:endCxn id="71687"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1701"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1702"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1703"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1704"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1705"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1706"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1707"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71708"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71709"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1710"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1711"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1712"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1713"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1714"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72707" name="Oval 4"/>
          <p:cNvSpPr>
            <a:spLocks noChangeArrowheads="1"/>
          </p:cNvSpPr>
          <p:nvPr/>
        </p:nvSpPr>
        <p:spPr bwMode="auto">
          <a:xfrm>
            <a:off x="38862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08" name="Oval 5"/>
          <p:cNvSpPr>
            <a:spLocks noChangeArrowheads="1"/>
          </p:cNvSpPr>
          <p:nvPr/>
        </p:nvSpPr>
        <p:spPr bwMode="auto">
          <a:xfrm>
            <a:off x="55626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09"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10"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11"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12"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13" name="Oval 10"/>
          <p:cNvSpPr>
            <a:spLocks noChangeArrowheads="1"/>
          </p:cNvSpPr>
          <p:nvPr/>
        </p:nvSpPr>
        <p:spPr bwMode="auto">
          <a:xfrm>
            <a:off x="38862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2714" name="AutoShape 11"/>
          <p:cNvCxnSpPr>
            <a:cxnSpLocks noChangeShapeType="1"/>
            <a:stCxn id="72707" idx="6"/>
            <a:endCxn id="72708"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2715" name="AutoShape 12"/>
          <p:cNvCxnSpPr>
            <a:cxnSpLocks noChangeShapeType="1"/>
            <a:stCxn id="72708" idx="6"/>
            <a:endCxn id="72709"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2716" name="AutoShape 13"/>
          <p:cNvCxnSpPr>
            <a:cxnSpLocks noChangeShapeType="1"/>
            <a:stCxn id="72709" idx="3"/>
            <a:endCxn id="72712" idx="7"/>
          </p:cNvCxnSpPr>
          <p:nvPr/>
        </p:nvCxnSpPr>
        <p:spPr bwMode="auto">
          <a:xfrm flipH="1">
            <a:off x="5953125" y="2251075"/>
            <a:ext cx="1352550" cy="109537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72717" name="AutoShape 14"/>
          <p:cNvCxnSpPr>
            <a:cxnSpLocks noChangeShapeType="1"/>
            <a:stCxn id="72712" idx="2"/>
            <a:endCxn id="72713"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2718" name="AutoShape 15"/>
          <p:cNvCxnSpPr>
            <a:cxnSpLocks noChangeShapeType="1"/>
            <a:stCxn id="72713" idx="0"/>
            <a:endCxn id="72707"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2719" name="AutoShape 16"/>
          <p:cNvCxnSpPr>
            <a:cxnSpLocks noChangeShapeType="1"/>
            <a:stCxn id="72707" idx="5"/>
            <a:endCxn id="72712"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2720" name="AutoShape 17"/>
          <p:cNvCxnSpPr>
            <a:cxnSpLocks noChangeShapeType="1"/>
            <a:stCxn id="72712" idx="0"/>
            <a:endCxn id="72708"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2721" name="AutoShape 18"/>
          <p:cNvCxnSpPr>
            <a:cxnSpLocks noChangeShapeType="1"/>
            <a:stCxn id="72712" idx="6"/>
            <a:endCxn id="72710"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2722" name="AutoShape 19"/>
          <p:cNvCxnSpPr>
            <a:cxnSpLocks noChangeShapeType="1"/>
            <a:stCxn id="72710" idx="0"/>
            <a:endCxn id="72709"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2723" name="AutoShape 20"/>
          <p:cNvCxnSpPr>
            <a:cxnSpLocks noChangeShapeType="1"/>
            <a:stCxn id="72709" idx="5"/>
            <a:endCxn id="72711"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2724" name="AutoShape 21"/>
          <p:cNvCxnSpPr>
            <a:cxnSpLocks noChangeShapeType="1"/>
            <a:stCxn id="72710" idx="7"/>
            <a:endCxn id="72711"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2725"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2726"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2727"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2728"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2729"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2730"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2731" name="Text Box 28"/>
          <p:cNvSpPr txBox="1">
            <a:spLocks noChangeArrowheads="1"/>
          </p:cNvSpPr>
          <p:nvPr/>
        </p:nvSpPr>
        <p:spPr bwMode="auto">
          <a:xfrm>
            <a:off x="6369050" y="2287588"/>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r">
              <a:spcBef>
                <a:spcPct val="0"/>
              </a:spcBef>
              <a:buClrTx/>
              <a:buFontTx/>
              <a:buNone/>
            </a:pPr>
            <a:r>
              <a:rPr kumimoji="0" lang="en-US" altLang="en-US" sz="2000" b="1">
                <a:solidFill>
                  <a:srgbClr val="0033CC"/>
                </a:solidFill>
                <a:latin typeface="Courier New" pitchFamily="49" charset="0"/>
              </a:rPr>
              <a:t>17?</a:t>
            </a:r>
          </a:p>
        </p:txBody>
      </p:sp>
      <p:sp>
        <p:nvSpPr>
          <p:cNvPr id="72732"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72733"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2734"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2735"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2736"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2737"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2738"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73731" name="Oval 4"/>
          <p:cNvSpPr>
            <a:spLocks noChangeArrowheads="1"/>
          </p:cNvSpPr>
          <p:nvPr/>
        </p:nvSpPr>
        <p:spPr bwMode="auto">
          <a:xfrm>
            <a:off x="38862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32" name="Oval 5"/>
          <p:cNvSpPr>
            <a:spLocks noChangeArrowheads="1"/>
          </p:cNvSpPr>
          <p:nvPr/>
        </p:nvSpPr>
        <p:spPr bwMode="auto">
          <a:xfrm>
            <a:off x="55626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33"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34"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35"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36"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37" name="Oval 10"/>
          <p:cNvSpPr>
            <a:spLocks noChangeArrowheads="1"/>
          </p:cNvSpPr>
          <p:nvPr/>
        </p:nvSpPr>
        <p:spPr bwMode="auto">
          <a:xfrm>
            <a:off x="38862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3738" name="AutoShape 11"/>
          <p:cNvCxnSpPr>
            <a:cxnSpLocks noChangeShapeType="1"/>
            <a:stCxn id="73731" idx="6"/>
            <a:endCxn id="73732"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3739" name="AutoShape 12"/>
          <p:cNvCxnSpPr>
            <a:cxnSpLocks noChangeShapeType="1"/>
            <a:stCxn id="73732" idx="6"/>
            <a:endCxn id="73733" idx="2"/>
          </p:cNvCxnSpPr>
          <p:nvPr/>
        </p:nvCxnSpPr>
        <p:spPr bwMode="auto">
          <a:xfrm>
            <a:off x="6034088" y="2074863"/>
            <a:ext cx="1190625" cy="0"/>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73740" name="AutoShape 13"/>
          <p:cNvCxnSpPr>
            <a:cxnSpLocks noChangeShapeType="1"/>
            <a:stCxn id="73733" idx="3"/>
            <a:endCxn id="73736"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3741" name="AutoShape 14"/>
          <p:cNvCxnSpPr>
            <a:cxnSpLocks noChangeShapeType="1"/>
            <a:stCxn id="73736" idx="2"/>
            <a:endCxn id="73737"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3742" name="AutoShape 15"/>
          <p:cNvCxnSpPr>
            <a:cxnSpLocks noChangeShapeType="1"/>
            <a:stCxn id="73737" idx="0"/>
            <a:endCxn id="73731"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3743" name="AutoShape 16"/>
          <p:cNvCxnSpPr>
            <a:cxnSpLocks noChangeShapeType="1"/>
            <a:stCxn id="73731" idx="5"/>
            <a:endCxn id="73736"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3744" name="AutoShape 17"/>
          <p:cNvCxnSpPr>
            <a:cxnSpLocks noChangeShapeType="1"/>
            <a:stCxn id="73736" idx="0"/>
            <a:endCxn id="73732"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3745" name="AutoShape 18"/>
          <p:cNvCxnSpPr>
            <a:cxnSpLocks noChangeShapeType="1"/>
            <a:stCxn id="73736" idx="6"/>
            <a:endCxn id="73734"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3746" name="AutoShape 19"/>
          <p:cNvCxnSpPr>
            <a:cxnSpLocks noChangeShapeType="1"/>
            <a:stCxn id="73734" idx="0"/>
            <a:endCxn id="73733"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3747" name="AutoShape 20"/>
          <p:cNvCxnSpPr>
            <a:cxnSpLocks noChangeShapeType="1"/>
            <a:stCxn id="73733" idx="5"/>
            <a:endCxn id="73735"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3748" name="AutoShape 21"/>
          <p:cNvCxnSpPr>
            <a:cxnSpLocks noChangeShapeType="1"/>
            <a:stCxn id="73734" idx="7"/>
            <a:endCxn id="73735"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3749"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3750" name="Text Box 23"/>
          <p:cNvSpPr txBox="1">
            <a:spLocks noChangeArrowheads="1"/>
          </p:cNvSpPr>
          <p:nvPr/>
        </p:nvSpPr>
        <p:spPr bwMode="auto">
          <a:xfrm>
            <a:off x="6278563" y="1738313"/>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3751"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3752"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3753"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3754"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3755"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r">
              <a:spcBef>
                <a:spcPct val="0"/>
              </a:spcBef>
              <a:buClrTx/>
              <a:buFontTx/>
              <a:buNone/>
            </a:pPr>
            <a:r>
              <a:rPr kumimoji="0" lang="en-US" altLang="en-US" sz="2000" b="1">
                <a:solidFill>
                  <a:srgbClr val="0033CC"/>
                </a:solidFill>
                <a:latin typeface="Courier New" pitchFamily="49" charset="0"/>
              </a:rPr>
              <a:t>17</a:t>
            </a:r>
          </a:p>
        </p:txBody>
      </p:sp>
      <p:sp>
        <p:nvSpPr>
          <p:cNvPr id="73756"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73757"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3758"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3759"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3760"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3761"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3762"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74755" name="Oval 4"/>
          <p:cNvSpPr>
            <a:spLocks noChangeArrowheads="1"/>
          </p:cNvSpPr>
          <p:nvPr/>
        </p:nvSpPr>
        <p:spPr bwMode="auto">
          <a:xfrm>
            <a:off x="38862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56" name="Oval 5"/>
          <p:cNvSpPr>
            <a:spLocks noChangeArrowheads="1"/>
          </p:cNvSpPr>
          <p:nvPr/>
        </p:nvSpPr>
        <p:spPr bwMode="auto">
          <a:xfrm>
            <a:off x="55626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57"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58"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59"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60"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61" name="Oval 10"/>
          <p:cNvSpPr>
            <a:spLocks noChangeArrowheads="1"/>
          </p:cNvSpPr>
          <p:nvPr/>
        </p:nvSpPr>
        <p:spPr bwMode="auto">
          <a:xfrm>
            <a:off x="38862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4762" name="AutoShape 11"/>
          <p:cNvCxnSpPr>
            <a:cxnSpLocks noChangeShapeType="1"/>
            <a:stCxn id="74755" idx="6"/>
            <a:endCxn id="74756"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4763" name="AutoShape 12"/>
          <p:cNvCxnSpPr>
            <a:cxnSpLocks noChangeShapeType="1"/>
            <a:stCxn id="74756" idx="6"/>
            <a:endCxn id="74757"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4764" name="AutoShape 13"/>
          <p:cNvCxnSpPr>
            <a:cxnSpLocks noChangeShapeType="1"/>
            <a:stCxn id="74757" idx="3"/>
            <a:endCxn id="74760"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4765" name="AutoShape 14"/>
          <p:cNvCxnSpPr>
            <a:cxnSpLocks noChangeShapeType="1"/>
            <a:stCxn id="74760" idx="2"/>
            <a:endCxn id="74761" idx="6"/>
          </p:cNvCxnSpPr>
          <p:nvPr/>
        </p:nvCxnSpPr>
        <p:spPr bwMode="auto">
          <a:xfrm flipH="1">
            <a:off x="4357688" y="3522663"/>
            <a:ext cx="1190625" cy="0"/>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74766" name="AutoShape 15"/>
          <p:cNvCxnSpPr>
            <a:cxnSpLocks noChangeShapeType="1"/>
            <a:stCxn id="74761" idx="0"/>
            <a:endCxn id="74755"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4767" name="AutoShape 16"/>
          <p:cNvCxnSpPr>
            <a:cxnSpLocks noChangeShapeType="1"/>
            <a:stCxn id="74755" idx="5"/>
            <a:endCxn id="74760"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4768" name="AutoShape 17"/>
          <p:cNvCxnSpPr>
            <a:cxnSpLocks noChangeShapeType="1"/>
            <a:stCxn id="74760" idx="0"/>
            <a:endCxn id="74756"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4769" name="AutoShape 18"/>
          <p:cNvCxnSpPr>
            <a:cxnSpLocks noChangeShapeType="1"/>
            <a:stCxn id="74760" idx="6"/>
            <a:endCxn id="74758"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4770" name="AutoShape 19"/>
          <p:cNvCxnSpPr>
            <a:cxnSpLocks noChangeShapeType="1"/>
            <a:stCxn id="74758" idx="0"/>
            <a:endCxn id="74757"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4771" name="AutoShape 20"/>
          <p:cNvCxnSpPr>
            <a:cxnSpLocks noChangeShapeType="1"/>
            <a:stCxn id="74757" idx="5"/>
            <a:endCxn id="74759"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4772" name="AutoShape 21"/>
          <p:cNvCxnSpPr>
            <a:cxnSpLocks noChangeShapeType="1"/>
            <a:stCxn id="74758" idx="7"/>
            <a:endCxn id="74759"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4773"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4774"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4775"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4776"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4777"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4778"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4779"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r">
              <a:spcBef>
                <a:spcPct val="0"/>
              </a:spcBef>
              <a:buClrTx/>
              <a:buFontTx/>
              <a:buNone/>
            </a:pPr>
            <a:r>
              <a:rPr kumimoji="0" lang="en-US" altLang="en-US" sz="2000" b="1">
                <a:solidFill>
                  <a:srgbClr val="0033CC"/>
                </a:solidFill>
                <a:latin typeface="Courier New" pitchFamily="49" charset="0"/>
              </a:rPr>
              <a:t>17</a:t>
            </a:r>
          </a:p>
        </p:txBody>
      </p:sp>
      <p:sp>
        <p:nvSpPr>
          <p:cNvPr id="74780"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74781"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4782"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4783" name="Text Box 32"/>
          <p:cNvSpPr txBox="1">
            <a:spLocks noChangeArrowheads="1"/>
          </p:cNvSpPr>
          <p:nvPr/>
        </p:nvSpPr>
        <p:spPr bwMode="auto">
          <a:xfrm>
            <a:off x="4435475" y="3186113"/>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4784"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4785"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4786"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75779" name="Oval 4"/>
          <p:cNvSpPr>
            <a:spLocks noChangeArrowheads="1"/>
          </p:cNvSpPr>
          <p:nvPr/>
        </p:nvSpPr>
        <p:spPr bwMode="auto">
          <a:xfrm>
            <a:off x="38862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780" name="Oval 5"/>
          <p:cNvSpPr>
            <a:spLocks noChangeArrowheads="1"/>
          </p:cNvSpPr>
          <p:nvPr/>
        </p:nvSpPr>
        <p:spPr bwMode="auto">
          <a:xfrm>
            <a:off x="55626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781"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782"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783"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784"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785" name="Oval 10"/>
          <p:cNvSpPr>
            <a:spLocks noChangeArrowheads="1"/>
          </p:cNvSpPr>
          <p:nvPr/>
        </p:nvSpPr>
        <p:spPr bwMode="auto">
          <a:xfrm>
            <a:off x="38862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5786" name="AutoShape 11"/>
          <p:cNvCxnSpPr>
            <a:cxnSpLocks noChangeShapeType="1"/>
            <a:stCxn id="75779" idx="6"/>
            <a:endCxn id="75780"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5787" name="AutoShape 12"/>
          <p:cNvCxnSpPr>
            <a:cxnSpLocks noChangeShapeType="1"/>
            <a:stCxn id="75780" idx="6"/>
            <a:endCxn id="75781"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5788" name="AutoShape 13"/>
          <p:cNvCxnSpPr>
            <a:cxnSpLocks noChangeShapeType="1"/>
            <a:stCxn id="75781" idx="3"/>
            <a:endCxn id="75784"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5789" name="AutoShape 14"/>
          <p:cNvCxnSpPr>
            <a:cxnSpLocks noChangeShapeType="1"/>
            <a:stCxn id="75784" idx="2"/>
            <a:endCxn id="75785"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5790" name="AutoShape 15"/>
          <p:cNvCxnSpPr>
            <a:cxnSpLocks noChangeShapeType="1"/>
            <a:stCxn id="75785" idx="0"/>
            <a:endCxn id="75779"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5791" name="AutoShape 16"/>
          <p:cNvCxnSpPr>
            <a:cxnSpLocks noChangeShapeType="1"/>
            <a:stCxn id="75779" idx="5"/>
            <a:endCxn id="75784"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5792" name="AutoShape 17"/>
          <p:cNvCxnSpPr>
            <a:cxnSpLocks noChangeShapeType="1"/>
            <a:stCxn id="75784" idx="0"/>
            <a:endCxn id="75780" idx="4"/>
          </p:cNvCxnSpPr>
          <p:nvPr/>
        </p:nvCxnSpPr>
        <p:spPr bwMode="auto">
          <a:xfrm flipV="1">
            <a:off x="5791200" y="2317750"/>
            <a:ext cx="0" cy="962025"/>
          </a:xfrm>
          <a:prstGeom prst="straightConnector1">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75793" name="AutoShape 18"/>
          <p:cNvCxnSpPr>
            <a:cxnSpLocks noChangeShapeType="1"/>
            <a:stCxn id="75784" idx="6"/>
            <a:endCxn id="75782"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5794" name="AutoShape 19"/>
          <p:cNvCxnSpPr>
            <a:cxnSpLocks noChangeShapeType="1"/>
            <a:stCxn id="75782" idx="0"/>
            <a:endCxn id="75781"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5795" name="AutoShape 20"/>
          <p:cNvCxnSpPr>
            <a:cxnSpLocks noChangeShapeType="1"/>
            <a:stCxn id="75781" idx="5"/>
            <a:endCxn id="75783"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5796" name="AutoShape 21"/>
          <p:cNvCxnSpPr>
            <a:cxnSpLocks noChangeShapeType="1"/>
            <a:stCxn id="75782" idx="7"/>
            <a:endCxn id="75783"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5797"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5798"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5799"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5800"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5801"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5802"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5803"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r">
              <a:spcBef>
                <a:spcPct val="0"/>
              </a:spcBef>
              <a:buClrTx/>
              <a:buFontTx/>
              <a:buNone/>
            </a:pPr>
            <a:r>
              <a:rPr kumimoji="0" lang="en-US" altLang="en-US" sz="2000" b="1">
                <a:solidFill>
                  <a:srgbClr val="0033CC"/>
                </a:solidFill>
                <a:latin typeface="Courier New" pitchFamily="49" charset="0"/>
              </a:rPr>
              <a:t>17</a:t>
            </a:r>
          </a:p>
        </p:txBody>
      </p:sp>
      <p:sp>
        <p:nvSpPr>
          <p:cNvPr id="75804" name="Text Box 29"/>
          <p:cNvSpPr txBox="1">
            <a:spLocks noChangeArrowheads="1"/>
          </p:cNvSpPr>
          <p:nvPr/>
        </p:nvSpPr>
        <p:spPr bwMode="auto">
          <a:xfrm>
            <a:off x="5745163" y="2500313"/>
            <a:ext cx="641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25?</a:t>
            </a:r>
          </a:p>
        </p:txBody>
      </p:sp>
      <p:sp>
        <p:nvSpPr>
          <p:cNvPr id="75805"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5806"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5807"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5808"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5809"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5810"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04800" y="152400"/>
            <a:ext cx="8229600" cy="685800"/>
          </a:xfrm>
        </p:spPr>
        <p:txBody>
          <a:bodyPr/>
          <a:lstStyle/>
          <a:p>
            <a:r>
              <a:rPr lang="en-US" altLang="en-US" smtClean="0"/>
              <a:t>Kruskal’s Algorithm</a:t>
            </a:r>
          </a:p>
        </p:txBody>
      </p:sp>
      <p:sp>
        <p:nvSpPr>
          <p:cNvPr id="76803" name="Oval 4"/>
          <p:cNvSpPr>
            <a:spLocks noChangeArrowheads="1"/>
          </p:cNvSpPr>
          <p:nvPr/>
        </p:nvSpPr>
        <p:spPr bwMode="auto">
          <a:xfrm>
            <a:off x="38862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04" name="Oval 5"/>
          <p:cNvSpPr>
            <a:spLocks noChangeArrowheads="1"/>
          </p:cNvSpPr>
          <p:nvPr/>
        </p:nvSpPr>
        <p:spPr bwMode="auto">
          <a:xfrm>
            <a:off x="55626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05" name="Oval 6"/>
          <p:cNvSpPr>
            <a:spLocks noChangeArrowheads="1"/>
          </p:cNvSpPr>
          <p:nvPr/>
        </p:nvSpPr>
        <p:spPr bwMode="auto">
          <a:xfrm>
            <a:off x="7239000" y="1846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06" name="Oval 7"/>
          <p:cNvSpPr>
            <a:spLocks noChangeArrowheads="1"/>
          </p:cNvSpPr>
          <p:nvPr/>
        </p:nvSpPr>
        <p:spPr bwMode="auto">
          <a:xfrm>
            <a:off x="72390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07" name="Oval 8"/>
          <p:cNvSpPr>
            <a:spLocks noChangeArrowheads="1"/>
          </p:cNvSpPr>
          <p:nvPr/>
        </p:nvSpPr>
        <p:spPr bwMode="auto">
          <a:xfrm>
            <a:off x="8229600" y="26082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08" name="Oval 9"/>
          <p:cNvSpPr>
            <a:spLocks noChangeArrowheads="1"/>
          </p:cNvSpPr>
          <p:nvPr/>
        </p:nvSpPr>
        <p:spPr bwMode="auto">
          <a:xfrm>
            <a:off x="55626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09" name="Oval 10"/>
          <p:cNvSpPr>
            <a:spLocks noChangeArrowheads="1"/>
          </p:cNvSpPr>
          <p:nvPr/>
        </p:nvSpPr>
        <p:spPr bwMode="auto">
          <a:xfrm>
            <a:off x="3886200" y="3294063"/>
            <a:ext cx="457200" cy="457200"/>
          </a:xfrm>
          <a:prstGeom prst="ellipse">
            <a:avLst/>
          </a:prstGeom>
          <a:solidFill>
            <a:schemeClr val="accent1"/>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6810" name="AutoShape 11"/>
          <p:cNvCxnSpPr>
            <a:cxnSpLocks noChangeShapeType="1"/>
            <a:stCxn id="76803" idx="6"/>
            <a:endCxn id="76804"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6811" name="AutoShape 12"/>
          <p:cNvCxnSpPr>
            <a:cxnSpLocks noChangeShapeType="1"/>
            <a:stCxn id="76804" idx="6"/>
            <a:endCxn id="76805"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6812" name="AutoShape 13"/>
          <p:cNvCxnSpPr>
            <a:cxnSpLocks noChangeShapeType="1"/>
            <a:stCxn id="76805" idx="3"/>
            <a:endCxn id="76808"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6813" name="AutoShape 14"/>
          <p:cNvCxnSpPr>
            <a:cxnSpLocks noChangeShapeType="1"/>
            <a:stCxn id="76808" idx="2"/>
            <a:endCxn id="76809"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6814" name="AutoShape 15"/>
          <p:cNvCxnSpPr>
            <a:cxnSpLocks noChangeShapeType="1"/>
            <a:stCxn id="76809" idx="0"/>
            <a:endCxn id="76803"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6815" name="AutoShape 16"/>
          <p:cNvCxnSpPr>
            <a:cxnSpLocks noChangeShapeType="1"/>
            <a:stCxn id="76803" idx="5"/>
            <a:endCxn id="76808"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6816" name="AutoShape 17"/>
          <p:cNvCxnSpPr>
            <a:cxnSpLocks noChangeShapeType="1"/>
            <a:stCxn id="76808" idx="0"/>
            <a:endCxn id="76804"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6817" name="AutoShape 18"/>
          <p:cNvCxnSpPr>
            <a:cxnSpLocks noChangeShapeType="1"/>
            <a:stCxn id="76808" idx="6"/>
            <a:endCxn id="76806"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6818" name="AutoShape 19"/>
          <p:cNvCxnSpPr>
            <a:cxnSpLocks noChangeShapeType="1"/>
            <a:stCxn id="76806" idx="0"/>
            <a:endCxn id="76805"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6819" name="AutoShape 20"/>
          <p:cNvCxnSpPr>
            <a:cxnSpLocks noChangeShapeType="1"/>
            <a:stCxn id="76805" idx="5"/>
            <a:endCxn id="76807"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6820" name="AutoShape 21"/>
          <p:cNvCxnSpPr>
            <a:cxnSpLocks noChangeShapeType="1"/>
            <a:stCxn id="76806" idx="7"/>
            <a:endCxn id="76807"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6821"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6822"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6823"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6824"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6825"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5</a:t>
            </a:r>
          </a:p>
        </p:txBody>
      </p:sp>
      <p:sp>
        <p:nvSpPr>
          <p:cNvPr id="76826"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6827"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r">
              <a:spcBef>
                <a:spcPct val="0"/>
              </a:spcBef>
              <a:buClrTx/>
              <a:buFontTx/>
              <a:buNone/>
            </a:pPr>
            <a:r>
              <a:rPr kumimoji="0" lang="en-US" altLang="en-US" sz="2000" b="1">
                <a:solidFill>
                  <a:srgbClr val="0033CC"/>
                </a:solidFill>
                <a:latin typeface="Courier New" pitchFamily="49" charset="0"/>
              </a:rPr>
              <a:t>17</a:t>
            </a:r>
          </a:p>
        </p:txBody>
      </p:sp>
      <p:sp>
        <p:nvSpPr>
          <p:cNvPr id="76828"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25</a:t>
            </a:r>
          </a:p>
        </p:txBody>
      </p:sp>
      <p:sp>
        <p:nvSpPr>
          <p:cNvPr id="76829"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2000" b="1">
                <a:solidFill>
                  <a:srgbClr val="0033CC"/>
                </a:solidFill>
                <a:latin typeface="Courier New" pitchFamily="49" charset="0"/>
              </a:rPr>
              <a:t>14</a:t>
            </a:r>
          </a:p>
        </p:txBody>
      </p:sp>
      <p:sp>
        <p:nvSpPr>
          <p:cNvPr id="76830"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6831"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6832"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6833" name="AutoShape 34"/>
          <p:cNvSpPr>
            <a:spLocks/>
          </p:cNvSpPr>
          <p:nvPr/>
        </p:nvSpPr>
        <p:spPr bwMode="auto">
          <a:xfrm>
            <a:off x="762000" y="4572000"/>
            <a:ext cx="152400" cy="1676400"/>
          </a:xfrm>
          <a:prstGeom prst="leftBrace">
            <a:avLst>
              <a:gd name="adj1" fmla="val 9166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6834"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smtClean="0"/>
              <a:t> Algorithm</a:t>
            </a:r>
          </a:p>
        </p:txBody>
      </p:sp>
      <p:sp>
        <p:nvSpPr>
          <p:cNvPr id="77827" name="Oval 4"/>
          <p:cNvSpPr>
            <a:spLocks noChangeArrowheads="1"/>
          </p:cNvSpPr>
          <p:nvPr/>
        </p:nvSpPr>
        <p:spPr bwMode="auto">
          <a:xfrm>
            <a:off x="3886200" y="1846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7828" name="Oval 5"/>
          <p:cNvSpPr>
            <a:spLocks noChangeArrowheads="1"/>
          </p:cNvSpPr>
          <p:nvPr/>
        </p:nvSpPr>
        <p:spPr bwMode="auto">
          <a:xfrm>
            <a:off x="5562600" y="1846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7829" name="Oval 6"/>
          <p:cNvSpPr>
            <a:spLocks noChangeArrowheads="1"/>
          </p:cNvSpPr>
          <p:nvPr/>
        </p:nvSpPr>
        <p:spPr bwMode="auto">
          <a:xfrm>
            <a:off x="7239000" y="1846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7830" name="Oval 7"/>
          <p:cNvSpPr>
            <a:spLocks noChangeArrowheads="1"/>
          </p:cNvSpPr>
          <p:nvPr/>
        </p:nvSpPr>
        <p:spPr bwMode="auto">
          <a:xfrm>
            <a:off x="7239000" y="32940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7831" name="Oval 8"/>
          <p:cNvSpPr>
            <a:spLocks noChangeArrowheads="1"/>
          </p:cNvSpPr>
          <p:nvPr/>
        </p:nvSpPr>
        <p:spPr bwMode="auto">
          <a:xfrm>
            <a:off x="8229600" y="26082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7832" name="Oval 9"/>
          <p:cNvSpPr>
            <a:spLocks noChangeArrowheads="1"/>
          </p:cNvSpPr>
          <p:nvPr/>
        </p:nvSpPr>
        <p:spPr bwMode="auto">
          <a:xfrm>
            <a:off x="5562600" y="32940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77833" name="Oval 10"/>
          <p:cNvSpPr>
            <a:spLocks noChangeArrowheads="1"/>
          </p:cNvSpPr>
          <p:nvPr/>
        </p:nvSpPr>
        <p:spPr bwMode="auto">
          <a:xfrm>
            <a:off x="3886200" y="3294063"/>
            <a:ext cx="457200" cy="457200"/>
          </a:xfrm>
          <a:prstGeom prst="ellipse">
            <a:avLst/>
          </a:prstGeom>
          <a:solidFill>
            <a:srgbClr val="FFFFFF"/>
          </a:solidFill>
          <a:ln w="28575">
            <a:solidFill>
              <a:schemeClr val="accent1"/>
            </a:solidFill>
            <a:round/>
            <a:headEnd/>
            <a:tailEnd/>
          </a:ln>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77834" name="AutoShape 11"/>
          <p:cNvCxnSpPr>
            <a:cxnSpLocks noChangeShapeType="1"/>
            <a:stCxn id="77827" idx="6"/>
            <a:endCxn id="77828" idx="2"/>
          </p:cNvCxnSpPr>
          <p:nvPr/>
        </p:nvCxnSpPr>
        <p:spPr bwMode="auto">
          <a:xfrm>
            <a:off x="4357688" y="20748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7835" name="AutoShape 12"/>
          <p:cNvCxnSpPr>
            <a:cxnSpLocks noChangeShapeType="1"/>
            <a:stCxn id="77828" idx="6"/>
            <a:endCxn id="77829" idx="2"/>
          </p:cNvCxnSpPr>
          <p:nvPr/>
        </p:nvCxnSpPr>
        <p:spPr bwMode="auto">
          <a:xfrm>
            <a:off x="6034088" y="20748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7836" name="AutoShape 13"/>
          <p:cNvCxnSpPr>
            <a:cxnSpLocks noChangeShapeType="1"/>
            <a:stCxn id="77829" idx="3"/>
            <a:endCxn id="77832" idx="7"/>
          </p:cNvCxnSpPr>
          <p:nvPr/>
        </p:nvCxnSpPr>
        <p:spPr bwMode="auto">
          <a:xfrm flipH="1">
            <a:off x="5953125" y="2251075"/>
            <a:ext cx="1352550" cy="10953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7837" name="AutoShape 14"/>
          <p:cNvCxnSpPr>
            <a:cxnSpLocks noChangeShapeType="1"/>
            <a:stCxn id="77832" idx="2"/>
            <a:endCxn id="77833" idx="6"/>
          </p:cNvCxnSpPr>
          <p:nvPr/>
        </p:nvCxnSpPr>
        <p:spPr bwMode="auto">
          <a:xfrm flipH="1">
            <a:off x="4357688" y="3522663"/>
            <a:ext cx="1190625" cy="0"/>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7838" name="AutoShape 15"/>
          <p:cNvCxnSpPr>
            <a:cxnSpLocks noChangeShapeType="1"/>
            <a:stCxn id="77833" idx="0"/>
            <a:endCxn id="77827" idx="4"/>
          </p:cNvCxnSpPr>
          <p:nvPr/>
        </p:nvCxnSpPr>
        <p:spPr bwMode="auto">
          <a:xfrm flipV="1">
            <a:off x="41148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7839" name="AutoShape 16"/>
          <p:cNvCxnSpPr>
            <a:cxnSpLocks noChangeShapeType="1"/>
            <a:stCxn id="77827" idx="5"/>
            <a:endCxn id="77832" idx="1"/>
          </p:cNvCxnSpPr>
          <p:nvPr/>
        </p:nvCxnSpPr>
        <p:spPr bwMode="auto">
          <a:xfrm>
            <a:off x="4276725" y="2251075"/>
            <a:ext cx="1352550" cy="1095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7840" name="AutoShape 17"/>
          <p:cNvCxnSpPr>
            <a:cxnSpLocks noChangeShapeType="1"/>
            <a:stCxn id="77832" idx="0"/>
            <a:endCxn id="77828" idx="4"/>
          </p:cNvCxnSpPr>
          <p:nvPr/>
        </p:nvCxnSpPr>
        <p:spPr bwMode="auto">
          <a:xfrm flipV="1">
            <a:off x="5791200" y="2317750"/>
            <a:ext cx="0" cy="96202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7841" name="AutoShape 18"/>
          <p:cNvCxnSpPr>
            <a:cxnSpLocks noChangeShapeType="1"/>
            <a:stCxn id="77832" idx="6"/>
            <a:endCxn id="77830" idx="2"/>
          </p:cNvCxnSpPr>
          <p:nvPr/>
        </p:nvCxnSpPr>
        <p:spPr bwMode="auto">
          <a:xfrm>
            <a:off x="6034088" y="3522663"/>
            <a:ext cx="1190625" cy="0"/>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7842" name="AutoShape 19"/>
          <p:cNvCxnSpPr>
            <a:cxnSpLocks noChangeShapeType="1"/>
            <a:stCxn id="77830" idx="0"/>
            <a:endCxn id="77829" idx="4"/>
          </p:cNvCxnSpPr>
          <p:nvPr/>
        </p:nvCxnSpPr>
        <p:spPr bwMode="auto">
          <a:xfrm flipV="1">
            <a:off x="7467600" y="2317750"/>
            <a:ext cx="0" cy="96202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cxnSp>
        <p:nvCxnSpPr>
          <p:cNvPr id="77843" name="AutoShape 20"/>
          <p:cNvCxnSpPr>
            <a:cxnSpLocks noChangeShapeType="1"/>
            <a:stCxn id="77829" idx="5"/>
            <a:endCxn id="77831" idx="1"/>
          </p:cNvCxnSpPr>
          <p:nvPr/>
        </p:nvCxnSpPr>
        <p:spPr bwMode="auto">
          <a:xfrm>
            <a:off x="7629525" y="2251075"/>
            <a:ext cx="666750" cy="409575"/>
          </a:xfrm>
          <a:prstGeom prst="straightConnector1">
            <a:avLst/>
          </a:prstGeom>
          <a:noFill/>
          <a:ln w="28575">
            <a:solidFill>
              <a:schemeClr val="accent1"/>
            </a:solidFill>
            <a:round/>
            <a:headEnd/>
            <a:tailEnd/>
          </a:ln>
          <a:extLst>
            <a:ext uri="{909E8E84-426E-40DD-AFC4-6F175D3DCCD1}">
              <a14:hiddenFill xmlns:a14="http://schemas.microsoft.com/office/drawing/2010/main">
                <a:noFill/>
              </a14:hiddenFill>
            </a:ext>
          </a:extLst>
        </p:spPr>
      </p:cxnSp>
      <p:cxnSp>
        <p:nvCxnSpPr>
          <p:cNvPr id="77844" name="AutoShape 21"/>
          <p:cNvCxnSpPr>
            <a:cxnSpLocks noChangeShapeType="1"/>
            <a:stCxn id="77830" idx="7"/>
            <a:endCxn id="77831" idx="3"/>
          </p:cNvCxnSpPr>
          <p:nvPr/>
        </p:nvCxnSpPr>
        <p:spPr bwMode="auto">
          <a:xfrm flipV="1">
            <a:off x="7629525" y="3013075"/>
            <a:ext cx="666750" cy="333375"/>
          </a:xfrm>
          <a:prstGeom prst="straightConnector1">
            <a:avLst/>
          </a:prstGeom>
          <a:noFill/>
          <a:ln w="76200">
            <a:solidFill>
              <a:schemeClr val="tx2"/>
            </a:solidFill>
            <a:round/>
            <a:headEnd/>
            <a:tailEnd/>
          </a:ln>
          <a:extLst>
            <a:ext uri="{909E8E84-426E-40DD-AFC4-6F175D3DCCD1}">
              <a14:hiddenFill xmlns:a14="http://schemas.microsoft.com/office/drawing/2010/main">
                <a:noFill/>
              </a14:hiddenFill>
            </a:ext>
          </a:extLst>
        </p:spPr>
      </p:cxnSp>
      <p:sp>
        <p:nvSpPr>
          <p:cNvPr id="77845" name="Text Box 22"/>
          <p:cNvSpPr txBox="1">
            <a:spLocks noChangeArrowheads="1"/>
          </p:cNvSpPr>
          <p:nvPr/>
        </p:nvSpPr>
        <p:spPr bwMode="auto">
          <a:xfrm>
            <a:off x="4738688" y="17287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a:t>
            </a:r>
          </a:p>
        </p:txBody>
      </p:sp>
      <p:sp>
        <p:nvSpPr>
          <p:cNvPr id="77846" name="Text Box 23"/>
          <p:cNvSpPr txBox="1">
            <a:spLocks noChangeArrowheads="1"/>
          </p:cNvSpPr>
          <p:nvPr/>
        </p:nvSpPr>
        <p:spPr bwMode="auto">
          <a:xfrm>
            <a:off x="6354763" y="1738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19</a:t>
            </a:r>
          </a:p>
        </p:txBody>
      </p:sp>
      <p:sp>
        <p:nvSpPr>
          <p:cNvPr id="77847" name="Text Box 24"/>
          <p:cNvSpPr txBox="1">
            <a:spLocks noChangeArrowheads="1"/>
          </p:cNvSpPr>
          <p:nvPr/>
        </p:nvSpPr>
        <p:spPr bwMode="auto">
          <a:xfrm>
            <a:off x="7937500" y="2119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9</a:t>
            </a:r>
          </a:p>
        </p:txBody>
      </p:sp>
      <p:sp>
        <p:nvSpPr>
          <p:cNvPr id="77848" name="Text Box 25"/>
          <p:cNvSpPr txBox="1">
            <a:spLocks noChangeArrowheads="1"/>
          </p:cNvSpPr>
          <p:nvPr/>
        </p:nvSpPr>
        <p:spPr bwMode="auto">
          <a:xfrm>
            <a:off x="7939088" y="31861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a:t>
            </a:r>
          </a:p>
        </p:txBody>
      </p:sp>
      <p:sp>
        <p:nvSpPr>
          <p:cNvPr id="77849" name="Text Box 26"/>
          <p:cNvSpPr txBox="1">
            <a:spLocks noChangeArrowheads="1"/>
          </p:cNvSpPr>
          <p:nvPr/>
        </p:nvSpPr>
        <p:spPr bwMode="auto">
          <a:xfrm>
            <a:off x="7443788" y="269398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5</a:t>
            </a:r>
          </a:p>
        </p:txBody>
      </p:sp>
      <p:sp>
        <p:nvSpPr>
          <p:cNvPr id="77850" name="Text Box 27"/>
          <p:cNvSpPr txBox="1">
            <a:spLocks noChangeArrowheads="1"/>
          </p:cNvSpPr>
          <p:nvPr/>
        </p:nvSpPr>
        <p:spPr bwMode="auto">
          <a:xfrm>
            <a:off x="65690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13</a:t>
            </a:r>
          </a:p>
        </p:txBody>
      </p:sp>
      <p:sp>
        <p:nvSpPr>
          <p:cNvPr id="77851" name="Text Box 28"/>
          <p:cNvSpPr txBox="1">
            <a:spLocks noChangeArrowheads="1"/>
          </p:cNvSpPr>
          <p:nvPr/>
        </p:nvSpPr>
        <p:spPr bwMode="auto">
          <a:xfrm>
            <a:off x="652145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17</a:t>
            </a:r>
          </a:p>
        </p:txBody>
      </p:sp>
      <p:sp>
        <p:nvSpPr>
          <p:cNvPr id="77852" name="Text Box 29"/>
          <p:cNvSpPr txBox="1">
            <a:spLocks noChangeArrowheads="1"/>
          </p:cNvSpPr>
          <p:nvPr/>
        </p:nvSpPr>
        <p:spPr bwMode="auto">
          <a:xfrm>
            <a:off x="5745163" y="25003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25</a:t>
            </a:r>
          </a:p>
        </p:txBody>
      </p:sp>
      <p:sp>
        <p:nvSpPr>
          <p:cNvPr id="77853" name="Text Box 30"/>
          <p:cNvSpPr txBox="1">
            <a:spLocks noChangeArrowheads="1"/>
          </p:cNvSpPr>
          <p:nvPr/>
        </p:nvSpPr>
        <p:spPr bwMode="auto">
          <a:xfrm>
            <a:off x="4572000" y="2287588"/>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14</a:t>
            </a:r>
          </a:p>
        </p:txBody>
      </p:sp>
      <p:sp>
        <p:nvSpPr>
          <p:cNvPr id="77854" name="Text Box 31"/>
          <p:cNvSpPr txBox="1">
            <a:spLocks noChangeArrowheads="1"/>
          </p:cNvSpPr>
          <p:nvPr/>
        </p:nvSpPr>
        <p:spPr bwMode="auto">
          <a:xfrm>
            <a:off x="3746500" y="25003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8</a:t>
            </a:r>
          </a:p>
        </p:txBody>
      </p:sp>
      <p:sp>
        <p:nvSpPr>
          <p:cNvPr id="77855" name="Text Box 32"/>
          <p:cNvSpPr txBox="1">
            <a:spLocks noChangeArrowheads="1"/>
          </p:cNvSpPr>
          <p:nvPr/>
        </p:nvSpPr>
        <p:spPr bwMode="auto">
          <a:xfrm>
            <a:off x="4511675" y="3186113"/>
            <a:ext cx="488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21</a:t>
            </a:r>
          </a:p>
        </p:txBody>
      </p:sp>
      <p:sp>
        <p:nvSpPr>
          <p:cNvPr id="77856" name="Text Box 33"/>
          <p:cNvSpPr txBox="1">
            <a:spLocks noChangeArrowheads="1"/>
          </p:cNvSpPr>
          <p:nvPr/>
        </p:nvSpPr>
        <p:spPr bwMode="auto">
          <a:xfrm>
            <a:off x="4222750" y="1389063"/>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400" b="1" i="1">
                <a:solidFill>
                  <a:srgbClr val="CC0000"/>
                </a:solidFill>
                <a:latin typeface="Courier New" pitchFamily="49" charset="0"/>
              </a:rPr>
              <a:t>Run the algorithm:</a:t>
            </a:r>
          </a:p>
        </p:txBody>
      </p:sp>
      <p:sp>
        <p:nvSpPr>
          <p:cNvPr id="77857" name="Rectangle 3"/>
          <p:cNvSpPr>
            <a:spLocks noGrp="1" noChangeArrowheads="1"/>
          </p:cNvSpPr>
          <p:nvPr>
            <p:ph idx="1"/>
          </p:nvPr>
        </p:nvSpPr>
        <p:spPr>
          <a:xfrm>
            <a:off x="381000" y="1828800"/>
            <a:ext cx="8255000" cy="4876800"/>
          </a:xfrm>
        </p:spPr>
        <p:txBody>
          <a:bodyPr/>
          <a:lstStyle/>
          <a:p>
            <a:pPr>
              <a:buFont typeface="Times New Roman" pitchFamily="18" charset="0"/>
              <a:buNone/>
            </a:pPr>
            <a:r>
              <a:rPr lang="en-US" altLang="en-US" sz="2400" b="1" smtClean="0">
                <a:latin typeface="Courier New" pitchFamily="49" charset="0"/>
              </a:rPr>
              <a:t>Kruskal()</a:t>
            </a:r>
          </a:p>
          <a:p>
            <a:pPr>
              <a:buFont typeface="Times New Roman" pitchFamily="18" charset="0"/>
              <a:buNone/>
            </a:pPr>
            <a:r>
              <a:rPr lang="en-US" altLang="en-US" sz="2400" b="1" smtClean="0">
                <a:latin typeface="Courier New" pitchFamily="49" charset="0"/>
              </a:rPr>
              <a:t> </a:t>
            </a:r>
          </a:p>
          <a:p>
            <a:pPr>
              <a:buFont typeface="Times New Roman" pitchFamily="18" charset="0"/>
              <a:buNone/>
            </a:pPr>
            <a:r>
              <a:rPr lang="en-US" altLang="en-US" sz="2400" b="1" smtClean="0">
                <a:latin typeface="Courier New" pitchFamily="49" charset="0"/>
              </a:rPr>
              <a:t>   T = </a:t>
            </a:r>
            <a:r>
              <a:rPr lang="en-US" altLang="en-US" sz="2400" b="1" smtClean="0">
                <a:latin typeface="Courier New" pitchFamily="49" charset="0"/>
                <a:sym typeface="Symbol" pitchFamily="18" charset="2"/>
              </a:rPr>
              <a:t></a:t>
            </a:r>
            <a:r>
              <a:rPr lang="en-US" altLang="en-US" sz="2400" b="1" smtClean="0">
                <a:latin typeface="Courier New" pitchFamily="49" charset="0"/>
              </a:rPr>
              <a:t>;</a:t>
            </a:r>
          </a:p>
          <a:p>
            <a:pPr>
              <a:buFont typeface="Times New Roman" pitchFamily="18" charset="0"/>
              <a:buNone/>
            </a:pPr>
            <a:r>
              <a:rPr lang="en-US" altLang="en-US" sz="2400" b="1" smtClean="0">
                <a:latin typeface="Courier New" pitchFamily="49" charset="0"/>
              </a:rPr>
              <a:t>   for each v </a:t>
            </a:r>
            <a:r>
              <a:rPr lang="en-US" altLang="en-US" sz="2400" smtClean="0">
                <a:sym typeface="Symbol" pitchFamily="18" charset="2"/>
              </a:rPr>
              <a:t></a:t>
            </a:r>
            <a:r>
              <a:rPr lang="en-US" altLang="en-US" sz="2400" b="1" smtClean="0">
                <a:latin typeface="Courier New" pitchFamily="49" charset="0"/>
              </a:rPr>
              <a:t> V</a:t>
            </a:r>
          </a:p>
          <a:p>
            <a:pPr>
              <a:buFont typeface="Times New Roman" pitchFamily="18" charset="0"/>
              <a:buNone/>
            </a:pPr>
            <a:r>
              <a:rPr lang="en-US" altLang="en-US" sz="2400" b="1" smtClean="0">
                <a:latin typeface="Courier New" pitchFamily="49" charset="0"/>
              </a:rPr>
              <a:t>      MakeSet(v);</a:t>
            </a:r>
          </a:p>
          <a:p>
            <a:pPr>
              <a:buFont typeface="Times New Roman" pitchFamily="18" charset="0"/>
              <a:buNone/>
            </a:pPr>
            <a:r>
              <a:rPr lang="en-US" altLang="en-US" sz="2400" b="1" smtClean="0">
                <a:latin typeface="Courier New" pitchFamily="49" charset="0"/>
              </a:rPr>
              <a:t>   sort E by increasing edge weight w</a:t>
            </a:r>
          </a:p>
          <a:p>
            <a:pPr>
              <a:buFont typeface="Times New Roman" pitchFamily="18" charset="0"/>
              <a:buNone/>
            </a:pPr>
            <a:r>
              <a:rPr lang="en-US" altLang="en-US" sz="2400" b="1" smtClean="0">
                <a:latin typeface="Courier New" pitchFamily="49" charset="0"/>
              </a:rPr>
              <a:t>   for each (u,v) </a:t>
            </a:r>
            <a:r>
              <a:rPr lang="en-US" altLang="en-US" sz="2400" b="1" smtClean="0">
                <a:latin typeface="Courier New" pitchFamily="49" charset="0"/>
                <a:sym typeface="Symbol" pitchFamily="18" charset="2"/>
              </a:rPr>
              <a:t></a:t>
            </a:r>
            <a:r>
              <a:rPr lang="en-US" altLang="en-US" sz="2400" b="1" smtClean="0">
                <a:latin typeface="Courier New" pitchFamily="49" charset="0"/>
              </a:rPr>
              <a:t> E (in sorted order)</a:t>
            </a:r>
          </a:p>
          <a:p>
            <a:pPr>
              <a:buFont typeface="Times New Roman" pitchFamily="18" charset="0"/>
              <a:buNone/>
            </a:pPr>
            <a:r>
              <a:rPr lang="en-US" altLang="en-US" sz="2400" b="1" smtClean="0">
                <a:latin typeface="Courier New" pitchFamily="49" charset="0"/>
              </a:rPr>
              <a:t>      if FindSet(u) </a:t>
            </a:r>
            <a:r>
              <a:rPr lang="en-US" altLang="en-US" sz="2400" b="1" smtClean="0">
                <a:latin typeface="Courier New" pitchFamily="49" charset="0"/>
                <a:sym typeface="Symbol" pitchFamily="18" charset="2"/>
              </a:rPr>
              <a:t> FindSet(v)</a:t>
            </a:r>
          </a:p>
          <a:p>
            <a:pPr>
              <a:buFont typeface="Times New Roman" pitchFamily="18" charset="0"/>
              <a:buNone/>
            </a:pPr>
            <a:r>
              <a:rPr lang="en-US" altLang="en-US" sz="2400" b="1" smtClean="0">
                <a:latin typeface="Courier New" pitchFamily="49" charset="0"/>
                <a:sym typeface="Symbol" pitchFamily="18" charset="2"/>
              </a:rPr>
              <a:t>         T = T </a:t>
            </a:r>
            <a:r>
              <a:rPr lang="en-US" altLang="en-US" sz="2400" b="1" smtClean="0">
                <a:latin typeface="Microsoft Sans Serif" pitchFamily="34" charset="0"/>
                <a:sym typeface="Math B" pitchFamily="2" charset="2"/>
              </a:rPr>
              <a:t>U</a:t>
            </a:r>
            <a:r>
              <a:rPr lang="en-US" altLang="en-US" sz="2400" b="1" smtClean="0">
                <a:latin typeface="Courier New" pitchFamily="49" charset="0"/>
                <a:sym typeface="Math B" pitchFamily="2" charset="2"/>
              </a:rPr>
              <a:t> {{u,v}};</a:t>
            </a:r>
          </a:p>
          <a:p>
            <a:pPr>
              <a:buFont typeface="Times New Roman" pitchFamily="18" charset="0"/>
              <a:buNone/>
            </a:pPr>
            <a:r>
              <a:rPr lang="en-US" altLang="en-US" sz="2400" b="1" smtClean="0">
                <a:latin typeface="Courier New" pitchFamily="49" charset="0"/>
                <a:sym typeface="Math B" pitchFamily="2" charset="2"/>
              </a:rPr>
              <a:t>         Union(u, v);</a:t>
            </a:r>
          </a:p>
          <a:p>
            <a:pPr>
              <a:buFont typeface="Times New Roman" pitchFamily="18" charset="0"/>
              <a:buNone/>
            </a:pPr>
            <a:r>
              <a:rPr lang="en-US" altLang="en-US" sz="2400" b="1" smtClean="0">
                <a:latin typeface="Courier New" pitchFamily="49" charset="0"/>
                <a:sym typeface="Math B" pitchFamily="2" charset="2"/>
              </a:rPr>
              <a:t>Return T</a:t>
            </a:r>
          </a:p>
          <a:p>
            <a:pPr>
              <a:buFont typeface="Times New Roman" pitchFamily="18" charset="0"/>
              <a:buNone/>
            </a:pPr>
            <a:endParaRPr lang="en-US" altLang="en-US" sz="2400" b="1" smtClean="0">
              <a:latin typeface="Courier New" pitchFamily="49" charset="0"/>
              <a:sym typeface="Math B" pitchFamily="2" charset="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304800" y="152400"/>
            <a:ext cx="8229600" cy="685800"/>
          </a:xfrm>
        </p:spPr>
        <p:txBody>
          <a:bodyPr/>
          <a:lstStyle/>
          <a:p>
            <a:r>
              <a:rPr lang="en-US" altLang="en-US" dirty="0" err="1"/>
              <a:t>Kruskal’s</a:t>
            </a:r>
            <a:r>
              <a:rPr lang="en-US" altLang="en-US" dirty="0"/>
              <a:t> </a:t>
            </a:r>
            <a:r>
              <a:rPr lang="en-US" altLang="en-US" dirty="0" smtClean="0"/>
              <a:t>Algorithm: Complexity</a:t>
            </a:r>
          </a:p>
        </p:txBody>
      </p:sp>
      <p:sp>
        <p:nvSpPr>
          <p:cNvPr id="78851" name="Content Placeholder 2"/>
          <p:cNvSpPr>
            <a:spLocks noGrp="1"/>
          </p:cNvSpPr>
          <p:nvPr>
            <p:ph idx="1"/>
          </p:nvPr>
        </p:nvSpPr>
        <p:spPr>
          <a:xfrm>
            <a:off x="304800" y="1143000"/>
            <a:ext cx="8305800" cy="4876800"/>
          </a:xfrm>
        </p:spPr>
        <p:txBody>
          <a:bodyPr/>
          <a:lstStyle/>
          <a:p>
            <a:r>
              <a:rPr lang="en-US" altLang="en-US" sz="2400" dirty="0"/>
              <a:t>Sort edges: O(E </a:t>
            </a:r>
            <a:r>
              <a:rPr lang="en-US" altLang="en-US" sz="2400" dirty="0" err="1"/>
              <a:t>lg</a:t>
            </a:r>
            <a:r>
              <a:rPr lang="en-US" altLang="en-US" sz="2400" dirty="0"/>
              <a:t> E)</a:t>
            </a:r>
            <a:endParaRPr lang="en-US" sz="2400" dirty="0" smtClean="0"/>
          </a:p>
          <a:p>
            <a:r>
              <a:rPr lang="en-US" altLang="en-US" sz="2400" dirty="0"/>
              <a:t>O(V) </a:t>
            </a:r>
            <a:r>
              <a:rPr lang="en-US" altLang="en-US" sz="2400" dirty="0" err="1"/>
              <a:t>MakeSet</a:t>
            </a:r>
            <a:r>
              <a:rPr lang="en-US" altLang="en-US" sz="2400" dirty="0"/>
              <a:t>()’s</a:t>
            </a:r>
            <a:endParaRPr lang="en-US" sz="2400" dirty="0" smtClean="0"/>
          </a:p>
          <a:p>
            <a:r>
              <a:rPr lang="en-US" altLang="en-US" sz="2400" dirty="0"/>
              <a:t>O(E) </a:t>
            </a:r>
            <a:r>
              <a:rPr lang="en-US" altLang="en-US" sz="2400" dirty="0" err="1"/>
              <a:t>FindSet</a:t>
            </a:r>
            <a:r>
              <a:rPr lang="en-US" altLang="en-US" sz="2400" dirty="0"/>
              <a:t>()</a:t>
            </a:r>
            <a:r>
              <a:rPr lang="en-US" altLang="en-US" sz="2400" dirty="0" smtClean="0"/>
              <a:t>’s</a:t>
            </a:r>
          </a:p>
          <a:p>
            <a:r>
              <a:rPr lang="en-US" altLang="en-US" sz="2400" dirty="0"/>
              <a:t>O(V) Union()’s</a:t>
            </a:r>
          </a:p>
          <a:p>
            <a:endParaRPr lang="en-US" sz="2400" dirty="0" smtClean="0"/>
          </a:p>
          <a:p>
            <a:r>
              <a:rPr lang="en-US" sz="2400" dirty="0" smtClean="0"/>
              <a:t>Find </a:t>
            </a:r>
            <a:r>
              <a:rPr lang="en-US" sz="2400" dirty="0"/>
              <a:t>and </a:t>
            </a:r>
            <a:r>
              <a:rPr lang="en-US" sz="2400" dirty="0" smtClean="0"/>
              <a:t>Union </a:t>
            </a:r>
            <a:r>
              <a:rPr lang="en-US" sz="2400" dirty="0"/>
              <a:t>operations can take </a:t>
            </a:r>
            <a:r>
              <a:rPr lang="en-US" sz="2400" dirty="0" err="1"/>
              <a:t>atmost</a:t>
            </a:r>
            <a:r>
              <a:rPr lang="en-US" sz="2400" dirty="0"/>
              <a:t> O(</a:t>
            </a:r>
            <a:r>
              <a:rPr lang="en-US" sz="2400" dirty="0" err="1"/>
              <a:t>LogV</a:t>
            </a:r>
            <a:r>
              <a:rPr lang="en-US" sz="2400" dirty="0"/>
              <a:t>) time. So overall complexity is O(</a:t>
            </a:r>
            <a:r>
              <a:rPr lang="en-US" sz="2400" dirty="0" err="1"/>
              <a:t>ELogE</a:t>
            </a:r>
            <a:r>
              <a:rPr lang="en-US" sz="2400" dirty="0"/>
              <a:t> + </a:t>
            </a:r>
            <a:r>
              <a:rPr lang="en-US" sz="2400" dirty="0" err="1"/>
              <a:t>ELogV</a:t>
            </a:r>
            <a:r>
              <a:rPr lang="en-US" sz="2400" dirty="0"/>
              <a:t>) time. </a:t>
            </a:r>
            <a:endParaRPr lang="en-US" sz="2400" dirty="0" smtClean="0"/>
          </a:p>
          <a:p>
            <a:pPr lvl="1"/>
            <a:r>
              <a:rPr lang="en-US" sz="2000" dirty="0" smtClean="0"/>
              <a:t>The </a:t>
            </a:r>
            <a:r>
              <a:rPr lang="en-US" sz="2000" dirty="0"/>
              <a:t>value of E can be </a:t>
            </a:r>
            <a:r>
              <a:rPr lang="en-US" sz="2000" dirty="0" err="1"/>
              <a:t>atmost</a:t>
            </a:r>
            <a:r>
              <a:rPr lang="en-US" sz="2000" dirty="0"/>
              <a:t> O(V</a:t>
            </a:r>
            <a:r>
              <a:rPr lang="en-US" sz="2000" baseline="30000" dirty="0"/>
              <a:t>2</a:t>
            </a:r>
            <a:r>
              <a:rPr lang="en-US" sz="2000" dirty="0"/>
              <a:t>), so O(</a:t>
            </a:r>
            <a:r>
              <a:rPr lang="en-US" sz="2000" dirty="0" err="1"/>
              <a:t>LogV</a:t>
            </a:r>
            <a:r>
              <a:rPr lang="en-US" sz="2000" dirty="0"/>
              <a:t>) are O(</a:t>
            </a:r>
            <a:r>
              <a:rPr lang="en-US" sz="2000" dirty="0" err="1"/>
              <a:t>LogE</a:t>
            </a:r>
            <a:r>
              <a:rPr lang="en-US" sz="2000" dirty="0"/>
              <a:t>) same. </a:t>
            </a:r>
            <a:endParaRPr lang="en-US" sz="2000" dirty="0" smtClean="0"/>
          </a:p>
          <a:p>
            <a:endParaRPr lang="en-US" sz="2400" dirty="0" smtClean="0"/>
          </a:p>
          <a:p>
            <a:r>
              <a:rPr lang="en-US" sz="2400" dirty="0" smtClean="0"/>
              <a:t>Therefore</a:t>
            </a:r>
            <a:r>
              <a:rPr lang="en-US" sz="2400" dirty="0"/>
              <a:t>, overall time complexity is O(</a:t>
            </a:r>
            <a:r>
              <a:rPr lang="en-US" sz="2400" dirty="0" err="1"/>
              <a:t>ElogE</a:t>
            </a:r>
            <a:r>
              <a:rPr lang="en-US" sz="2400" dirty="0"/>
              <a:t>) or </a:t>
            </a:r>
            <a:r>
              <a:rPr lang="en-US" sz="2400" dirty="0" smtClean="0"/>
              <a:t>O(</a:t>
            </a:r>
            <a:r>
              <a:rPr lang="en-US" sz="2400" dirty="0" err="1" smtClean="0"/>
              <a:t>ElogV</a:t>
            </a:r>
            <a:r>
              <a:rPr lang="en-US" sz="2400" dirty="0" smtClean="0"/>
              <a: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304800" y="152400"/>
            <a:ext cx="8229600" cy="685800"/>
          </a:xfrm>
        </p:spPr>
        <p:txBody>
          <a:bodyPr/>
          <a:lstStyle/>
          <a:p>
            <a:r>
              <a:rPr lang="en-US" altLang="en-US" dirty="0" err="1" smtClean="0"/>
              <a:t>Kruskal’s</a:t>
            </a:r>
            <a:r>
              <a:rPr lang="en-US" altLang="en-US" dirty="0"/>
              <a:t> Algorithm: </a:t>
            </a:r>
            <a:r>
              <a:rPr lang="en-US" altLang="en-US" dirty="0" smtClean="0"/>
              <a:t>Correctness</a:t>
            </a:r>
          </a:p>
        </p:txBody>
      </p:sp>
      <p:sp>
        <p:nvSpPr>
          <p:cNvPr id="79875" name="Rectangle 3"/>
          <p:cNvSpPr>
            <a:spLocks noGrp="1" noChangeArrowheads="1"/>
          </p:cNvSpPr>
          <p:nvPr>
            <p:ph type="body" idx="1"/>
          </p:nvPr>
        </p:nvSpPr>
        <p:spPr>
          <a:xfrm>
            <a:off x="304800" y="1143000"/>
            <a:ext cx="8229600" cy="5029200"/>
          </a:xfrm>
        </p:spPr>
        <p:txBody>
          <a:bodyPr/>
          <a:lstStyle/>
          <a:p>
            <a:r>
              <a:rPr lang="en-US" altLang="en-US" sz="2400" dirty="0" smtClean="0"/>
              <a:t>Sketch of a proof that this algorithm produces an MST for </a:t>
            </a:r>
            <a:r>
              <a:rPr lang="en-US" altLang="en-US" sz="2400" i="1" dirty="0" smtClean="0"/>
              <a:t>T</a:t>
            </a:r>
            <a:r>
              <a:rPr lang="en-US" altLang="en-US" sz="2400" dirty="0" smtClean="0"/>
              <a:t>:</a:t>
            </a:r>
            <a:endParaRPr lang="en-US" altLang="en-US" dirty="0" smtClean="0"/>
          </a:p>
          <a:p>
            <a:pPr lvl="1"/>
            <a:r>
              <a:rPr lang="en-US" altLang="en-US" sz="2200" dirty="0" smtClean="0"/>
              <a:t>Assume algorithm is wrong: result is not an MST</a:t>
            </a:r>
          </a:p>
          <a:p>
            <a:pPr lvl="1"/>
            <a:r>
              <a:rPr lang="en-US" altLang="en-US" sz="2200" dirty="0" smtClean="0"/>
              <a:t>Then algorithm adds a wrong edge at some point</a:t>
            </a:r>
          </a:p>
          <a:p>
            <a:pPr lvl="1"/>
            <a:r>
              <a:rPr lang="en-US" altLang="en-US" sz="2200" dirty="0" smtClean="0"/>
              <a:t>If it adds a wrong edge, there must be a lower weight edge</a:t>
            </a:r>
          </a:p>
          <a:p>
            <a:pPr lvl="1"/>
            <a:r>
              <a:rPr lang="en-US" altLang="en-US" sz="2200" dirty="0" smtClean="0"/>
              <a:t>But algorithm chooses lowest weight edge at each step.  Contradiction</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304800" y="204788"/>
            <a:ext cx="7620000" cy="709612"/>
          </a:xfrm>
        </p:spPr>
        <p:txBody>
          <a:bodyPr/>
          <a:lstStyle/>
          <a:p>
            <a:r>
              <a:rPr lang="en-US" altLang="en-US" smtClean="0"/>
              <a:t>Prim’s - Pseudocode</a:t>
            </a:r>
          </a:p>
        </p:txBody>
      </p:sp>
      <p:pic>
        <p:nvPicPr>
          <p:cNvPr id="80899"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17500" y="1087438"/>
            <a:ext cx="4019550" cy="2789237"/>
          </a:xfrm>
        </p:spPr>
      </p:pic>
      <p:sp>
        <p:nvSpPr>
          <p:cNvPr id="80900" name="TextBox 6"/>
          <p:cNvSpPr txBox="1">
            <a:spLocks noChangeArrowheads="1"/>
          </p:cNvSpPr>
          <p:nvPr/>
        </p:nvSpPr>
        <p:spPr bwMode="auto">
          <a:xfrm>
            <a:off x="288925" y="3876675"/>
            <a:ext cx="83216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sz="1600">
                <a:ea typeface="MS PGothic" pitchFamily="34" charset="-128"/>
              </a:rPr>
              <a:t>Lines 1–5 set the key of each vertex to 1 (except for the root r, whose key is set to 0 so that it will be the first vertex processed), set the parent of each</a:t>
            </a:r>
          </a:p>
          <a:p>
            <a:pPr>
              <a:spcBef>
                <a:spcPct val="0"/>
              </a:spcBef>
              <a:buClrTx/>
              <a:buFontTx/>
              <a:buNone/>
            </a:pPr>
            <a:r>
              <a:rPr kumimoji="0" lang="en-US" altLang="en-US" sz="1600">
                <a:ea typeface="MS PGothic" pitchFamily="34" charset="-128"/>
              </a:rPr>
              <a:t>vertex to NIL, and initialize the min priority queue Q to contain all the vertices.</a:t>
            </a:r>
          </a:p>
          <a:p>
            <a:pPr>
              <a:spcBef>
                <a:spcPct val="0"/>
              </a:spcBef>
              <a:buClrTx/>
              <a:buFontTx/>
              <a:buNone/>
            </a:pPr>
            <a:r>
              <a:rPr kumimoji="0" lang="en-US" altLang="en-US" sz="1600">
                <a:ea typeface="MS PGothic" pitchFamily="34" charset="-128"/>
              </a:rPr>
              <a:t>Line 6 runs a loops while Queue doesn’t get empty i.e. we extract all vertices from the queue to make a final solution tree. Line 7 extract-min(Q) extracts the minimum from the queue and stores in vertex u. Line 8 to onward it checks all adjacent edges of vertex u, one by one, and see if it is in the queue and its edge with u and v vertices have weight less than v.key which means lowest weight edge from vertex v. If both conditions are true then make u then parent of vertex v and update v minimum weight edge to weight of  u and v vertices edge.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smtClean="0"/>
              <a:t>Prim’s Algorithm</a:t>
            </a:r>
          </a:p>
        </p:txBody>
      </p:sp>
      <p:sp>
        <p:nvSpPr>
          <p:cNvPr id="81923" name="Rectangle 3"/>
          <p:cNvSpPr>
            <a:spLocks noGrp="1" noChangeArrowheads="1"/>
          </p:cNvSpPr>
          <p:nvPr>
            <p:ph idx="1"/>
          </p:nvPr>
        </p:nvSpPr>
        <p:spPr>
          <a:xfrm>
            <a:off x="381000" y="1676400"/>
            <a:ext cx="8255000" cy="48006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a:p>
            <a:pPr>
              <a:buFont typeface="Times New Roman" pitchFamily="18" charset="0"/>
              <a:buNone/>
            </a:pPr>
            <a:endParaRPr lang="en-US" altLang="en-US" sz="2000" b="1" smtClean="0">
              <a:latin typeface="Courier New" pitchFamily="49" charset="0"/>
              <a:sym typeface="Symbol" pitchFamily="18" charset="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en-US" smtClean="0"/>
              <a:t>Prim’s Algorithm</a:t>
            </a:r>
          </a:p>
        </p:txBody>
      </p:sp>
      <p:sp>
        <p:nvSpPr>
          <p:cNvPr id="82947"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2948"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49"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50"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51" name="Oval 7"/>
          <p:cNvSpPr>
            <a:spLocks noChangeArrowheads="1"/>
          </p:cNvSpPr>
          <p:nvPr/>
        </p:nvSpPr>
        <p:spPr bwMode="auto">
          <a:xfrm>
            <a:off x="4195763" y="3162300"/>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52"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53"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54" name="Oval 10"/>
          <p:cNvSpPr>
            <a:spLocks noChangeArrowheads="1"/>
          </p:cNvSpPr>
          <p:nvPr/>
        </p:nvSpPr>
        <p:spPr bwMode="auto">
          <a:xfrm>
            <a:off x="5287963" y="3652838"/>
            <a:ext cx="382587" cy="382587"/>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sp>
        <p:nvSpPr>
          <p:cNvPr id="82955"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sz="2000" i="1">
              <a:solidFill>
                <a:srgbClr val="000000"/>
              </a:solidFill>
              <a:latin typeface="Arial" pitchFamily="34" charset="0"/>
            </a:endParaRPr>
          </a:p>
        </p:txBody>
      </p:sp>
      <p:cxnSp>
        <p:nvCxnSpPr>
          <p:cNvPr id="82956" name="AutoShape 12"/>
          <p:cNvCxnSpPr>
            <a:cxnSpLocks noChangeShapeType="1"/>
            <a:stCxn id="82955" idx="5"/>
            <a:endCxn id="82949"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57" name="AutoShape 13"/>
          <p:cNvCxnSpPr>
            <a:cxnSpLocks noChangeShapeType="1"/>
            <a:stCxn id="82955" idx="3"/>
            <a:endCxn id="82948"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58" name="AutoShape 14"/>
          <p:cNvCxnSpPr>
            <a:cxnSpLocks noChangeShapeType="1"/>
            <a:stCxn id="82948" idx="6"/>
            <a:endCxn id="82949"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59" name="AutoShape 15"/>
          <p:cNvCxnSpPr>
            <a:cxnSpLocks noChangeShapeType="1"/>
            <a:stCxn id="82951" idx="0"/>
            <a:endCxn id="82948"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60" name="AutoShape 16"/>
          <p:cNvCxnSpPr>
            <a:cxnSpLocks noChangeShapeType="1"/>
            <a:stCxn id="82951" idx="5"/>
            <a:endCxn id="82954" idx="1"/>
          </p:cNvCxnSpPr>
          <p:nvPr/>
        </p:nvCxnSpPr>
        <p:spPr bwMode="auto">
          <a:xfrm>
            <a:off x="4522788" y="35020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61" name="AutoShape 17"/>
          <p:cNvCxnSpPr>
            <a:cxnSpLocks noChangeShapeType="1"/>
            <a:stCxn id="82954" idx="7"/>
            <a:endCxn id="82952"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62" name="AutoShape 18"/>
          <p:cNvCxnSpPr>
            <a:cxnSpLocks noChangeShapeType="1"/>
            <a:stCxn id="82952" idx="0"/>
            <a:endCxn id="82949"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63" name="AutoShape 19"/>
          <p:cNvCxnSpPr>
            <a:cxnSpLocks noChangeShapeType="1"/>
            <a:stCxn id="82949" idx="6"/>
            <a:endCxn id="82950"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64" name="AutoShape 20"/>
          <p:cNvCxnSpPr>
            <a:cxnSpLocks noChangeShapeType="1"/>
            <a:stCxn id="82952" idx="6"/>
            <a:endCxn id="82953"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2965" name="AutoShape 21"/>
          <p:cNvCxnSpPr>
            <a:cxnSpLocks noChangeShapeType="1"/>
            <a:stCxn id="82954" idx="0"/>
            <a:endCxn id="82948"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2966"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2967"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2968"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2969"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2970"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2971"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2972"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2973"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2974"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2975"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2976" name="Text Box 32"/>
          <p:cNvSpPr txBox="1">
            <a:spLocks noChangeArrowheads="1"/>
          </p:cNvSpPr>
          <p:nvPr/>
        </p:nvSpPr>
        <p:spPr bwMode="auto">
          <a:xfrm>
            <a:off x="5037138" y="4052888"/>
            <a:ext cx="2589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i="1">
                <a:solidFill>
                  <a:srgbClr val="0033CC"/>
                </a:solidFill>
              </a:rPr>
              <a:t>Run on example graph</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smtClean="0"/>
              <a:t>Prim’s Algorithm</a:t>
            </a:r>
          </a:p>
        </p:txBody>
      </p:sp>
      <p:sp>
        <p:nvSpPr>
          <p:cNvPr id="83971"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3972"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3"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4"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5" name="Oval 7"/>
          <p:cNvSpPr>
            <a:spLocks noChangeArrowheads="1"/>
          </p:cNvSpPr>
          <p:nvPr/>
        </p:nvSpPr>
        <p:spPr bwMode="auto">
          <a:xfrm>
            <a:off x="4195763" y="3162300"/>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6"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7"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8" name="Oval 10"/>
          <p:cNvSpPr>
            <a:spLocks noChangeArrowheads="1"/>
          </p:cNvSpPr>
          <p:nvPr/>
        </p:nvSpPr>
        <p:spPr bwMode="auto">
          <a:xfrm>
            <a:off x="5287963" y="3652838"/>
            <a:ext cx="382587" cy="382587"/>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3979"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83980" name="AutoShape 12"/>
          <p:cNvCxnSpPr>
            <a:cxnSpLocks noChangeShapeType="1"/>
            <a:stCxn id="83979" idx="5"/>
            <a:endCxn id="83973"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1" name="AutoShape 13"/>
          <p:cNvCxnSpPr>
            <a:cxnSpLocks noChangeShapeType="1"/>
            <a:stCxn id="83979" idx="3"/>
            <a:endCxn id="83972"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2" name="AutoShape 14"/>
          <p:cNvCxnSpPr>
            <a:cxnSpLocks noChangeShapeType="1"/>
            <a:stCxn id="83972" idx="6"/>
            <a:endCxn id="83973"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3" name="AutoShape 15"/>
          <p:cNvCxnSpPr>
            <a:cxnSpLocks noChangeShapeType="1"/>
            <a:stCxn id="83975" idx="0"/>
            <a:endCxn id="83972"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4" name="AutoShape 16"/>
          <p:cNvCxnSpPr>
            <a:cxnSpLocks noChangeShapeType="1"/>
            <a:stCxn id="83975" idx="5"/>
            <a:endCxn id="83978" idx="1"/>
          </p:cNvCxnSpPr>
          <p:nvPr/>
        </p:nvCxnSpPr>
        <p:spPr bwMode="auto">
          <a:xfrm>
            <a:off x="4522788" y="35020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5" name="AutoShape 17"/>
          <p:cNvCxnSpPr>
            <a:cxnSpLocks noChangeShapeType="1"/>
            <a:stCxn id="83978" idx="7"/>
            <a:endCxn id="83976"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6" name="AutoShape 18"/>
          <p:cNvCxnSpPr>
            <a:cxnSpLocks noChangeShapeType="1"/>
            <a:stCxn id="83976" idx="0"/>
            <a:endCxn id="83973"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7" name="AutoShape 19"/>
          <p:cNvCxnSpPr>
            <a:cxnSpLocks noChangeShapeType="1"/>
            <a:stCxn id="83973" idx="6"/>
            <a:endCxn id="83974"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8" name="AutoShape 20"/>
          <p:cNvCxnSpPr>
            <a:cxnSpLocks noChangeShapeType="1"/>
            <a:stCxn id="83976" idx="6"/>
            <a:endCxn id="83977"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3989" name="AutoShape 21"/>
          <p:cNvCxnSpPr>
            <a:cxnSpLocks noChangeShapeType="1"/>
            <a:stCxn id="83978" idx="0"/>
            <a:endCxn id="83972"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3990"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3991"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3992"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3993"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3994"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3995"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3996"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3997"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3998"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3999"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4000" name="Text Box 32"/>
          <p:cNvSpPr txBox="1">
            <a:spLocks noChangeArrowheads="1"/>
          </p:cNvSpPr>
          <p:nvPr/>
        </p:nvSpPr>
        <p:spPr bwMode="auto">
          <a:xfrm>
            <a:off x="5037138" y="4052888"/>
            <a:ext cx="2589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i="1">
                <a:solidFill>
                  <a:srgbClr val="0033CC"/>
                </a:solidFill>
              </a:rPr>
              <a:t>Run on example graph</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Prim’s Algorithm</a:t>
            </a:r>
          </a:p>
        </p:txBody>
      </p:sp>
      <p:sp>
        <p:nvSpPr>
          <p:cNvPr id="84995"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4996"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4997"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4998"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4999" name="Oval 7"/>
          <p:cNvSpPr>
            <a:spLocks noChangeArrowheads="1"/>
          </p:cNvSpPr>
          <p:nvPr/>
        </p:nvSpPr>
        <p:spPr bwMode="auto">
          <a:xfrm>
            <a:off x="4195763" y="3162300"/>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85000"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5001"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5002" name="Oval 10"/>
          <p:cNvSpPr>
            <a:spLocks noChangeArrowheads="1"/>
          </p:cNvSpPr>
          <p:nvPr/>
        </p:nvSpPr>
        <p:spPr bwMode="auto">
          <a:xfrm>
            <a:off x="5287963" y="3652838"/>
            <a:ext cx="382587" cy="382587"/>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5003"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85004" name="AutoShape 12"/>
          <p:cNvCxnSpPr>
            <a:cxnSpLocks noChangeShapeType="1"/>
            <a:stCxn id="85003" idx="5"/>
            <a:endCxn id="84997"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05" name="AutoShape 13"/>
          <p:cNvCxnSpPr>
            <a:cxnSpLocks noChangeShapeType="1"/>
            <a:stCxn id="85003" idx="3"/>
            <a:endCxn id="84996"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06" name="AutoShape 14"/>
          <p:cNvCxnSpPr>
            <a:cxnSpLocks noChangeShapeType="1"/>
            <a:stCxn id="84996" idx="6"/>
            <a:endCxn id="84997"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07" name="AutoShape 15"/>
          <p:cNvCxnSpPr>
            <a:cxnSpLocks noChangeShapeType="1"/>
            <a:stCxn id="84999" idx="0"/>
            <a:endCxn id="84996"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08" name="AutoShape 16"/>
          <p:cNvCxnSpPr>
            <a:cxnSpLocks noChangeShapeType="1"/>
            <a:stCxn id="84999" idx="5"/>
            <a:endCxn id="85002" idx="1"/>
          </p:cNvCxnSpPr>
          <p:nvPr/>
        </p:nvCxnSpPr>
        <p:spPr bwMode="auto">
          <a:xfrm>
            <a:off x="4522788" y="35020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09" name="AutoShape 17"/>
          <p:cNvCxnSpPr>
            <a:cxnSpLocks noChangeShapeType="1"/>
            <a:stCxn id="85002" idx="7"/>
            <a:endCxn id="85000"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10" name="AutoShape 18"/>
          <p:cNvCxnSpPr>
            <a:cxnSpLocks noChangeShapeType="1"/>
            <a:stCxn id="85000" idx="0"/>
            <a:endCxn id="84997"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11" name="AutoShape 19"/>
          <p:cNvCxnSpPr>
            <a:cxnSpLocks noChangeShapeType="1"/>
            <a:stCxn id="84997" idx="6"/>
            <a:endCxn id="84998"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12" name="AutoShape 20"/>
          <p:cNvCxnSpPr>
            <a:cxnSpLocks noChangeShapeType="1"/>
            <a:stCxn id="85000" idx="6"/>
            <a:endCxn id="85001"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5013" name="AutoShape 21"/>
          <p:cNvCxnSpPr>
            <a:cxnSpLocks noChangeShapeType="1"/>
            <a:stCxn id="85002" idx="0"/>
            <a:endCxn id="84996"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5014"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5015"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5016"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5017"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5018"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5019"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5020"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5021"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5022"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5023"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5024" name="Text Box 32"/>
          <p:cNvSpPr txBox="1">
            <a:spLocks noChangeArrowheads="1"/>
          </p:cNvSpPr>
          <p:nvPr/>
        </p:nvSpPr>
        <p:spPr bwMode="auto">
          <a:xfrm>
            <a:off x="5221288" y="4052888"/>
            <a:ext cx="2225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i="1">
                <a:solidFill>
                  <a:srgbClr val="0033CC"/>
                </a:solidFill>
              </a:rPr>
              <a:t>Pick a start vertex r</a:t>
            </a:r>
          </a:p>
        </p:txBody>
      </p:sp>
      <p:sp>
        <p:nvSpPr>
          <p:cNvPr id="85025" name="Text Box 33"/>
          <p:cNvSpPr txBox="1">
            <a:spLocks noChangeArrowheads="1"/>
          </p:cNvSpPr>
          <p:nvPr/>
        </p:nvSpPr>
        <p:spPr bwMode="auto">
          <a:xfrm>
            <a:off x="3505200" y="31591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r</a:t>
            </a:r>
          </a:p>
        </p:txBody>
      </p:sp>
      <p:cxnSp>
        <p:nvCxnSpPr>
          <p:cNvPr id="85026" name="AutoShape 34"/>
          <p:cNvCxnSpPr>
            <a:cxnSpLocks noChangeShapeType="1"/>
            <a:stCxn id="85025" idx="3"/>
            <a:endCxn id="84999" idx="2"/>
          </p:cNvCxnSpPr>
          <p:nvPr/>
        </p:nvCxnSpPr>
        <p:spPr bwMode="auto">
          <a:xfrm flipV="1">
            <a:off x="3841750" y="3352800"/>
            <a:ext cx="334963" cy="4763"/>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en-US" smtClean="0"/>
              <a:t>Prim’s Algorithm</a:t>
            </a:r>
          </a:p>
        </p:txBody>
      </p:sp>
      <p:sp>
        <p:nvSpPr>
          <p:cNvPr id="86019"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6020"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6021"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6022"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6023"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86024"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6025"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6026" name="Oval 10"/>
          <p:cNvSpPr>
            <a:spLocks noChangeArrowheads="1"/>
          </p:cNvSpPr>
          <p:nvPr/>
        </p:nvSpPr>
        <p:spPr bwMode="auto">
          <a:xfrm>
            <a:off x="5287963" y="3652838"/>
            <a:ext cx="382587" cy="382587"/>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6027"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86028" name="AutoShape 12"/>
          <p:cNvCxnSpPr>
            <a:cxnSpLocks noChangeShapeType="1"/>
            <a:stCxn id="86027" idx="5"/>
            <a:endCxn id="86021"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29" name="AutoShape 13"/>
          <p:cNvCxnSpPr>
            <a:cxnSpLocks noChangeShapeType="1"/>
            <a:stCxn id="86027" idx="3"/>
            <a:endCxn id="86020"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0" name="AutoShape 14"/>
          <p:cNvCxnSpPr>
            <a:cxnSpLocks noChangeShapeType="1"/>
            <a:stCxn id="86020" idx="6"/>
            <a:endCxn id="86021"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1" name="AutoShape 15"/>
          <p:cNvCxnSpPr>
            <a:cxnSpLocks noChangeShapeType="1"/>
            <a:stCxn id="86023" idx="0"/>
            <a:endCxn id="86020"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2" name="AutoShape 16"/>
          <p:cNvCxnSpPr>
            <a:cxnSpLocks noChangeShapeType="1"/>
            <a:stCxn id="86023" idx="5"/>
            <a:endCxn id="86026" idx="1"/>
          </p:cNvCxnSpPr>
          <p:nvPr/>
        </p:nvCxnSpPr>
        <p:spPr bwMode="auto">
          <a:xfrm>
            <a:off x="4522788" y="35020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3" name="AutoShape 17"/>
          <p:cNvCxnSpPr>
            <a:cxnSpLocks noChangeShapeType="1"/>
            <a:stCxn id="86026" idx="7"/>
            <a:endCxn id="86024"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4" name="AutoShape 18"/>
          <p:cNvCxnSpPr>
            <a:cxnSpLocks noChangeShapeType="1"/>
            <a:stCxn id="86024" idx="0"/>
            <a:endCxn id="86021"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5" name="AutoShape 19"/>
          <p:cNvCxnSpPr>
            <a:cxnSpLocks noChangeShapeType="1"/>
            <a:stCxn id="86021" idx="6"/>
            <a:endCxn id="86022"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6" name="AutoShape 20"/>
          <p:cNvCxnSpPr>
            <a:cxnSpLocks noChangeShapeType="1"/>
            <a:stCxn id="86024" idx="6"/>
            <a:endCxn id="86025"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6037" name="AutoShape 21"/>
          <p:cNvCxnSpPr>
            <a:cxnSpLocks noChangeShapeType="1"/>
            <a:stCxn id="86026" idx="0"/>
            <a:endCxn id="86020"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6038"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6039"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6040"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6041"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6042"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6043"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6044"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6045"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6046"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6047"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6048" name="Text Box 32"/>
          <p:cNvSpPr txBox="1">
            <a:spLocks noChangeArrowheads="1"/>
          </p:cNvSpPr>
          <p:nvPr/>
        </p:nvSpPr>
        <p:spPr bwMode="auto">
          <a:xfrm>
            <a:off x="4572000" y="4052888"/>
            <a:ext cx="4327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i="1">
                <a:solidFill>
                  <a:srgbClr val="CC0000"/>
                </a:solidFill>
              </a:rPr>
              <a:t>Red vertices have been removed from Q</a:t>
            </a:r>
          </a:p>
        </p:txBody>
      </p:sp>
      <p:sp>
        <p:nvSpPr>
          <p:cNvPr id="86049" name="Text Box 33"/>
          <p:cNvSpPr txBox="1">
            <a:spLocks noChangeArrowheads="1"/>
          </p:cNvSpPr>
          <p:nvPr/>
        </p:nvSpPr>
        <p:spPr bwMode="auto">
          <a:xfrm>
            <a:off x="3505200" y="31591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86050" name="AutoShape 34"/>
          <p:cNvCxnSpPr>
            <a:cxnSpLocks noChangeShapeType="1"/>
            <a:stCxn id="86049" idx="3"/>
            <a:endCxn id="86023" idx="2"/>
          </p:cNvCxnSpPr>
          <p:nvPr/>
        </p:nvCxnSpPr>
        <p:spPr bwMode="auto">
          <a:xfrm flipV="1">
            <a:off x="3841750" y="3352800"/>
            <a:ext cx="334963" cy="4763"/>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smtClean="0"/>
              <a:t>Prim’s Algorithm</a:t>
            </a:r>
          </a:p>
        </p:txBody>
      </p:sp>
      <p:sp>
        <p:nvSpPr>
          <p:cNvPr id="87043"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7044"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7045"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7046"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7047"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87048"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7049"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7050" name="Oval 10"/>
          <p:cNvSpPr>
            <a:spLocks noChangeArrowheads="1"/>
          </p:cNvSpPr>
          <p:nvPr/>
        </p:nvSpPr>
        <p:spPr bwMode="auto">
          <a:xfrm>
            <a:off x="5287963" y="3652838"/>
            <a:ext cx="382587" cy="382587"/>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87051"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87052" name="AutoShape 12"/>
          <p:cNvCxnSpPr>
            <a:cxnSpLocks noChangeShapeType="1"/>
            <a:stCxn id="87051" idx="5"/>
            <a:endCxn id="87045"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53" name="AutoShape 13"/>
          <p:cNvCxnSpPr>
            <a:cxnSpLocks noChangeShapeType="1"/>
            <a:stCxn id="87051" idx="3"/>
            <a:endCxn id="87044"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54" name="AutoShape 14"/>
          <p:cNvCxnSpPr>
            <a:cxnSpLocks noChangeShapeType="1"/>
            <a:stCxn id="87044" idx="6"/>
            <a:endCxn id="87045"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55" name="AutoShape 15"/>
          <p:cNvCxnSpPr>
            <a:cxnSpLocks noChangeShapeType="1"/>
            <a:stCxn id="87047" idx="0"/>
            <a:endCxn id="87044"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56" name="AutoShape 16"/>
          <p:cNvCxnSpPr>
            <a:cxnSpLocks noChangeShapeType="1"/>
            <a:stCxn id="87047" idx="5"/>
            <a:endCxn id="87050"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87057" name="AutoShape 17"/>
          <p:cNvCxnSpPr>
            <a:cxnSpLocks noChangeShapeType="1"/>
            <a:stCxn id="87050" idx="7"/>
            <a:endCxn id="87048"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58" name="AutoShape 18"/>
          <p:cNvCxnSpPr>
            <a:cxnSpLocks noChangeShapeType="1"/>
            <a:stCxn id="87048" idx="0"/>
            <a:endCxn id="87045"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59" name="AutoShape 19"/>
          <p:cNvCxnSpPr>
            <a:cxnSpLocks noChangeShapeType="1"/>
            <a:stCxn id="87045" idx="6"/>
            <a:endCxn id="87046"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60" name="AutoShape 20"/>
          <p:cNvCxnSpPr>
            <a:cxnSpLocks noChangeShapeType="1"/>
            <a:stCxn id="87048" idx="6"/>
            <a:endCxn id="87049"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7061" name="AutoShape 21"/>
          <p:cNvCxnSpPr>
            <a:cxnSpLocks noChangeShapeType="1"/>
            <a:stCxn id="87050" idx="0"/>
            <a:endCxn id="87044"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7062"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7063"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7064"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7065"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7066"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7067"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7068"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7069"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7070"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7071"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7072" name="Text Box 32"/>
          <p:cNvSpPr txBox="1">
            <a:spLocks noChangeArrowheads="1"/>
          </p:cNvSpPr>
          <p:nvPr/>
        </p:nvSpPr>
        <p:spPr bwMode="auto">
          <a:xfrm>
            <a:off x="4783138" y="4052888"/>
            <a:ext cx="3917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i="1">
                <a:solidFill>
                  <a:srgbClr val="CC0000"/>
                </a:solidFill>
              </a:rPr>
              <a:t>Red arrows indicate parent pointers</a:t>
            </a:r>
          </a:p>
        </p:txBody>
      </p:sp>
      <p:sp>
        <p:nvSpPr>
          <p:cNvPr id="87073" name="Text Box 33"/>
          <p:cNvSpPr txBox="1">
            <a:spLocks noChangeArrowheads="1"/>
          </p:cNvSpPr>
          <p:nvPr/>
        </p:nvSpPr>
        <p:spPr bwMode="auto">
          <a:xfrm>
            <a:off x="3505200" y="31591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87074" name="AutoShape 34"/>
          <p:cNvCxnSpPr>
            <a:cxnSpLocks noChangeShapeType="1"/>
            <a:stCxn id="87073" idx="3"/>
            <a:endCxn id="87047" idx="2"/>
          </p:cNvCxnSpPr>
          <p:nvPr/>
        </p:nvCxnSpPr>
        <p:spPr bwMode="auto">
          <a:xfrm flipV="1">
            <a:off x="3841750" y="3352800"/>
            <a:ext cx="334963" cy="4763"/>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smtClean="0"/>
              <a:t>Prim’s Algorithm</a:t>
            </a:r>
          </a:p>
        </p:txBody>
      </p:sp>
      <p:sp>
        <p:nvSpPr>
          <p:cNvPr id="88067"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8068"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14</a:t>
            </a:r>
          </a:p>
        </p:txBody>
      </p:sp>
      <p:sp>
        <p:nvSpPr>
          <p:cNvPr id="88069"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8070"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8071"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88072"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8073"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8074" name="Oval 10"/>
          <p:cNvSpPr>
            <a:spLocks noChangeArrowheads="1"/>
          </p:cNvSpPr>
          <p:nvPr/>
        </p:nvSpPr>
        <p:spPr bwMode="auto">
          <a:xfrm>
            <a:off x="5287963" y="3652838"/>
            <a:ext cx="382587" cy="382587"/>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88075"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88076" name="AutoShape 12"/>
          <p:cNvCxnSpPr>
            <a:cxnSpLocks noChangeShapeType="1"/>
            <a:stCxn id="88075" idx="5"/>
            <a:endCxn id="88069"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77" name="AutoShape 13"/>
          <p:cNvCxnSpPr>
            <a:cxnSpLocks noChangeShapeType="1"/>
            <a:stCxn id="88075" idx="3"/>
            <a:endCxn id="88068"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78" name="AutoShape 14"/>
          <p:cNvCxnSpPr>
            <a:cxnSpLocks noChangeShapeType="1"/>
            <a:stCxn id="88068" idx="6"/>
            <a:endCxn id="88069"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79" name="AutoShape 15"/>
          <p:cNvCxnSpPr>
            <a:cxnSpLocks noChangeShapeType="1"/>
            <a:stCxn id="88071" idx="0"/>
            <a:endCxn id="88068" idx="4"/>
          </p:cNvCxnSpPr>
          <p:nvPr/>
        </p:nvCxnSpPr>
        <p:spPr bwMode="auto">
          <a:xfrm flipV="1">
            <a:off x="43862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88080" name="AutoShape 16"/>
          <p:cNvCxnSpPr>
            <a:cxnSpLocks noChangeShapeType="1"/>
            <a:stCxn id="88071" idx="5"/>
            <a:endCxn id="88074"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88081" name="AutoShape 17"/>
          <p:cNvCxnSpPr>
            <a:cxnSpLocks noChangeShapeType="1"/>
            <a:stCxn id="88074" idx="7"/>
            <a:endCxn id="88072"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82" name="AutoShape 18"/>
          <p:cNvCxnSpPr>
            <a:cxnSpLocks noChangeShapeType="1"/>
            <a:stCxn id="88072" idx="0"/>
            <a:endCxn id="88069"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83" name="AutoShape 19"/>
          <p:cNvCxnSpPr>
            <a:cxnSpLocks noChangeShapeType="1"/>
            <a:stCxn id="88069" idx="6"/>
            <a:endCxn id="88070"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84" name="AutoShape 20"/>
          <p:cNvCxnSpPr>
            <a:cxnSpLocks noChangeShapeType="1"/>
            <a:stCxn id="88072" idx="6"/>
            <a:endCxn id="88073"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8085" name="AutoShape 21"/>
          <p:cNvCxnSpPr>
            <a:cxnSpLocks noChangeShapeType="1"/>
            <a:stCxn id="88074" idx="0"/>
            <a:endCxn id="88068"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8086"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8087"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8088"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8089"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8090"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8091"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8092"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8093"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8094"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8095"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8096" name="Text Box 32"/>
          <p:cNvSpPr txBox="1">
            <a:spLocks noChangeArrowheads="1"/>
          </p:cNvSpPr>
          <p:nvPr/>
        </p:nvSpPr>
        <p:spPr bwMode="auto">
          <a:xfrm>
            <a:off x="3505200" y="31591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88097" name="AutoShape 33"/>
          <p:cNvCxnSpPr>
            <a:cxnSpLocks noChangeShapeType="1"/>
            <a:stCxn id="88096" idx="3"/>
            <a:endCxn id="88071" idx="2"/>
          </p:cNvCxnSpPr>
          <p:nvPr/>
        </p:nvCxnSpPr>
        <p:spPr bwMode="auto">
          <a:xfrm flipV="1">
            <a:off x="3841750" y="3352800"/>
            <a:ext cx="334963" cy="4763"/>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smtClean="0"/>
              <a:t>Prim’s Algorithm</a:t>
            </a:r>
          </a:p>
        </p:txBody>
      </p:sp>
      <p:sp>
        <p:nvSpPr>
          <p:cNvPr id="89091"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89092"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14</a:t>
            </a:r>
          </a:p>
        </p:txBody>
      </p:sp>
      <p:sp>
        <p:nvSpPr>
          <p:cNvPr id="89093"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9094"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9095"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89096"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9097"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89098"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89099"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89100" name="AutoShape 12"/>
          <p:cNvCxnSpPr>
            <a:cxnSpLocks noChangeShapeType="1"/>
            <a:stCxn id="89099" idx="5"/>
            <a:endCxn id="89093"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1" name="AutoShape 13"/>
          <p:cNvCxnSpPr>
            <a:cxnSpLocks noChangeShapeType="1"/>
            <a:stCxn id="89099" idx="3"/>
            <a:endCxn id="89092"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2" name="AutoShape 14"/>
          <p:cNvCxnSpPr>
            <a:cxnSpLocks noChangeShapeType="1"/>
            <a:stCxn id="89092" idx="6"/>
            <a:endCxn id="89093"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3" name="AutoShape 15"/>
          <p:cNvCxnSpPr>
            <a:cxnSpLocks noChangeShapeType="1"/>
            <a:stCxn id="89095" idx="0"/>
            <a:endCxn id="89092" idx="4"/>
          </p:cNvCxnSpPr>
          <p:nvPr/>
        </p:nvCxnSpPr>
        <p:spPr bwMode="auto">
          <a:xfrm flipV="1">
            <a:off x="43862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89104" name="AutoShape 16"/>
          <p:cNvCxnSpPr>
            <a:cxnSpLocks noChangeShapeType="1"/>
            <a:stCxn id="89095" idx="5"/>
            <a:endCxn id="89098"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89105" name="AutoShape 17"/>
          <p:cNvCxnSpPr>
            <a:cxnSpLocks noChangeShapeType="1"/>
            <a:stCxn id="89098" idx="7"/>
            <a:endCxn id="89096" idx="3"/>
          </p:cNvCxnSpPr>
          <p:nvPr/>
        </p:nvCxnSpPr>
        <p:spPr bwMode="auto">
          <a:xfrm flipV="1">
            <a:off x="5613400" y="35020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6" name="AutoShape 18"/>
          <p:cNvCxnSpPr>
            <a:cxnSpLocks noChangeShapeType="1"/>
            <a:stCxn id="89096" idx="0"/>
            <a:endCxn id="89093"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7" name="AutoShape 19"/>
          <p:cNvCxnSpPr>
            <a:cxnSpLocks noChangeShapeType="1"/>
            <a:stCxn id="89093" idx="6"/>
            <a:endCxn id="89094"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8" name="AutoShape 20"/>
          <p:cNvCxnSpPr>
            <a:cxnSpLocks noChangeShapeType="1"/>
            <a:stCxn id="89096" idx="6"/>
            <a:endCxn id="89097"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89109" name="AutoShape 21"/>
          <p:cNvCxnSpPr>
            <a:cxnSpLocks noChangeShapeType="1"/>
            <a:stCxn id="89098" idx="0"/>
            <a:endCxn id="89092"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89110"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89111"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89112"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89113"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89114"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89115"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89116"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89117"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89118"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89119"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89120" name="Text Box 32"/>
          <p:cNvSpPr txBox="1">
            <a:spLocks noChangeArrowheads="1"/>
          </p:cNvSpPr>
          <p:nvPr/>
        </p:nvSpPr>
        <p:spPr bwMode="auto">
          <a:xfrm>
            <a:off x="4692650" y="37687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89121" name="AutoShape 33"/>
          <p:cNvCxnSpPr>
            <a:cxnSpLocks noChangeShapeType="1"/>
            <a:stCxn id="89120" idx="3"/>
            <a:endCxn id="89098" idx="2"/>
          </p:cNvCxnSpPr>
          <p:nvPr/>
        </p:nvCxnSpPr>
        <p:spPr bwMode="auto">
          <a:xfrm flipV="1">
            <a:off x="5029200" y="3844925"/>
            <a:ext cx="239713" cy="122238"/>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smtClean="0"/>
              <a:t>Prim’s Algorithm</a:t>
            </a:r>
          </a:p>
        </p:txBody>
      </p:sp>
      <p:sp>
        <p:nvSpPr>
          <p:cNvPr id="90115"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0116"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14</a:t>
            </a:r>
          </a:p>
        </p:txBody>
      </p:sp>
      <p:sp>
        <p:nvSpPr>
          <p:cNvPr id="90117"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0118"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0119"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0120"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0121"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0122"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0123"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0124" name="AutoShape 12"/>
          <p:cNvCxnSpPr>
            <a:cxnSpLocks noChangeShapeType="1"/>
            <a:stCxn id="90123" idx="5"/>
            <a:endCxn id="90117"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0125" name="AutoShape 13"/>
          <p:cNvCxnSpPr>
            <a:cxnSpLocks noChangeShapeType="1"/>
            <a:stCxn id="90123" idx="3"/>
            <a:endCxn id="90116"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0126" name="AutoShape 14"/>
          <p:cNvCxnSpPr>
            <a:cxnSpLocks noChangeShapeType="1"/>
            <a:stCxn id="90116" idx="6"/>
            <a:endCxn id="90117"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0127" name="AutoShape 15"/>
          <p:cNvCxnSpPr>
            <a:cxnSpLocks noChangeShapeType="1"/>
            <a:stCxn id="90119" idx="0"/>
            <a:endCxn id="90116" idx="4"/>
          </p:cNvCxnSpPr>
          <p:nvPr/>
        </p:nvCxnSpPr>
        <p:spPr bwMode="auto">
          <a:xfrm flipV="1">
            <a:off x="43862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0128" name="AutoShape 16"/>
          <p:cNvCxnSpPr>
            <a:cxnSpLocks noChangeShapeType="1"/>
            <a:stCxn id="90119" idx="5"/>
            <a:endCxn id="90122"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0129" name="AutoShape 17"/>
          <p:cNvCxnSpPr>
            <a:cxnSpLocks noChangeShapeType="1"/>
            <a:stCxn id="90122" idx="7"/>
            <a:endCxn id="90120"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0130" name="AutoShape 18"/>
          <p:cNvCxnSpPr>
            <a:cxnSpLocks noChangeShapeType="1"/>
            <a:stCxn id="90120" idx="0"/>
            <a:endCxn id="90117"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0131" name="AutoShape 19"/>
          <p:cNvCxnSpPr>
            <a:cxnSpLocks noChangeShapeType="1"/>
            <a:stCxn id="90117" idx="6"/>
            <a:endCxn id="90118"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0132" name="AutoShape 20"/>
          <p:cNvCxnSpPr>
            <a:cxnSpLocks noChangeShapeType="1"/>
            <a:stCxn id="90120" idx="6"/>
            <a:endCxn id="90121"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0133" name="AutoShape 21"/>
          <p:cNvCxnSpPr>
            <a:cxnSpLocks noChangeShapeType="1"/>
            <a:stCxn id="90122" idx="0"/>
            <a:endCxn id="90116"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90134"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0135"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0136"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0137"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0138"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0139"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0140"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0141"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0142"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0143"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0144" name="Text Box 32"/>
          <p:cNvSpPr txBox="1">
            <a:spLocks noChangeArrowheads="1"/>
          </p:cNvSpPr>
          <p:nvPr/>
        </p:nvSpPr>
        <p:spPr bwMode="auto">
          <a:xfrm>
            <a:off x="4692650" y="37687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0145" name="AutoShape 33"/>
          <p:cNvCxnSpPr>
            <a:cxnSpLocks noChangeShapeType="1"/>
            <a:stCxn id="90144" idx="3"/>
            <a:endCxn id="90122" idx="2"/>
          </p:cNvCxnSpPr>
          <p:nvPr/>
        </p:nvCxnSpPr>
        <p:spPr bwMode="auto">
          <a:xfrm flipV="1">
            <a:off x="5029200" y="3844925"/>
            <a:ext cx="239713" cy="122238"/>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smtClean="0"/>
              <a:t>Prim’s Algorithm</a:t>
            </a:r>
          </a:p>
        </p:txBody>
      </p:sp>
      <p:sp>
        <p:nvSpPr>
          <p:cNvPr id="91139"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1140"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1141"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1142"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1143"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1144" name="Oval 8"/>
          <p:cNvSpPr>
            <a:spLocks noChangeArrowheads="1"/>
          </p:cNvSpPr>
          <p:nvPr/>
        </p:nvSpPr>
        <p:spPr bwMode="auto">
          <a:xfrm>
            <a:off x="6380163" y="3162300"/>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1145"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1146"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1147"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1148" name="AutoShape 12"/>
          <p:cNvCxnSpPr>
            <a:cxnSpLocks noChangeShapeType="1"/>
            <a:stCxn id="91147" idx="5"/>
            <a:endCxn id="91141"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49" name="AutoShape 13"/>
          <p:cNvCxnSpPr>
            <a:cxnSpLocks noChangeShapeType="1"/>
            <a:stCxn id="91147" idx="3"/>
            <a:endCxn id="91140"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50" name="AutoShape 14"/>
          <p:cNvCxnSpPr>
            <a:cxnSpLocks noChangeShapeType="1"/>
            <a:stCxn id="91140" idx="6"/>
            <a:endCxn id="91141"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51" name="AutoShape 15"/>
          <p:cNvCxnSpPr>
            <a:cxnSpLocks noChangeShapeType="1"/>
            <a:stCxn id="91143" idx="0"/>
            <a:endCxn id="91140"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52" name="AutoShape 16"/>
          <p:cNvCxnSpPr>
            <a:cxnSpLocks noChangeShapeType="1"/>
            <a:stCxn id="91143" idx="5"/>
            <a:endCxn id="91146"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1153" name="AutoShape 17"/>
          <p:cNvCxnSpPr>
            <a:cxnSpLocks noChangeShapeType="1"/>
            <a:stCxn id="91146" idx="7"/>
            <a:endCxn id="91144"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1154" name="AutoShape 18"/>
          <p:cNvCxnSpPr>
            <a:cxnSpLocks noChangeShapeType="1"/>
            <a:stCxn id="91144" idx="0"/>
            <a:endCxn id="91141"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55" name="AutoShape 19"/>
          <p:cNvCxnSpPr>
            <a:cxnSpLocks noChangeShapeType="1"/>
            <a:stCxn id="91141" idx="6"/>
            <a:endCxn id="91142"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56" name="AutoShape 20"/>
          <p:cNvCxnSpPr>
            <a:cxnSpLocks noChangeShapeType="1"/>
            <a:stCxn id="91144" idx="6"/>
            <a:endCxn id="91145"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1157" name="AutoShape 21"/>
          <p:cNvCxnSpPr>
            <a:cxnSpLocks noChangeShapeType="1"/>
            <a:stCxn id="91146" idx="0"/>
            <a:endCxn id="91140"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1158"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1159"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1160"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1161"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1162"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1163"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1164"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1165"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1166"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1167"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1168" name="Text Box 32"/>
          <p:cNvSpPr txBox="1">
            <a:spLocks noChangeArrowheads="1"/>
          </p:cNvSpPr>
          <p:nvPr/>
        </p:nvSpPr>
        <p:spPr bwMode="auto">
          <a:xfrm>
            <a:off x="4692650" y="37687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1169" name="AutoShape 33"/>
          <p:cNvCxnSpPr>
            <a:cxnSpLocks noChangeShapeType="1"/>
            <a:stCxn id="91168" idx="3"/>
            <a:endCxn id="91146" idx="2"/>
          </p:cNvCxnSpPr>
          <p:nvPr/>
        </p:nvCxnSpPr>
        <p:spPr bwMode="auto">
          <a:xfrm flipV="1">
            <a:off x="5029200" y="3844925"/>
            <a:ext cx="239713" cy="122238"/>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ltLang="en-US" smtClean="0"/>
              <a:t>Prim’s Algorithm</a:t>
            </a:r>
          </a:p>
        </p:txBody>
      </p:sp>
      <p:sp>
        <p:nvSpPr>
          <p:cNvPr id="92163"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2164"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2165"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2166"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2167"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2168"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2169"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2170"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2171"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2172" name="AutoShape 12"/>
          <p:cNvCxnSpPr>
            <a:cxnSpLocks noChangeShapeType="1"/>
            <a:stCxn id="92171" idx="5"/>
            <a:endCxn id="92165"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73" name="AutoShape 13"/>
          <p:cNvCxnSpPr>
            <a:cxnSpLocks noChangeShapeType="1"/>
            <a:stCxn id="92171" idx="3"/>
            <a:endCxn id="92164"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74" name="AutoShape 14"/>
          <p:cNvCxnSpPr>
            <a:cxnSpLocks noChangeShapeType="1"/>
            <a:stCxn id="92164" idx="6"/>
            <a:endCxn id="92165"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75" name="AutoShape 15"/>
          <p:cNvCxnSpPr>
            <a:cxnSpLocks noChangeShapeType="1"/>
            <a:stCxn id="92167" idx="0"/>
            <a:endCxn id="92164"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76" name="AutoShape 16"/>
          <p:cNvCxnSpPr>
            <a:cxnSpLocks noChangeShapeType="1"/>
            <a:stCxn id="92167" idx="5"/>
            <a:endCxn id="92170"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2177" name="AutoShape 17"/>
          <p:cNvCxnSpPr>
            <a:cxnSpLocks noChangeShapeType="1"/>
            <a:stCxn id="92170" idx="7"/>
            <a:endCxn id="92168"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2178" name="AutoShape 18"/>
          <p:cNvCxnSpPr>
            <a:cxnSpLocks noChangeShapeType="1"/>
            <a:stCxn id="92168" idx="0"/>
            <a:endCxn id="92165" idx="4"/>
          </p:cNvCxnSpPr>
          <p:nvPr/>
        </p:nvCxnSpPr>
        <p:spPr bwMode="auto">
          <a:xfrm flipV="1">
            <a:off x="65706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79" name="AutoShape 19"/>
          <p:cNvCxnSpPr>
            <a:cxnSpLocks noChangeShapeType="1"/>
            <a:stCxn id="92165" idx="6"/>
            <a:endCxn id="92166"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80" name="AutoShape 20"/>
          <p:cNvCxnSpPr>
            <a:cxnSpLocks noChangeShapeType="1"/>
            <a:stCxn id="92168" idx="6"/>
            <a:endCxn id="92169"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2181" name="AutoShape 21"/>
          <p:cNvCxnSpPr>
            <a:cxnSpLocks noChangeShapeType="1"/>
            <a:stCxn id="92170" idx="0"/>
            <a:endCxn id="92164"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2182"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2183"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2184"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2185"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2186"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2187"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2188"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2189"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2190"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2191"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2192" name="Text Box 32"/>
          <p:cNvSpPr txBox="1">
            <a:spLocks noChangeArrowheads="1"/>
          </p:cNvSpPr>
          <p:nvPr/>
        </p:nvSpPr>
        <p:spPr bwMode="auto">
          <a:xfrm>
            <a:off x="6553200" y="38100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2193" name="AutoShape 33"/>
          <p:cNvCxnSpPr>
            <a:cxnSpLocks noChangeShapeType="1"/>
            <a:stCxn id="92192" idx="0"/>
            <a:endCxn id="92168" idx="4"/>
          </p:cNvCxnSpPr>
          <p:nvPr/>
        </p:nvCxnSpPr>
        <p:spPr bwMode="auto">
          <a:xfrm flipH="1" flipV="1">
            <a:off x="6570663" y="3562350"/>
            <a:ext cx="150812" cy="24765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en-US" smtClean="0"/>
              <a:t>Prim’s Algorithm</a:t>
            </a:r>
          </a:p>
        </p:txBody>
      </p:sp>
      <p:sp>
        <p:nvSpPr>
          <p:cNvPr id="93187"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3188"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3189"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3190"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3191"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3192"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3193"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3194"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3195"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3196" name="AutoShape 12"/>
          <p:cNvCxnSpPr>
            <a:cxnSpLocks noChangeShapeType="1"/>
            <a:stCxn id="93195" idx="5"/>
            <a:endCxn id="93189"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3197" name="AutoShape 13"/>
          <p:cNvCxnSpPr>
            <a:cxnSpLocks noChangeShapeType="1"/>
            <a:stCxn id="93195" idx="3"/>
            <a:endCxn id="93188"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3198" name="AutoShape 14"/>
          <p:cNvCxnSpPr>
            <a:cxnSpLocks noChangeShapeType="1"/>
            <a:stCxn id="93188" idx="6"/>
            <a:endCxn id="93189"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3199" name="AutoShape 15"/>
          <p:cNvCxnSpPr>
            <a:cxnSpLocks noChangeShapeType="1"/>
            <a:stCxn id="93191" idx="0"/>
            <a:endCxn id="93188"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3200" name="AutoShape 16"/>
          <p:cNvCxnSpPr>
            <a:cxnSpLocks noChangeShapeType="1"/>
            <a:stCxn id="93191" idx="5"/>
            <a:endCxn id="93194"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3201" name="AutoShape 17"/>
          <p:cNvCxnSpPr>
            <a:cxnSpLocks noChangeShapeType="1"/>
            <a:stCxn id="93194" idx="7"/>
            <a:endCxn id="93192"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3202" name="AutoShape 18"/>
          <p:cNvCxnSpPr>
            <a:cxnSpLocks noChangeShapeType="1"/>
            <a:stCxn id="93192" idx="0"/>
            <a:endCxn id="93189"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3203" name="AutoShape 19"/>
          <p:cNvCxnSpPr>
            <a:cxnSpLocks noChangeShapeType="1"/>
            <a:stCxn id="93189" idx="6"/>
            <a:endCxn id="93190"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3204" name="AutoShape 20"/>
          <p:cNvCxnSpPr>
            <a:cxnSpLocks noChangeShapeType="1"/>
            <a:stCxn id="93192" idx="6"/>
            <a:endCxn id="93193" idx="2"/>
          </p:cNvCxnSpPr>
          <p:nvPr/>
        </p:nvCxnSpPr>
        <p:spPr bwMode="auto">
          <a:xfrm>
            <a:off x="6775450" y="3352800"/>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3205" name="AutoShape 21"/>
          <p:cNvCxnSpPr>
            <a:cxnSpLocks noChangeShapeType="1"/>
            <a:stCxn id="93194" idx="0"/>
            <a:endCxn id="93188"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3206"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3207"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3208"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3209"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3210"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3211"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3212"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3213"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3214"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3215"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3216" name="Text Box 32"/>
          <p:cNvSpPr txBox="1">
            <a:spLocks noChangeArrowheads="1"/>
          </p:cNvSpPr>
          <p:nvPr/>
        </p:nvSpPr>
        <p:spPr bwMode="auto">
          <a:xfrm>
            <a:off x="6553200" y="38100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3217" name="AutoShape 33"/>
          <p:cNvCxnSpPr>
            <a:cxnSpLocks noChangeShapeType="1"/>
            <a:stCxn id="93216" idx="0"/>
            <a:endCxn id="93192" idx="4"/>
          </p:cNvCxnSpPr>
          <p:nvPr/>
        </p:nvCxnSpPr>
        <p:spPr bwMode="auto">
          <a:xfrm flipH="1" flipV="1">
            <a:off x="6570663" y="3562350"/>
            <a:ext cx="150812" cy="24765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en-US" smtClean="0"/>
              <a:t>Prim’s Algorithm</a:t>
            </a:r>
          </a:p>
        </p:txBody>
      </p:sp>
      <p:sp>
        <p:nvSpPr>
          <p:cNvPr id="94211"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4212"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4213" name="Oval 5"/>
          <p:cNvSpPr>
            <a:spLocks noChangeArrowheads="1"/>
          </p:cNvSpPr>
          <p:nvPr/>
        </p:nvSpPr>
        <p:spPr bwMode="auto">
          <a:xfrm>
            <a:off x="6380163" y="2016125"/>
            <a:ext cx="381000"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4214"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4215"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4216"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4217"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94218"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4219"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4220" name="AutoShape 12"/>
          <p:cNvCxnSpPr>
            <a:cxnSpLocks noChangeShapeType="1"/>
            <a:stCxn id="94219" idx="5"/>
            <a:endCxn id="94213"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4221" name="AutoShape 13"/>
          <p:cNvCxnSpPr>
            <a:cxnSpLocks noChangeShapeType="1"/>
            <a:stCxn id="94219" idx="3"/>
            <a:endCxn id="94212"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4222" name="AutoShape 14"/>
          <p:cNvCxnSpPr>
            <a:cxnSpLocks noChangeShapeType="1"/>
            <a:stCxn id="94212" idx="6"/>
            <a:endCxn id="94213"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4223" name="AutoShape 15"/>
          <p:cNvCxnSpPr>
            <a:cxnSpLocks noChangeShapeType="1"/>
            <a:stCxn id="94215" idx="0"/>
            <a:endCxn id="94212"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4224" name="AutoShape 16"/>
          <p:cNvCxnSpPr>
            <a:cxnSpLocks noChangeShapeType="1"/>
            <a:stCxn id="94215" idx="5"/>
            <a:endCxn id="94218"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4225" name="AutoShape 17"/>
          <p:cNvCxnSpPr>
            <a:cxnSpLocks noChangeShapeType="1"/>
            <a:stCxn id="94218" idx="7"/>
            <a:endCxn id="94216"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4226" name="AutoShape 18"/>
          <p:cNvCxnSpPr>
            <a:cxnSpLocks noChangeShapeType="1"/>
            <a:stCxn id="94216" idx="0"/>
            <a:endCxn id="94213"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4227" name="AutoShape 19"/>
          <p:cNvCxnSpPr>
            <a:cxnSpLocks noChangeShapeType="1"/>
            <a:stCxn id="94213" idx="6"/>
            <a:endCxn id="94214"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4228" name="AutoShape 20"/>
          <p:cNvCxnSpPr>
            <a:cxnSpLocks noChangeShapeType="1"/>
            <a:stCxn id="94216" idx="6"/>
            <a:endCxn id="94217"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4229" name="AutoShape 21"/>
          <p:cNvCxnSpPr>
            <a:cxnSpLocks noChangeShapeType="1"/>
            <a:stCxn id="94218" idx="0"/>
            <a:endCxn id="94212"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4230"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4231"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4232"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4233"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4234"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4235"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4236"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4237"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4238"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4239"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4240" name="Text Box 32"/>
          <p:cNvSpPr txBox="1">
            <a:spLocks noChangeArrowheads="1"/>
          </p:cNvSpPr>
          <p:nvPr/>
        </p:nvSpPr>
        <p:spPr bwMode="auto">
          <a:xfrm>
            <a:off x="6553200" y="38100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4241" name="AutoShape 33"/>
          <p:cNvCxnSpPr>
            <a:cxnSpLocks noChangeShapeType="1"/>
            <a:stCxn id="94240" idx="0"/>
            <a:endCxn id="94216" idx="4"/>
          </p:cNvCxnSpPr>
          <p:nvPr/>
        </p:nvCxnSpPr>
        <p:spPr bwMode="auto">
          <a:xfrm flipH="1" flipV="1">
            <a:off x="6570663" y="3562350"/>
            <a:ext cx="150812" cy="24765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en-US" smtClean="0"/>
              <a:t>Prim’s Algorithm</a:t>
            </a:r>
          </a:p>
        </p:txBody>
      </p:sp>
      <p:sp>
        <p:nvSpPr>
          <p:cNvPr id="95235"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5236"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5237"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5238"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sp>
        <p:nvSpPr>
          <p:cNvPr id="95239"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5240"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5241"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95242"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5243"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5244" name="AutoShape 12"/>
          <p:cNvCxnSpPr>
            <a:cxnSpLocks noChangeShapeType="1"/>
            <a:stCxn id="95243" idx="5"/>
            <a:endCxn id="95237"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5245" name="AutoShape 13"/>
          <p:cNvCxnSpPr>
            <a:cxnSpLocks noChangeShapeType="1"/>
            <a:stCxn id="95243" idx="3"/>
            <a:endCxn id="95236"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5246" name="AutoShape 14"/>
          <p:cNvCxnSpPr>
            <a:cxnSpLocks noChangeShapeType="1"/>
            <a:stCxn id="95236" idx="6"/>
            <a:endCxn id="95237"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5247" name="AutoShape 15"/>
          <p:cNvCxnSpPr>
            <a:cxnSpLocks noChangeShapeType="1"/>
            <a:stCxn id="95239" idx="0"/>
            <a:endCxn id="95236"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5248" name="AutoShape 16"/>
          <p:cNvCxnSpPr>
            <a:cxnSpLocks noChangeShapeType="1"/>
            <a:stCxn id="95239" idx="5"/>
            <a:endCxn id="95242"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5249" name="AutoShape 17"/>
          <p:cNvCxnSpPr>
            <a:cxnSpLocks noChangeShapeType="1"/>
            <a:stCxn id="95242" idx="7"/>
            <a:endCxn id="95240"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5250" name="AutoShape 18"/>
          <p:cNvCxnSpPr>
            <a:cxnSpLocks noChangeShapeType="1"/>
            <a:stCxn id="95240" idx="0"/>
            <a:endCxn id="95237"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5251" name="AutoShape 19"/>
          <p:cNvCxnSpPr>
            <a:cxnSpLocks noChangeShapeType="1"/>
            <a:stCxn id="95237" idx="6"/>
            <a:endCxn id="95238" idx="2"/>
          </p:cNvCxnSpPr>
          <p:nvPr/>
        </p:nvCxnSpPr>
        <p:spPr bwMode="auto">
          <a:xfrm>
            <a:off x="6775450" y="2206625"/>
            <a:ext cx="150177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5252" name="AutoShape 20"/>
          <p:cNvCxnSpPr>
            <a:cxnSpLocks noChangeShapeType="1"/>
            <a:stCxn id="95240" idx="6"/>
            <a:endCxn id="95241"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5253" name="AutoShape 21"/>
          <p:cNvCxnSpPr>
            <a:cxnSpLocks noChangeShapeType="1"/>
            <a:stCxn id="95242" idx="0"/>
            <a:endCxn id="95236"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5254"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5255"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5256"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5257"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5258"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5259"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5260"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5261"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5262"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5263"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5264" name="Text Box 32"/>
          <p:cNvSpPr txBox="1">
            <a:spLocks noChangeArrowheads="1"/>
          </p:cNvSpPr>
          <p:nvPr/>
        </p:nvSpPr>
        <p:spPr bwMode="auto">
          <a:xfrm>
            <a:off x="6934200" y="14478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5265" name="AutoShape 33"/>
          <p:cNvCxnSpPr>
            <a:cxnSpLocks noChangeShapeType="1"/>
            <a:stCxn id="95264" idx="1"/>
            <a:endCxn id="95237" idx="0"/>
          </p:cNvCxnSpPr>
          <p:nvPr/>
        </p:nvCxnSpPr>
        <p:spPr bwMode="auto">
          <a:xfrm flipH="1">
            <a:off x="6570663" y="1646238"/>
            <a:ext cx="363537" cy="350837"/>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en-US" smtClean="0"/>
              <a:t>Prim’s Algorithm</a:t>
            </a:r>
          </a:p>
        </p:txBody>
      </p:sp>
      <p:sp>
        <p:nvSpPr>
          <p:cNvPr id="96259"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6260"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6261"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6262"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96263"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6264"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6265"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96266"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6267"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a:t>
            </a:r>
          </a:p>
        </p:txBody>
      </p:sp>
      <p:cxnSp>
        <p:nvCxnSpPr>
          <p:cNvPr id="96268" name="AutoShape 12"/>
          <p:cNvCxnSpPr>
            <a:cxnSpLocks noChangeShapeType="1"/>
            <a:stCxn id="96267" idx="5"/>
            <a:endCxn id="96261" idx="1"/>
          </p:cNvCxnSpPr>
          <p:nvPr/>
        </p:nvCxnSpPr>
        <p:spPr bwMode="auto">
          <a:xfrm>
            <a:off x="5613400" y="1863725"/>
            <a:ext cx="822325"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6269" name="AutoShape 13"/>
          <p:cNvCxnSpPr>
            <a:cxnSpLocks noChangeShapeType="1"/>
            <a:stCxn id="96267" idx="3"/>
            <a:endCxn id="96260"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6270" name="AutoShape 14"/>
          <p:cNvCxnSpPr>
            <a:cxnSpLocks noChangeShapeType="1"/>
            <a:stCxn id="96260" idx="6"/>
            <a:endCxn id="96261"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6271" name="AutoShape 15"/>
          <p:cNvCxnSpPr>
            <a:cxnSpLocks noChangeShapeType="1"/>
            <a:stCxn id="96263" idx="0"/>
            <a:endCxn id="96260"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6272" name="AutoShape 16"/>
          <p:cNvCxnSpPr>
            <a:cxnSpLocks noChangeShapeType="1"/>
            <a:stCxn id="96263" idx="5"/>
            <a:endCxn id="96266"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6273" name="AutoShape 17"/>
          <p:cNvCxnSpPr>
            <a:cxnSpLocks noChangeShapeType="1"/>
            <a:stCxn id="96266" idx="7"/>
            <a:endCxn id="96264"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6274" name="AutoShape 18"/>
          <p:cNvCxnSpPr>
            <a:cxnSpLocks noChangeShapeType="1"/>
            <a:stCxn id="96264" idx="0"/>
            <a:endCxn id="96261"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6275" name="AutoShape 19"/>
          <p:cNvCxnSpPr>
            <a:cxnSpLocks noChangeShapeType="1"/>
            <a:stCxn id="96261" idx="6"/>
            <a:endCxn id="96262"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6276" name="AutoShape 20"/>
          <p:cNvCxnSpPr>
            <a:cxnSpLocks noChangeShapeType="1"/>
            <a:stCxn id="96264" idx="6"/>
            <a:endCxn id="96265"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6277" name="AutoShape 21"/>
          <p:cNvCxnSpPr>
            <a:cxnSpLocks noChangeShapeType="1"/>
            <a:stCxn id="96266" idx="0"/>
            <a:endCxn id="96260"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6278"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6279"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6280"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6281"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6282"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6283"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6284"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6285"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6286"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6287"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6288" name="Text Box 32"/>
          <p:cNvSpPr txBox="1">
            <a:spLocks noChangeArrowheads="1"/>
          </p:cNvSpPr>
          <p:nvPr/>
        </p:nvSpPr>
        <p:spPr bwMode="auto">
          <a:xfrm>
            <a:off x="6934200" y="14478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6289" name="AutoShape 33"/>
          <p:cNvCxnSpPr>
            <a:cxnSpLocks noChangeShapeType="1"/>
            <a:stCxn id="96288" idx="1"/>
            <a:endCxn id="96261" idx="0"/>
          </p:cNvCxnSpPr>
          <p:nvPr/>
        </p:nvCxnSpPr>
        <p:spPr bwMode="auto">
          <a:xfrm flipH="1">
            <a:off x="6570663" y="1646238"/>
            <a:ext cx="363537" cy="350837"/>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smtClean="0"/>
              <a:t>Prim’s Algorithm</a:t>
            </a:r>
          </a:p>
        </p:txBody>
      </p:sp>
      <p:sp>
        <p:nvSpPr>
          <p:cNvPr id="97283"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7284"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10</a:t>
            </a:r>
          </a:p>
        </p:txBody>
      </p:sp>
      <p:sp>
        <p:nvSpPr>
          <p:cNvPr id="97285"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7286"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97287"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7288"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7289"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97290"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7291"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4</a:t>
            </a:r>
          </a:p>
        </p:txBody>
      </p:sp>
      <p:cxnSp>
        <p:nvCxnSpPr>
          <p:cNvPr id="97292" name="AutoShape 12"/>
          <p:cNvCxnSpPr>
            <a:cxnSpLocks noChangeShapeType="1"/>
            <a:stCxn id="97291" idx="5"/>
            <a:endCxn id="97285" idx="1"/>
          </p:cNvCxnSpPr>
          <p:nvPr/>
        </p:nvCxnSpPr>
        <p:spPr bwMode="auto">
          <a:xfrm>
            <a:off x="5613400" y="1863725"/>
            <a:ext cx="822325" cy="193675"/>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97293" name="AutoShape 13"/>
          <p:cNvCxnSpPr>
            <a:cxnSpLocks noChangeShapeType="1"/>
            <a:stCxn id="97291" idx="3"/>
            <a:endCxn id="97284"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7294" name="AutoShape 14"/>
          <p:cNvCxnSpPr>
            <a:cxnSpLocks noChangeShapeType="1"/>
            <a:stCxn id="97284" idx="6"/>
            <a:endCxn id="97285" idx="2"/>
          </p:cNvCxnSpPr>
          <p:nvPr/>
        </p:nvCxnSpPr>
        <p:spPr bwMode="auto">
          <a:xfrm>
            <a:off x="4591050" y="2206625"/>
            <a:ext cx="1774825" cy="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7295" name="AutoShape 15"/>
          <p:cNvCxnSpPr>
            <a:cxnSpLocks noChangeShapeType="1"/>
            <a:stCxn id="97287" idx="0"/>
            <a:endCxn id="97284"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7296" name="AutoShape 16"/>
          <p:cNvCxnSpPr>
            <a:cxnSpLocks noChangeShapeType="1"/>
            <a:stCxn id="97287" idx="5"/>
            <a:endCxn id="97290"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7297" name="AutoShape 17"/>
          <p:cNvCxnSpPr>
            <a:cxnSpLocks noChangeShapeType="1"/>
            <a:stCxn id="97290" idx="7"/>
            <a:endCxn id="97288"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7298" name="AutoShape 18"/>
          <p:cNvCxnSpPr>
            <a:cxnSpLocks noChangeShapeType="1"/>
            <a:stCxn id="97288" idx="0"/>
            <a:endCxn id="97285"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7299" name="AutoShape 19"/>
          <p:cNvCxnSpPr>
            <a:cxnSpLocks noChangeShapeType="1"/>
            <a:stCxn id="97285" idx="6"/>
            <a:endCxn id="97286"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7300" name="AutoShape 20"/>
          <p:cNvCxnSpPr>
            <a:cxnSpLocks noChangeShapeType="1"/>
            <a:stCxn id="97288" idx="6"/>
            <a:endCxn id="97289"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7301" name="AutoShape 21"/>
          <p:cNvCxnSpPr>
            <a:cxnSpLocks noChangeShapeType="1"/>
            <a:stCxn id="97290" idx="0"/>
            <a:endCxn id="97284" idx="5"/>
          </p:cNvCxnSpPr>
          <p:nvPr/>
        </p:nvCxnSpPr>
        <p:spPr bwMode="auto">
          <a:xfrm rot="5400000" flipH="1">
            <a:off x="4358482" y="2520156"/>
            <a:ext cx="1284288" cy="955675"/>
          </a:xfrm>
          <a:prstGeom prst="curvedConnector3">
            <a:avLst>
              <a:gd name="adj1" fmla="val 47829"/>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sp>
        <p:nvSpPr>
          <p:cNvPr id="97302"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7303"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7304"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7305"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7306"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7307"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7308"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7309"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7310"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7311"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7312" name="Text Box 32"/>
          <p:cNvSpPr txBox="1">
            <a:spLocks noChangeArrowheads="1"/>
          </p:cNvSpPr>
          <p:nvPr/>
        </p:nvSpPr>
        <p:spPr bwMode="auto">
          <a:xfrm>
            <a:off x="6934200" y="14478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7313" name="AutoShape 33"/>
          <p:cNvCxnSpPr>
            <a:cxnSpLocks noChangeShapeType="1"/>
            <a:stCxn id="97312" idx="1"/>
            <a:endCxn id="97285" idx="0"/>
          </p:cNvCxnSpPr>
          <p:nvPr/>
        </p:nvCxnSpPr>
        <p:spPr bwMode="auto">
          <a:xfrm flipH="1">
            <a:off x="6570663" y="1646238"/>
            <a:ext cx="363537" cy="350837"/>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altLang="en-US" smtClean="0"/>
              <a:t>Prim’s Algorithm</a:t>
            </a:r>
          </a:p>
        </p:txBody>
      </p:sp>
      <p:sp>
        <p:nvSpPr>
          <p:cNvPr id="98307"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8308"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5</a:t>
            </a:r>
          </a:p>
        </p:txBody>
      </p:sp>
      <p:sp>
        <p:nvSpPr>
          <p:cNvPr id="98309"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8310"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98311"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8312"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8313"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98314"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8315" name="Oval 11"/>
          <p:cNvSpPr>
            <a:spLocks noChangeArrowheads="1"/>
          </p:cNvSpPr>
          <p:nvPr/>
        </p:nvSpPr>
        <p:spPr bwMode="auto">
          <a:xfrm>
            <a:off x="5287963" y="1524000"/>
            <a:ext cx="382587" cy="382588"/>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4</a:t>
            </a:r>
          </a:p>
        </p:txBody>
      </p:sp>
      <p:cxnSp>
        <p:nvCxnSpPr>
          <p:cNvPr id="98316" name="AutoShape 12"/>
          <p:cNvCxnSpPr>
            <a:cxnSpLocks noChangeShapeType="1"/>
            <a:stCxn id="98315" idx="5"/>
            <a:endCxn id="98309" idx="1"/>
          </p:cNvCxnSpPr>
          <p:nvPr/>
        </p:nvCxnSpPr>
        <p:spPr bwMode="auto">
          <a:xfrm>
            <a:off x="5613400" y="1863725"/>
            <a:ext cx="822325" cy="193675"/>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98317" name="AutoShape 13"/>
          <p:cNvCxnSpPr>
            <a:cxnSpLocks noChangeShapeType="1"/>
            <a:stCxn id="98315" idx="3"/>
            <a:endCxn id="98308"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8318" name="AutoShape 14"/>
          <p:cNvCxnSpPr>
            <a:cxnSpLocks noChangeShapeType="1"/>
            <a:stCxn id="98308" idx="6"/>
            <a:endCxn id="98309" idx="2"/>
          </p:cNvCxnSpPr>
          <p:nvPr/>
        </p:nvCxnSpPr>
        <p:spPr bwMode="auto">
          <a:xfrm>
            <a:off x="4591050" y="2206625"/>
            <a:ext cx="1774825" cy="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98319" name="AutoShape 15"/>
          <p:cNvCxnSpPr>
            <a:cxnSpLocks noChangeShapeType="1"/>
            <a:stCxn id="98311" idx="0"/>
            <a:endCxn id="98308"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8320" name="AutoShape 16"/>
          <p:cNvCxnSpPr>
            <a:cxnSpLocks noChangeShapeType="1"/>
            <a:stCxn id="98311" idx="5"/>
            <a:endCxn id="98314"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8321" name="AutoShape 17"/>
          <p:cNvCxnSpPr>
            <a:cxnSpLocks noChangeShapeType="1"/>
            <a:stCxn id="98314" idx="7"/>
            <a:endCxn id="98312"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8322" name="AutoShape 18"/>
          <p:cNvCxnSpPr>
            <a:cxnSpLocks noChangeShapeType="1"/>
            <a:stCxn id="98312" idx="0"/>
            <a:endCxn id="98309"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8323" name="AutoShape 19"/>
          <p:cNvCxnSpPr>
            <a:cxnSpLocks noChangeShapeType="1"/>
            <a:stCxn id="98309" idx="6"/>
            <a:endCxn id="98310"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8324" name="AutoShape 20"/>
          <p:cNvCxnSpPr>
            <a:cxnSpLocks noChangeShapeType="1"/>
            <a:stCxn id="98312" idx="6"/>
            <a:endCxn id="98313"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8325" name="AutoShape 21"/>
          <p:cNvCxnSpPr>
            <a:cxnSpLocks noChangeShapeType="1"/>
            <a:stCxn id="98314" idx="0"/>
            <a:endCxn id="98308"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98326"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8327"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8328"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8329"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8330"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8331"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8332"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8333"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8334"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8335"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8336" name="Text Box 32"/>
          <p:cNvSpPr txBox="1">
            <a:spLocks noChangeArrowheads="1"/>
          </p:cNvSpPr>
          <p:nvPr/>
        </p:nvSpPr>
        <p:spPr bwMode="auto">
          <a:xfrm>
            <a:off x="6934200" y="14478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8337" name="AutoShape 33"/>
          <p:cNvCxnSpPr>
            <a:cxnSpLocks noChangeShapeType="1"/>
            <a:stCxn id="98336" idx="1"/>
            <a:endCxn id="98309" idx="0"/>
          </p:cNvCxnSpPr>
          <p:nvPr/>
        </p:nvCxnSpPr>
        <p:spPr bwMode="auto">
          <a:xfrm flipH="1">
            <a:off x="6570663" y="1646238"/>
            <a:ext cx="363537" cy="350837"/>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ltLang="en-US" smtClean="0"/>
              <a:t>Prim’s Algorithm</a:t>
            </a:r>
          </a:p>
        </p:txBody>
      </p:sp>
      <p:sp>
        <p:nvSpPr>
          <p:cNvPr id="99331"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99332" name="Oval 4"/>
          <p:cNvSpPr>
            <a:spLocks noChangeArrowheads="1"/>
          </p:cNvSpPr>
          <p:nvPr/>
        </p:nvSpPr>
        <p:spPr bwMode="auto">
          <a:xfrm>
            <a:off x="4195763" y="2016125"/>
            <a:ext cx="382587"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5</a:t>
            </a:r>
          </a:p>
        </p:txBody>
      </p:sp>
      <p:sp>
        <p:nvSpPr>
          <p:cNvPr id="99333"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99334"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99335"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99336"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99337"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99338"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99339" name="Oval 11"/>
          <p:cNvSpPr>
            <a:spLocks noChangeArrowheads="1"/>
          </p:cNvSpPr>
          <p:nvPr/>
        </p:nvSpPr>
        <p:spPr bwMode="auto">
          <a:xfrm>
            <a:off x="5287963" y="1524000"/>
            <a:ext cx="382587" cy="382588"/>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4</a:t>
            </a:r>
          </a:p>
        </p:txBody>
      </p:sp>
      <p:cxnSp>
        <p:nvCxnSpPr>
          <p:cNvPr id="99340" name="AutoShape 12"/>
          <p:cNvCxnSpPr>
            <a:cxnSpLocks noChangeShapeType="1"/>
            <a:stCxn id="99339" idx="5"/>
            <a:endCxn id="99333" idx="1"/>
          </p:cNvCxnSpPr>
          <p:nvPr/>
        </p:nvCxnSpPr>
        <p:spPr bwMode="auto">
          <a:xfrm>
            <a:off x="5613400" y="1863725"/>
            <a:ext cx="822325" cy="193675"/>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99341" name="AutoShape 13"/>
          <p:cNvCxnSpPr>
            <a:cxnSpLocks noChangeShapeType="1"/>
            <a:stCxn id="99339" idx="3"/>
            <a:endCxn id="99332"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9342" name="AutoShape 14"/>
          <p:cNvCxnSpPr>
            <a:cxnSpLocks noChangeShapeType="1"/>
            <a:stCxn id="99332" idx="6"/>
            <a:endCxn id="99333" idx="2"/>
          </p:cNvCxnSpPr>
          <p:nvPr/>
        </p:nvCxnSpPr>
        <p:spPr bwMode="auto">
          <a:xfrm>
            <a:off x="4591050" y="2206625"/>
            <a:ext cx="1774825" cy="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99343" name="AutoShape 15"/>
          <p:cNvCxnSpPr>
            <a:cxnSpLocks noChangeShapeType="1"/>
            <a:stCxn id="99335" idx="0"/>
            <a:endCxn id="99332"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99344" name="AutoShape 16"/>
          <p:cNvCxnSpPr>
            <a:cxnSpLocks noChangeShapeType="1"/>
            <a:stCxn id="99335" idx="5"/>
            <a:endCxn id="99338"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9345" name="AutoShape 17"/>
          <p:cNvCxnSpPr>
            <a:cxnSpLocks noChangeShapeType="1"/>
            <a:stCxn id="99338" idx="7"/>
            <a:endCxn id="99336"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9346" name="AutoShape 18"/>
          <p:cNvCxnSpPr>
            <a:cxnSpLocks noChangeShapeType="1"/>
            <a:stCxn id="99336" idx="0"/>
            <a:endCxn id="99333"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9347" name="AutoShape 19"/>
          <p:cNvCxnSpPr>
            <a:cxnSpLocks noChangeShapeType="1"/>
            <a:stCxn id="99333" idx="6"/>
            <a:endCxn id="99334"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9348" name="AutoShape 20"/>
          <p:cNvCxnSpPr>
            <a:cxnSpLocks noChangeShapeType="1"/>
            <a:stCxn id="99336" idx="6"/>
            <a:endCxn id="99337"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99349" name="AutoShape 21"/>
          <p:cNvCxnSpPr>
            <a:cxnSpLocks noChangeShapeType="1"/>
            <a:stCxn id="99338" idx="0"/>
            <a:endCxn id="99332"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99350"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99351"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99352"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99353"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99354"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99355"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99356"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99357"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99358"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99359"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99360" name="Text Box 32"/>
          <p:cNvSpPr txBox="1">
            <a:spLocks noChangeArrowheads="1"/>
          </p:cNvSpPr>
          <p:nvPr/>
        </p:nvSpPr>
        <p:spPr bwMode="auto">
          <a:xfrm>
            <a:off x="6172200" y="12954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99361" name="AutoShape 33"/>
          <p:cNvCxnSpPr>
            <a:cxnSpLocks noChangeShapeType="1"/>
            <a:stCxn id="99360" idx="1"/>
            <a:endCxn id="99339" idx="7"/>
          </p:cNvCxnSpPr>
          <p:nvPr/>
        </p:nvCxnSpPr>
        <p:spPr bwMode="auto">
          <a:xfrm flipH="1">
            <a:off x="5614988" y="1493838"/>
            <a:ext cx="557212" cy="66675"/>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en-US" smtClean="0"/>
              <a:t>Prim’s Algorithm</a:t>
            </a:r>
          </a:p>
        </p:txBody>
      </p:sp>
      <p:sp>
        <p:nvSpPr>
          <p:cNvPr id="100355"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100356" name="Oval 4"/>
          <p:cNvSpPr>
            <a:spLocks noChangeArrowheads="1"/>
          </p:cNvSpPr>
          <p:nvPr/>
        </p:nvSpPr>
        <p:spPr bwMode="auto">
          <a:xfrm>
            <a:off x="4195763" y="2016125"/>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5</a:t>
            </a:r>
          </a:p>
        </p:txBody>
      </p:sp>
      <p:sp>
        <p:nvSpPr>
          <p:cNvPr id="100357"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100358" name="Oval 6"/>
          <p:cNvSpPr>
            <a:spLocks noChangeArrowheads="1"/>
          </p:cNvSpPr>
          <p:nvPr/>
        </p:nvSpPr>
        <p:spPr bwMode="auto">
          <a:xfrm>
            <a:off x="8289925" y="2016125"/>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100359"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100360"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100361"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100362"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100363" name="Oval 11"/>
          <p:cNvSpPr>
            <a:spLocks noChangeArrowheads="1"/>
          </p:cNvSpPr>
          <p:nvPr/>
        </p:nvSpPr>
        <p:spPr bwMode="auto">
          <a:xfrm>
            <a:off x="5287963" y="1524000"/>
            <a:ext cx="382587" cy="382588"/>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4</a:t>
            </a:r>
          </a:p>
        </p:txBody>
      </p:sp>
      <p:cxnSp>
        <p:nvCxnSpPr>
          <p:cNvPr id="100364" name="AutoShape 12"/>
          <p:cNvCxnSpPr>
            <a:cxnSpLocks noChangeShapeType="1"/>
            <a:stCxn id="100363" idx="5"/>
            <a:endCxn id="100357" idx="1"/>
          </p:cNvCxnSpPr>
          <p:nvPr/>
        </p:nvCxnSpPr>
        <p:spPr bwMode="auto">
          <a:xfrm>
            <a:off x="5613400" y="1863725"/>
            <a:ext cx="822325" cy="193675"/>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00365" name="AutoShape 13"/>
          <p:cNvCxnSpPr>
            <a:cxnSpLocks noChangeShapeType="1"/>
            <a:stCxn id="100363" idx="3"/>
            <a:endCxn id="100356"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00366" name="AutoShape 14"/>
          <p:cNvCxnSpPr>
            <a:cxnSpLocks noChangeShapeType="1"/>
            <a:stCxn id="100356" idx="6"/>
            <a:endCxn id="100357" idx="2"/>
          </p:cNvCxnSpPr>
          <p:nvPr/>
        </p:nvCxnSpPr>
        <p:spPr bwMode="auto">
          <a:xfrm>
            <a:off x="4591050" y="2206625"/>
            <a:ext cx="1774825" cy="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00367" name="AutoShape 15"/>
          <p:cNvCxnSpPr>
            <a:cxnSpLocks noChangeShapeType="1"/>
            <a:stCxn id="100359" idx="0"/>
            <a:endCxn id="100356"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00368" name="AutoShape 16"/>
          <p:cNvCxnSpPr>
            <a:cxnSpLocks noChangeShapeType="1"/>
            <a:stCxn id="100359" idx="5"/>
            <a:endCxn id="100362"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0369" name="AutoShape 17"/>
          <p:cNvCxnSpPr>
            <a:cxnSpLocks noChangeShapeType="1"/>
            <a:stCxn id="100362" idx="7"/>
            <a:endCxn id="100360"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0370" name="AutoShape 18"/>
          <p:cNvCxnSpPr>
            <a:cxnSpLocks noChangeShapeType="1"/>
            <a:stCxn id="100360" idx="0"/>
            <a:endCxn id="100357"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0371" name="AutoShape 19"/>
          <p:cNvCxnSpPr>
            <a:cxnSpLocks noChangeShapeType="1"/>
            <a:stCxn id="100357" idx="6"/>
            <a:endCxn id="100358"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0372" name="AutoShape 20"/>
          <p:cNvCxnSpPr>
            <a:cxnSpLocks noChangeShapeType="1"/>
            <a:stCxn id="100360" idx="6"/>
            <a:endCxn id="100361"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0373" name="AutoShape 21"/>
          <p:cNvCxnSpPr>
            <a:cxnSpLocks noChangeShapeType="1"/>
            <a:stCxn id="100362" idx="0"/>
            <a:endCxn id="100356"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100374"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100375"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100376"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100377"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100378"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100379"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100380"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100381"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100382"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100383"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100384" name="Text Box 32"/>
          <p:cNvSpPr txBox="1">
            <a:spLocks noChangeArrowheads="1"/>
          </p:cNvSpPr>
          <p:nvPr/>
        </p:nvSpPr>
        <p:spPr bwMode="auto">
          <a:xfrm>
            <a:off x="4038600" y="14478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100385" name="AutoShape 33"/>
          <p:cNvCxnSpPr>
            <a:cxnSpLocks noChangeShapeType="1"/>
            <a:stCxn id="100384" idx="2"/>
            <a:endCxn id="100356" idx="0"/>
          </p:cNvCxnSpPr>
          <p:nvPr/>
        </p:nvCxnSpPr>
        <p:spPr bwMode="auto">
          <a:xfrm>
            <a:off x="4206875" y="1844675"/>
            <a:ext cx="180975" cy="15240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en-US" smtClean="0"/>
              <a:t>Prim’s Algorithm</a:t>
            </a:r>
          </a:p>
        </p:txBody>
      </p:sp>
      <p:sp>
        <p:nvSpPr>
          <p:cNvPr id="101379"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101380" name="Oval 4"/>
          <p:cNvSpPr>
            <a:spLocks noChangeArrowheads="1"/>
          </p:cNvSpPr>
          <p:nvPr/>
        </p:nvSpPr>
        <p:spPr bwMode="auto">
          <a:xfrm>
            <a:off x="4195763" y="2016125"/>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5</a:t>
            </a:r>
          </a:p>
        </p:txBody>
      </p:sp>
      <p:sp>
        <p:nvSpPr>
          <p:cNvPr id="101381"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101382" name="Oval 6"/>
          <p:cNvSpPr>
            <a:spLocks noChangeArrowheads="1"/>
          </p:cNvSpPr>
          <p:nvPr/>
        </p:nvSpPr>
        <p:spPr bwMode="auto">
          <a:xfrm>
            <a:off x="8289925" y="2016125"/>
            <a:ext cx="382588"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101383"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101384"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101385" name="Oval 9"/>
          <p:cNvSpPr>
            <a:spLocks noChangeArrowheads="1"/>
          </p:cNvSpPr>
          <p:nvPr/>
        </p:nvSpPr>
        <p:spPr bwMode="auto">
          <a:xfrm>
            <a:off x="8289925" y="3162300"/>
            <a:ext cx="382588" cy="3810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101386"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101387" name="Oval 11"/>
          <p:cNvSpPr>
            <a:spLocks noChangeArrowheads="1"/>
          </p:cNvSpPr>
          <p:nvPr/>
        </p:nvSpPr>
        <p:spPr bwMode="auto">
          <a:xfrm>
            <a:off x="5287963" y="1524000"/>
            <a:ext cx="382587" cy="382588"/>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4</a:t>
            </a:r>
          </a:p>
        </p:txBody>
      </p:sp>
      <p:cxnSp>
        <p:nvCxnSpPr>
          <p:cNvPr id="101388" name="AutoShape 12"/>
          <p:cNvCxnSpPr>
            <a:cxnSpLocks noChangeShapeType="1"/>
            <a:stCxn id="101387" idx="5"/>
            <a:endCxn id="101381" idx="1"/>
          </p:cNvCxnSpPr>
          <p:nvPr/>
        </p:nvCxnSpPr>
        <p:spPr bwMode="auto">
          <a:xfrm>
            <a:off x="5613400" y="1863725"/>
            <a:ext cx="822325" cy="193675"/>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01389" name="AutoShape 13"/>
          <p:cNvCxnSpPr>
            <a:cxnSpLocks noChangeShapeType="1"/>
            <a:stCxn id="101387" idx="3"/>
            <a:endCxn id="101380"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01390" name="AutoShape 14"/>
          <p:cNvCxnSpPr>
            <a:cxnSpLocks noChangeShapeType="1"/>
            <a:stCxn id="101380" idx="6"/>
            <a:endCxn id="101381" idx="2"/>
          </p:cNvCxnSpPr>
          <p:nvPr/>
        </p:nvCxnSpPr>
        <p:spPr bwMode="auto">
          <a:xfrm>
            <a:off x="4591050" y="2206625"/>
            <a:ext cx="1774825" cy="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01391" name="AutoShape 15"/>
          <p:cNvCxnSpPr>
            <a:cxnSpLocks noChangeShapeType="1"/>
            <a:stCxn id="101383" idx="0"/>
            <a:endCxn id="101380"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01392" name="AutoShape 16"/>
          <p:cNvCxnSpPr>
            <a:cxnSpLocks noChangeShapeType="1"/>
            <a:stCxn id="101383" idx="5"/>
            <a:endCxn id="101386"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1393" name="AutoShape 17"/>
          <p:cNvCxnSpPr>
            <a:cxnSpLocks noChangeShapeType="1"/>
            <a:stCxn id="101386" idx="7"/>
            <a:endCxn id="101384"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1394" name="AutoShape 18"/>
          <p:cNvCxnSpPr>
            <a:cxnSpLocks noChangeShapeType="1"/>
            <a:stCxn id="101384" idx="0"/>
            <a:endCxn id="101381"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1395" name="AutoShape 19"/>
          <p:cNvCxnSpPr>
            <a:cxnSpLocks noChangeShapeType="1"/>
            <a:stCxn id="101381" idx="6"/>
            <a:endCxn id="101382"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1396" name="AutoShape 20"/>
          <p:cNvCxnSpPr>
            <a:cxnSpLocks noChangeShapeType="1"/>
            <a:stCxn id="101384" idx="6"/>
            <a:endCxn id="101385"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1397" name="AutoShape 21"/>
          <p:cNvCxnSpPr>
            <a:cxnSpLocks noChangeShapeType="1"/>
            <a:stCxn id="101386" idx="0"/>
            <a:endCxn id="101380"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101398"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101399"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101400"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101401"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101402"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101403"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101404"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101405"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101406"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101407"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101408" name="Text Box 32"/>
          <p:cNvSpPr txBox="1">
            <a:spLocks noChangeArrowheads="1"/>
          </p:cNvSpPr>
          <p:nvPr/>
        </p:nvSpPr>
        <p:spPr bwMode="auto">
          <a:xfrm>
            <a:off x="8229600" y="13716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101409" name="AutoShape 33"/>
          <p:cNvCxnSpPr>
            <a:cxnSpLocks noChangeShapeType="1"/>
            <a:stCxn id="101408" idx="2"/>
            <a:endCxn id="101382" idx="0"/>
          </p:cNvCxnSpPr>
          <p:nvPr/>
        </p:nvCxnSpPr>
        <p:spPr bwMode="auto">
          <a:xfrm>
            <a:off x="8397875" y="1768475"/>
            <a:ext cx="84138" cy="22860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smtClean="0"/>
              <a:t>Prim’s Algorithm</a:t>
            </a:r>
          </a:p>
        </p:txBody>
      </p:sp>
      <p:sp>
        <p:nvSpPr>
          <p:cNvPr id="102403"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p:txBody>
      </p:sp>
      <p:sp>
        <p:nvSpPr>
          <p:cNvPr id="102404" name="Oval 4"/>
          <p:cNvSpPr>
            <a:spLocks noChangeArrowheads="1"/>
          </p:cNvSpPr>
          <p:nvPr/>
        </p:nvSpPr>
        <p:spPr bwMode="auto">
          <a:xfrm>
            <a:off x="4195763" y="2016125"/>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5</a:t>
            </a:r>
          </a:p>
        </p:txBody>
      </p:sp>
      <p:sp>
        <p:nvSpPr>
          <p:cNvPr id="102405" name="Oval 5"/>
          <p:cNvSpPr>
            <a:spLocks noChangeArrowheads="1"/>
          </p:cNvSpPr>
          <p:nvPr/>
        </p:nvSpPr>
        <p:spPr bwMode="auto">
          <a:xfrm>
            <a:off x="6380163" y="2016125"/>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2</a:t>
            </a:r>
          </a:p>
        </p:txBody>
      </p:sp>
      <p:sp>
        <p:nvSpPr>
          <p:cNvPr id="102406" name="Oval 6"/>
          <p:cNvSpPr>
            <a:spLocks noChangeArrowheads="1"/>
          </p:cNvSpPr>
          <p:nvPr/>
        </p:nvSpPr>
        <p:spPr bwMode="auto">
          <a:xfrm>
            <a:off x="8289925" y="2016125"/>
            <a:ext cx="382588"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9</a:t>
            </a:r>
          </a:p>
        </p:txBody>
      </p:sp>
      <p:sp>
        <p:nvSpPr>
          <p:cNvPr id="102407" name="Oval 7"/>
          <p:cNvSpPr>
            <a:spLocks noChangeArrowheads="1"/>
          </p:cNvSpPr>
          <p:nvPr/>
        </p:nvSpPr>
        <p:spPr bwMode="auto">
          <a:xfrm>
            <a:off x="4195763" y="3162300"/>
            <a:ext cx="382587"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0</a:t>
            </a:r>
          </a:p>
        </p:txBody>
      </p:sp>
      <p:sp>
        <p:nvSpPr>
          <p:cNvPr id="102408" name="Oval 8"/>
          <p:cNvSpPr>
            <a:spLocks noChangeArrowheads="1"/>
          </p:cNvSpPr>
          <p:nvPr/>
        </p:nvSpPr>
        <p:spPr bwMode="auto">
          <a:xfrm>
            <a:off x="6380163" y="3162300"/>
            <a:ext cx="381000"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8</a:t>
            </a:r>
          </a:p>
        </p:txBody>
      </p:sp>
      <p:sp>
        <p:nvSpPr>
          <p:cNvPr id="102409" name="Oval 9"/>
          <p:cNvSpPr>
            <a:spLocks noChangeArrowheads="1"/>
          </p:cNvSpPr>
          <p:nvPr/>
        </p:nvSpPr>
        <p:spPr bwMode="auto">
          <a:xfrm>
            <a:off x="8289925" y="3162300"/>
            <a:ext cx="382588" cy="38100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15</a:t>
            </a:r>
          </a:p>
        </p:txBody>
      </p:sp>
      <p:sp>
        <p:nvSpPr>
          <p:cNvPr id="102410" name="Oval 10"/>
          <p:cNvSpPr>
            <a:spLocks noChangeArrowheads="1"/>
          </p:cNvSpPr>
          <p:nvPr/>
        </p:nvSpPr>
        <p:spPr bwMode="auto">
          <a:xfrm>
            <a:off x="5287963" y="3652838"/>
            <a:ext cx="382587" cy="382587"/>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3</a:t>
            </a:r>
          </a:p>
        </p:txBody>
      </p:sp>
      <p:sp>
        <p:nvSpPr>
          <p:cNvPr id="102411" name="Oval 11"/>
          <p:cNvSpPr>
            <a:spLocks noChangeArrowheads="1"/>
          </p:cNvSpPr>
          <p:nvPr/>
        </p:nvSpPr>
        <p:spPr bwMode="auto">
          <a:xfrm>
            <a:off x="5287963" y="1524000"/>
            <a:ext cx="382587" cy="382588"/>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0000"/>
                </a:solidFill>
                <a:latin typeface="Courier New" pitchFamily="49" charset="0"/>
                <a:sym typeface="Symbol" pitchFamily="18" charset="2"/>
              </a:rPr>
              <a:t>4</a:t>
            </a:r>
          </a:p>
        </p:txBody>
      </p:sp>
      <p:cxnSp>
        <p:nvCxnSpPr>
          <p:cNvPr id="102412" name="AutoShape 12"/>
          <p:cNvCxnSpPr>
            <a:cxnSpLocks noChangeShapeType="1"/>
            <a:stCxn id="102411" idx="5"/>
            <a:endCxn id="102405" idx="1"/>
          </p:cNvCxnSpPr>
          <p:nvPr/>
        </p:nvCxnSpPr>
        <p:spPr bwMode="auto">
          <a:xfrm>
            <a:off x="5613400" y="1863725"/>
            <a:ext cx="822325" cy="193675"/>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02413" name="AutoShape 13"/>
          <p:cNvCxnSpPr>
            <a:cxnSpLocks noChangeShapeType="1"/>
            <a:stCxn id="102411" idx="3"/>
            <a:endCxn id="102404" idx="7"/>
          </p:cNvCxnSpPr>
          <p:nvPr/>
        </p:nvCxnSpPr>
        <p:spPr bwMode="auto">
          <a:xfrm flipH="1">
            <a:off x="4522788" y="1863725"/>
            <a:ext cx="820737" cy="193675"/>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02414" name="AutoShape 14"/>
          <p:cNvCxnSpPr>
            <a:cxnSpLocks noChangeShapeType="1"/>
            <a:stCxn id="102404" idx="6"/>
            <a:endCxn id="102405" idx="2"/>
          </p:cNvCxnSpPr>
          <p:nvPr/>
        </p:nvCxnSpPr>
        <p:spPr bwMode="auto">
          <a:xfrm>
            <a:off x="4591050" y="2206625"/>
            <a:ext cx="1774825" cy="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02415" name="AutoShape 15"/>
          <p:cNvCxnSpPr>
            <a:cxnSpLocks noChangeShapeType="1"/>
            <a:stCxn id="102407" idx="0"/>
            <a:endCxn id="102404" idx="4"/>
          </p:cNvCxnSpPr>
          <p:nvPr/>
        </p:nvCxnSpPr>
        <p:spPr bwMode="auto">
          <a:xfrm flipV="1">
            <a:off x="4386263" y="2411413"/>
            <a:ext cx="0" cy="73660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02416" name="AutoShape 16"/>
          <p:cNvCxnSpPr>
            <a:cxnSpLocks noChangeShapeType="1"/>
            <a:stCxn id="102407" idx="5"/>
            <a:endCxn id="102410" idx="1"/>
          </p:cNvCxnSpPr>
          <p:nvPr/>
        </p:nvCxnSpPr>
        <p:spPr bwMode="auto">
          <a:xfrm>
            <a:off x="4522788" y="3502025"/>
            <a:ext cx="820737"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2417" name="AutoShape 17"/>
          <p:cNvCxnSpPr>
            <a:cxnSpLocks noChangeShapeType="1"/>
            <a:stCxn id="102410" idx="7"/>
            <a:endCxn id="102408" idx="3"/>
          </p:cNvCxnSpPr>
          <p:nvPr/>
        </p:nvCxnSpPr>
        <p:spPr bwMode="auto">
          <a:xfrm flipV="1">
            <a:off x="5613400" y="3502025"/>
            <a:ext cx="822325" cy="193675"/>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2418" name="AutoShape 18"/>
          <p:cNvCxnSpPr>
            <a:cxnSpLocks noChangeShapeType="1"/>
            <a:stCxn id="102408" idx="0"/>
            <a:endCxn id="102405" idx="4"/>
          </p:cNvCxnSpPr>
          <p:nvPr/>
        </p:nvCxnSpPr>
        <p:spPr bwMode="auto">
          <a:xfrm flipV="1">
            <a:off x="6570663" y="2411413"/>
            <a:ext cx="0" cy="73660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2419" name="AutoShape 19"/>
          <p:cNvCxnSpPr>
            <a:cxnSpLocks noChangeShapeType="1"/>
            <a:stCxn id="102405" idx="6"/>
            <a:endCxn id="102406" idx="2"/>
          </p:cNvCxnSpPr>
          <p:nvPr/>
        </p:nvCxnSpPr>
        <p:spPr bwMode="auto">
          <a:xfrm>
            <a:off x="6775450" y="2206625"/>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2420" name="AutoShape 20"/>
          <p:cNvCxnSpPr>
            <a:cxnSpLocks noChangeShapeType="1"/>
            <a:stCxn id="102408" idx="6"/>
            <a:endCxn id="102409" idx="2"/>
          </p:cNvCxnSpPr>
          <p:nvPr/>
        </p:nvCxnSpPr>
        <p:spPr bwMode="auto">
          <a:xfrm>
            <a:off x="6775450" y="3352800"/>
            <a:ext cx="1501775" cy="0"/>
          </a:xfrm>
          <a:prstGeom prst="straightConnector1">
            <a:avLst/>
          </a:prstGeom>
          <a:noFill/>
          <a:ln w="38100">
            <a:solidFill>
              <a:schemeClr val="tx2"/>
            </a:solidFill>
            <a:round/>
            <a:headEnd type="triangle" w="med" len="med"/>
            <a:tailEnd/>
          </a:ln>
          <a:extLst>
            <a:ext uri="{909E8E84-426E-40DD-AFC4-6F175D3DCCD1}">
              <a14:hiddenFill xmlns:a14="http://schemas.microsoft.com/office/drawing/2010/main">
                <a:noFill/>
              </a14:hiddenFill>
            </a:ext>
          </a:extLst>
        </p:spPr>
      </p:cxnSp>
      <p:cxnSp>
        <p:nvCxnSpPr>
          <p:cNvPr id="102421" name="AutoShape 21"/>
          <p:cNvCxnSpPr>
            <a:cxnSpLocks noChangeShapeType="1"/>
            <a:stCxn id="102410" idx="0"/>
            <a:endCxn id="102404" idx="5"/>
          </p:cNvCxnSpPr>
          <p:nvPr/>
        </p:nvCxnSpPr>
        <p:spPr bwMode="auto">
          <a:xfrm rot="5400000" flipH="1">
            <a:off x="4358482" y="2520156"/>
            <a:ext cx="1284288" cy="955675"/>
          </a:xfrm>
          <a:prstGeom prst="curvedConnector3">
            <a:avLst>
              <a:gd name="adj1" fmla="val 47829"/>
            </a:avLst>
          </a:prstGeom>
          <a:noFill/>
          <a:ln w="38100">
            <a:solidFill>
              <a:schemeClr val="accent1"/>
            </a:solidFill>
            <a:round/>
            <a:headEnd/>
            <a:tailEnd/>
          </a:ln>
          <a:extLst>
            <a:ext uri="{909E8E84-426E-40DD-AFC4-6F175D3DCCD1}">
              <a14:hiddenFill xmlns:a14="http://schemas.microsoft.com/office/drawing/2010/main">
                <a:noFill/>
              </a14:hiddenFill>
            </a:ext>
          </a:extLst>
        </p:spPr>
      </p:cxnSp>
      <p:sp>
        <p:nvSpPr>
          <p:cNvPr id="102422" name="Text Box 22"/>
          <p:cNvSpPr txBox="1">
            <a:spLocks noChangeArrowheads="1"/>
          </p:cNvSpPr>
          <p:nvPr/>
        </p:nvSpPr>
        <p:spPr bwMode="auto">
          <a:xfrm>
            <a:off x="3962400" y="25955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14</a:t>
            </a:r>
          </a:p>
        </p:txBody>
      </p:sp>
      <p:sp>
        <p:nvSpPr>
          <p:cNvPr id="102423" name="Text Box 23"/>
          <p:cNvSpPr txBox="1">
            <a:spLocks noChangeArrowheads="1"/>
          </p:cNvSpPr>
          <p:nvPr/>
        </p:nvSpPr>
        <p:spPr bwMode="auto">
          <a:xfrm>
            <a:off x="4979988" y="2743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10</a:t>
            </a:r>
          </a:p>
        </p:txBody>
      </p:sp>
      <p:sp>
        <p:nvSpPr>
          <p:cNvPr id="102424" name="Text Box 24"/>
          <p:cNvSpPr txBox="1">
            <a:spLocks noChangeArrowheads="1"/>
          </p:cNvSpPr>
          <p:nvPr/>
        </p:nvSpPr>
        <p:spPr bwMode="auto">
          <a:xfrm>
            <a:off x="4759325" y="35671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3</a:t>
            </a:r>
          </a:p>
        </p:txBody>
      </p:sp>
      <p:sp>
        <p:nvSpPr>
          <p:cNvPr id="102425" name="Text Box 25"/>
          <p:cNvSpPr txBox="1">
            <a:spLocks noChangeArrowheads="1"/>
          </p:cNvSpPr>
          <p:nvPr/>
        </p:nvSpPr>
        <p:spPr bwMode="auto">
          <a:xfrm>
            <a:off x="4759325"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6</a:t>
            </a:r>
          </a:p>
        </p:txBody>
      </p:sp>
      <p:sp>
        <p:nvSpPr>
          <p:cNvPr id="102426" name="Text Box 26"/>
          <p:cNvSpPr txBox="1">
            <a:spLocks noChangeArrowheads="1"/>
          </p:cNvSpPr>
          <p:nvPr/>
        </p:nvSpPr>
        <p:spPr bwMode="auto">
          <a:xfrm>
            <a:off x="5956300" y="160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4</a:t>
            </a:r>
          </a:p>
        </p:txBody>
      </p:sp>
      <p:sp>
        <p:nvSpPr>
          <p:cNvPr id="102427" name="Text Box 27"/>
          <p:cNvSpPr txBox="1">
            <a:spLocks noChangeArrowheads="1"/>
          </p:cNvSpPr>
          <p:nvPr/>
        </p:nvSpPr>
        <p:spPr bwMode="auto">
          <a:xfrm>
            <a:off x="5305425" y="1905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5</a:t>
            </a:r>
          </a:p>
        </p:txBody>
      </p:sp>
      <p:sp>
        <p:nvSpPr>
          <p:cNvPr id="102428" name="Text Box 28"/>
          <p:cNvSpPr txBox="1">
            <a:spLocks noChangeArrowheads="1"/>
          </p:cNvSpPr>
          <p:nvPr/>
        </p:nvSpPr>
        <p:spPr bwMode="auto">
          <a:xfrm>
            <a:off x="6556375" y="2628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2</a:t>
            </a:r>
          </a:p>
        </p:txBody>
      </p:sp>
      <p:sp>
        <p:nvSpPr>
          <p:cNvPr id="102429" name="Text Box 29"/>
          <p:cNvSpPr txBox="1">
            <a:spLocks noChangeArrowheads="1"/>
          </p:cNvSpPr>
          <p:nvPr/>
        </p:nvSpPr>
        <p:spPr bwMode="auto">
          <a:xfrm>
            <a:off x="7375525" y="1828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9</a:t>
            </a:r>
          </a:p>
        </p:txBody>
      </p:sp>
      <p:sp>
        <p:nvSpPr>
          <p:cNvPr id="102430" name="Text Box 30"/>
          <p:cNvSpPr txBox="1">
            <a:spLocks noChangeArrowheads="1"/>
          </p:cNvSpPr>
          <p:nvPr/>
        </p:nvSpPr>
        <p:spPr bwMode="auto">
          <a:xfrm>
            <a:off x="7321550" y="296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15</a:t>
            </a:r>
          </a:p>
        </p:txBody>
      </p:sp>
      <p:sp>
        <p:nvSpPr>
          <p:cNvPr id="102431" name="Text Box 31"/>
          <p:cNvSpPr txBox="1">
            <a:spLocks noChangeArrowheads="1"/>
          </p:cNvSpPr>
          <p:nvPr/>
        </p:nvSpPr>
        <p:spPr bwMode="auto">
          <a:xfrm>
            <a:off x="5895975" y="358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1800" b="1">
                <a:solidFill>
                  <a:srgbClr val="0033CC"/>
                </a:solidFill>
              </a:rPr>
              <a:t>8</a:t>
            </a:r>
          </a:p>
        </p:txBody>
      </p:sp>
      <p:sp>
        <p:nvSpPr>
          <p:cNvPr id="102432" name="Text Box 32"/>
          <p:cNvSpPr txBox="1">
            <a:spLocks noChangeArrowheads="1"/>
          </p:cNvSpPr>
          <p:nvPr/>
        </p:nvSpPr>
        <p:spPr bwMode="auto">
          <a:xfrm>
            <a:off x="8229600" y="2590800"/>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lgn="ctr">
              <a:spcBef>
                <a:spcPct val="0"/>
              </a:spcBef>
              <a:buClrTx/>
              <a:buFontTx/>
              <a:buNone/>
            </a:pPr>
            <a:r>
              <a:rPr kumimoji="0" lang="en-US" altLang="en-US" sz="2000" b="1">
                <a:solidFill>
                  <a:srgbClr val="0033CC"/>
                </a:solidFill>
                <a:latin typeface="Courier New" pitchFamily="49" charset="0"/>
              </a:rPr>
              <a:t>u</a:t>
            </a:r>
          </a:p>
        </p:txBody>
      </p:sp>
      <p:cxnSp>
        <p:nvCxnSpPr>
          <p:cNvPr id="102433" name="AutoShape 33"/>
          <p:cNvCxnSpPr>
            <a:cxnSpLocks noChangeShapeType="1"/>
            <a:stCxn id="102432" idx="2"/>
            <a:endCxn id="102409" idx="0"/>
          </p:cNvCxnSpPr>
          <p:nvPr/>
        </p:nvCxnSpPr>
        <p:spPr bwMode="auto">
          <a:xfrm>
            <a:off x="8397875" y="2987675"/>
            <a:ext cx="84138" cy="155575"/>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en-US" smtClean="0"/>
              <a:t>Review: Prim’s Algorithm</a:t>
            </a:r>
          </a:p>
        </p:txBody>
      </p:sp>
      <p:sp>
        <p:nvSpPr>
          <p:cNvPr id="103427"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a:p>
            <a:pPr>
              <a:buFont typeface="Times New Roman" pitchFamily="18" charset="0"/>
              <a:buNone/>
            </a:pPr>
            <a:endParaRPr lang="en-US" altLang="en-US" sz="2000" b="1" smtClean="0">
              <a:latin typeface="Courier New" pitchFamily="49" charset="0"/>
              <a:sym typeface="Symbol" pitchFamily="18" charset="2"/>
            </a:endParaRPr>
          </a:p>
        </p:txBody>
      </p:sp>
      <p:sp>
        <p:nvSpPr>
          <p:cNvPr id="103428" name="Text Box 4"/>
          <p:cNvSpPr txBox="1">
            <a:spLocks noChangeArrowheads="1"/>
          </p:cNvSpPr>
          <p:nvPr/>
        </p:nvSpPr>
        <p:spPr bwMode="auto">
          <a:xfrm>
            <a:off x="3505200" y="3048000"/>
            <a:ext cx="5545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b="1" i="1">
                <a:solidFill>
                  <a:srgbClr val="0033CC"/>
                </a:solidFill>
              </a:rPr>
              <a:t>What is the hidden cost in this code?</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en-US" smtClean="0"/>
              <a:t>Review: Prim’s Algorithm</a:t>
            </a:r>
          </a:p>
        </p:txBody>
      </p:sp>
      <p:sp>
        <p:nvSpPr>
          <p:cNvPr id="104451"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solidFill>
                  <a:schemeClr val="tx2"/>
                </a:solidFill>
                <a:latin typeface="Courier New" pitchFamily="49" charset="0"/>
                <a:sym typeface="Symbol" pitchFamily="18" charset="2"/>
              </a:rPr>
              <a:t>                DecreaseKey(v, w(u,v));</a:t>
            </a:r>
          </a:p>
          <a:p>
            <a:pPr>
              <a:buFont typeface="Times New Roman" pitchFamily="18" charset="0"/>
              <a:buNone/>
            </a:pPr>
            <a:endParaRPr lang="en-US" altLang="en-US" sz="2000" b="1" smtClean="0">
              <a:latin typeface="Courier New" pitchFamily="49" charset="0"/>
              <a:sym typeface="Symbol" pitchFamily="18" charset="2"/>
            </a:endParaRPr>
          </a:p>
        </p:txBody>
      </p:sp>
      <p:sp>
        <p:nvSpPr>
          <p:cNvPr id="104452" name="Text Box 4"/>
          <p:cNvSpPr txBox="1">
            <a:spLocks noChangeArrowheads="1"/>
          </p:cNvSpPr>
          <p:nvPr/>
        </p:nvSpPr>
        <p:spPr bwMode="auto">
          <a:xfrm>
            <a:off x="3581400" y="26352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endParaRPr kumimoji="0" lang="en-US" altLang="en-US" b="1" i="1">
              <a:solidFill>
                <a:srgbClr val="0033CC"/>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en-US" smtClean="0"/>
              <a:t>Review: Prim’s Algorithm</a:t>
            </a:r>
          </a:p>
        </p:txBody>
      </p:sp>
      <p:sp>
        <p:nvSpPr>
          <p:cNvPr id="105475"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DecreaseKey(v, w(u,v));</a:t>
            </a:r>
          </a:p>
          <a:p>
            <a:pPr>
              <a:buFont typeface="Times New Roman" pitchFamily="18" charset="0"/>
              <a:buNone/>
            </a:pPr>
            <a:endParaRPr lang="en-US" altLang="en-US" sz="2000" b="1" smtClean="0">
              <a:latin typeface="Courier New" pitchFamily="49" charset="0"/>
              <a:sym typeface="Symbol" pitchFamily="18" charset="2"/>
            </a:endParaRPr>
          </a:p>
        </p:txBody>
      </p:sp>
      <p:sp>
        <p:nvSpPr>
          <p:cNvPr id="105476" name="Text Box 4"/>
          <p:cNvSpPr txBox="1">
            <a:spLocks noChangeArrowheads="1"/>
          </p:cNvSpPr>
          <p:nvPr/>
        </p:nvSpPr>
        <p:spPr bwMode="auto">
          <a:xfrm>
            <a:off x="3581400" y="2635250"/>
            <a:ext cx="5391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b="1" i="1">
                <a:solidFill>
                  <a:srgbClr val="0033CC"/>
                </a:solidFill>
              </a:rPr>
              <a:t>How often is ExtractMin() called?</a:t>
            </a:r>
          </a:p>
          <a:p>
            <a:pPr>
              <a:spcBef>
                <a:spcPct val="0"/>
              </a:spcBef>
              <a:buClrTx/>
              <a:buFontTx/>
              <a:buNone/>
            </a:pPr>
            <a:r>
              <a:rPr kumimoji="0" lang="en-US" altLang="en-US" b="1" i="1">
                <a:solidFill>
                  <a:srgbClr val="0033CC"/>
                </a:solidFill>
              </a:rPr>
              <a:t>How often is DecreaseKey() called?</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ltLang="en-US" smtClean="0"/>
              <a:t>Review: Prim’s Algorithm</a:t>
            </a:r>
          </a:p>
        </p:txBody>
      </p:sp>
      <p:sp>
        <p:nvSpPr>
          <p:cNvPr id="106499" name="Rectangle 3"/>
          <p:cNvSpPr>
            <a:spLocks noGrp="1" noChangeArrowheads="1"/>
          </p:cNvSpPr>
          <p:nvPr>
            <p:ph idx="1"/>
          </p:nvPr>
        </p:nvSpPr>
        <p:spPr>
          <a:xfrm>
            <a:off x="381000" y="1676400"/>
            <a:ext cx="8255000" cy="5638800"/>
          </a:xfrm>
        </p:spPr>
        <p:txBody>
          <a:bodyPr/>
          <a:lstStyle/>
          <a:p>
            <a:pPr>
              <a:buFont typeface="Times New Roman" pitchFamily="18" charset="0"/>
              <a:buNone/>
            </a:pPr>
            <a:r>
              <a:rPr lang="en-US" altLang="en-US" sz="2000" b="1" smtClean="0">
                <a:latin typeface="Courier New" pitchFamily="49" charset="0"/>
              </a:rPr>
              <a:t>MST-Prim(G, w, r)</a:t>
            </a:r>
          </a:p>
          <a:p>
            <a:pPr>
              <a:buFont typeface="Times New Roman" pitchFamily="18" charset="0"/>
              <a:buNone/>
            </a:pPr>
            <a:r>
              <a:rPr lang="en-US" altLang="en-US" sz="2000" b="1" smtClean="0">
                <a:latin typeface="Courier New" pitchFamily="49" charset="0"/>
              </a:rPr>
              <a:t>    Q = V[G];</a:t>
            </a:r>
          </a:p>
          <a:p>
            <a:pPr>
              <a:buFont typeface="Times New Roman" pitchFamily="18" charset="0"/>
              <a:buNone/>
            </a:pPr>
            <a:r>
              <a:rPr lang="en-US" altLang="en-US" sz="2000" b="1" smtClean="0">
                <a:latin typeface="Courier New" pitchFamily="49" charset="0"/>
              </a:rPr>
              <a:t>    for each </a:t>
            </a:r>
            <a:r>
              <a:rPr lang="en-US" altLang="en-US" sz="2000" b="1" i="1" smtClean="0">
                <a:latin typeface="Courier New" pitchFamily="49" charset="0"/>
              </a:rPr>
              <a:t>u</a:t>
            </a:r>
            <a:r>
              <a:rPr lang="en-US" altLang="en-US" sz="2000" b="1" smtClean="0">
                <a:latin typeface="Courier New" pitchFamily="49" charset="0"/>
              </a:rPr>
              <a:t> </a:t>
            </a:r>
            <a:r>
              <a:rPr lang="en-US" altLang="en-US" sz="2000" b="1" smtClean="0">
                <a:latin typeface="Courier New" pitchFamily="49" charset="0"/>
                <a:sym typeface="Symbol" pitchFamily="18" charset="2"/>
              </a:rPr>
              <a:t> Q</a:t>
            </a:r>
          </a:p>
          <a:p>
            <a:pPr>
              <a:buFont typeface="Times New Roman" pitchFamily="18" charset="0"/>
              <a:buNone/>
            </a:pPr>
            <a:r>
              <a:rPr lang="en-US" altLang="en-US" sz="2000" b="1" smtClean="0">
                <a:latin typeface="Courier New" pitchFamily="49" charset="0"/>
                <a:sym typeface="Symbol" pitchFamily="18" charset="2"/>
              </a:rPr>
              <a:t>        key[u] = ;</a:t>
            </a:r>
          </a:p>
          <a:p>
            <a:pPr>
              <a:buFont typeface="Times New Roman" pitchFamily="18" charset="0"/>
              <a:buNone/>
            </a:pPr>
            <a:r>
              <a:rPr lang="en-US" altLang="en-US" sz="2000" b="1" smtClean="0">
                <a:latin typeface="Courier New" pitchFamily="49" charset="0"/>
                <a:sym typeface="Symbol" pitchFamily="18" charset="2"/>
              </a:rPr>
              <a:t>    key[r] = 0;</a:t>
            </a:r>
          </a:p>
          <a:p>
            <a:pPr>
              <a:buFont typeface="Times New Roman" pitchFamily="18" charset="0"/>
              <a:buNone/>
            </a:pPr>
            <a:r>
              <a:rPr lang="en-US" altLang="en-US" sz="2000" b="1" smtClean="0">
                <a:latin typeface="Courier New" pitchFamily="49" charset="0"/>
                <a:sym typeface="Symbol" pitchFamily="18" charset="2"/>
              </a:rPr>
              <a:t>    p[r] = NULL;</a:t>
            </a:r>
          </a:p>
          <a:p>
            <a:pPr>
              <a:buFont typeface="Times New Roman" pitchFamily="18" charset="0"/>
              <a:buNone/>
            </a:pPr>
            <a:r>
              <a:rPr lang="en-US" altLang="en-US" sz="2000" b="1" smtClean="0">
                <a:latin typeface="Courier New" pitchFamily="49" charset="0"/>
                <a:sym typeface="Symbol" pitchFamily="18" charset="2"/>
              </a:rPr>
              <a:t>    while (Q not empty)</a:t>
            </a:r>
          </a:p>
          <a:p>
            <a:pPr>
              <a:buFont typeface="Times New Roman" pitchFamily="18" charset="0"/>
              <a:buNone/>
            </a:pPr>
            <a:r>
              <a:rPr lang="en-US" altLang="en-US" sz="2000" b="1" smtClean="0">
                <a:latin typeface="Courier New" pitchFamily="49" charset="0"/>
                <a:sym typeface="Symbol" pitchFamily="18" charset="2"/>
              </a:rPr>
              <a:t>        u = ExtractMin(Q);</a:t>
            </a:r>
          </a:p>
          <a:p>
            <a:pPr>
              <a:buFont typeface="Times New Roman" pitchFamily="18" charset="0"/>
              <a:buNone/>
            </a:pPr>
            <a:r>
              <a:rPr lang="en-US" altLang="en-US" sz="2000" b="1" smtClean="0">
                <a:latin typeface="Courier New" pitchFamily="49" charset="0"/>
                <a:sym typeface="Symbol" pitchFamily="18" charset="2"/>
              </a:rPr>
              <a:t>        for each </a:t>
            </a:r>
            <a:r>
              <a:rPr lang="en-US" altLang="en-US" sz="2000" b="1" i="1" smtClean="0">
                <a:latin typeface="Courier New" pitchFamily="49" charset="0"/>
                <a:sym typeface="Symbol" pitchFamily="18" charset="2"/>
              </a:rPr>
              <a:t>v</a:t>
            </a:r>
            <a:r>
              <a:rPr lang="en-US" altLang="en-US" sz="2000" b="1" smtClean="0">
                <a:latin typeface="Courier New" pitchFamily="49" charset="0"/>
              </a:rPr>
              <a:t> </a:t>
            </a:r>
            <a:r>
              <a:rPr lang="en-US" altLang="en-US" sz="2000" b="1" smtClean="0">
                <a:latin typeface="Courier New" pitchFamily="49" charset="0"/>
                <a:sym typeface="Symbol" pitchFamily="18" charset="2"/>
              </a:rPr>
              <a:t> Adj[</a:t>
            </a:r>
            <a:r>
              <a:rPr lang="en-US" altLang="en-US" sz="2000" b="1" i="1" smtClean="0">
                <a:latin typeface="Courier New" pitchFamily="49" charset="0"/>
                <a:sym typeface="Symbol" pitchFamily="18" charset="2"/>
              </a:rPr>
              <a:t>u</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if (v</a:t>
            </a:r>
            <a:r>
              <a:rPr lang="en-US" altLang="en-US" sz="2000" b="1" smtClean="0">
                <a:latin typeface="Courier New" pitchFamily="49" charset="0"/>
              </a:rPr>
              <a:t> </a:t>
            </a:r>
            <a:r>
              <a:rPr lang="en-US" altLang="en-US" sz="2000" b="1" smtClean="0">
                <a:latin typeface="Courier New" pitchFamily="49" charset="0"/>
                <a:sym typeface="Symbol" pitchFamily="18" charset="2"/>
              </a:rPr>
              <a:t> Q and w(</a:t>
            </a:r>
            <a:r>
              <a:rPr lang="en-US" altLang="en-US" sz="2000" b="1" i="1" smtClean="0">
                <a:latin typeface="Courier New" pitchFamily="49" charset="0"/>
                <a:sym typeface="Symbol" pitchFamily="18" charset="2"/>
              </a:rPr>
              <a:t>u,v</a:t>
            </a:r>
            <a:r>
              <a:rPr lang="en-US" altLang="en-US" sz="2000" b="1" smtClean="0">
                <a:latin typeface="Courier New" pitchFamily="49" charset="0"/>
                <a:sym typeface="Symbol" pitchFamily="18" charset="2"/>
              </a:rPr>
              <a:t>) &lt; key[</a:t>
            </a:r>
            <a:r>
              <a:rPr lang="en-US" altLang="en-US" sz="2000" b="1" i="1" smtClean="0">
                <a:latin typeface="Courier New" pitchFamily="49" charset="0"/>
                <a:sym typeface="Symbol" pitchFamily="18" charset="2"/>
              </a:rPr>
              <a:t>v</a:t>
            </a:r>
            <a:r>
              <a:rPr lang="en-US" altLang="en-US" sz="2000" b="1" smtClean="0">
                <a:latin typeface="Courier New" pitchFamily="49" charset="0"/>
                <a:sym typeface="Symbol" pitchFamily="18" charset="2"/>
              </a:rPr>
              <a:t>])</a:t>
            </a:r>
          </a:p>
          <a:p>
            <a:pPr>
              <a:buFont typeface="Times New Roman" pitchFamily="18" charset="0"/>
              <a:buNone/>
            </a:pPr>
            <a:r>
              <a:rPr lang="en-US" altLang="en-US" sz="2000" b="1" smtClean="0">
                <a:latin typeface="Courier New" pitchFamily="49" charset="0"/>
                <a:sym typeface="Symbol" pitchFamily="18" charset="2"/>
              </a:rPr>
              <a:t>                p[v] = u;</a:t>
            </a:r>
          </a:p>
          <a:p>
            <a:pPr>
              <a:buFont typeface="Times New Roman" pitchFamily="18" charset="0"/>
              <a:buNone/>
            </a:pPr>
            <a:r>
              <a:rPr lang="en-US" altLang="en-US" sz="2000" b="1" smtClean="0">
                <a:latin typeface="Courier New" pitchFamily="49" charset="0"/>
                <a:sym typeface="Symbol" pitchFamily="18" charset="2"/>
              </a:rPr>
              <a:t>                key[v] = w(u,v);</a:t>
            </a:r>
          </a:p>
          <a:p>
            <a:pPr>
              <a:buFont typeface="Times New Roman" pitchFamily="18" charset="0"/>
              <a:buNone/>
            </a:pPr>
            <a:endParaRPr lang="en-US" altLang="en-US" sz="2000" b="1" smtClean="0">
              <a:latin typeface="Courier New" pitchFamily="49" charset="0"/>
              <a:sym typeface="Symbol" pitchFamily="18" charset="2"/>
            </a:endParaRPr>
          </a:p>
        </p:txBody>
      </p:sp>
      <p:sp>
        <p:nvSpPr>
          <p:cNvPr id="106500" name="Text Box 4"/>
          <p:cNvSpPr txBox="1">
            <a:spLocks noChangeArrowheads="1"/>
          </p:cNvSpPr>
          <p:nvPr/>
        </p:nvSpPr>
        <p:spPr bwMode="auto">
          <a:xfrm>
            <a:off x="4033838" y="2124075"/>
            <a:ext cx="49720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imes New Roman" pitchFamily="18" charset="0"/>
              </a:defRPr>
            </a:lvl1pPr>
            <a:lvl2pPr marL="742950" indent="-285750">
              <a:spcBef>
                <a:spcPct val="20000"/>
              </a:spcBef>
              <a:buClr>
                <a:srgbClr val="FF0000"/>
              </a:buClr>
              <a:buFont typeface="Wingdings" pitchFamily="2" charset="2"/>
              <a:buChar char="Q"/>
              <a:defRPr kumimoji="1" sz="2400" b="1">
                <a:solidFill>
                  <a:schemeClr val="tx1"/>
                </a:solidFill>
                <a:latin typeface="Times New Roman" pitchFamily="18" charset="0"/>
                <a:sym typeface="MT Extra" pitchFamily="18" charset="2"/>
              </a:defRPr>
            </a:lvl2pPr>
            <a:lvl3pPr marL="1143000" indent="-228600">
              <a:spcBef>
                <a:spcPct val="20000"/>
              </a:spcBef>
              <a:buClr>
                <a:srgbClr val="FF0000"/>
              </a:buClr>
              <a:buFont typeface="MT Extra" pitchFamily="18" charset="2"/>
              <a:buChar char="f"/>
              <a:defRPr kumimoji="1" sz="2000">
                <a:solidFill>
                  <a:schemeClr val="tx1"/>
                </a:solidFill>
                <a:latin typeface="Times New Roman" pitchFamily="18" charset="0"/>
              </a:defRPr>
            </a:lvl3pPr>
            <a:lvl4pPr marL="1600200" indent="-228600">
              <a:spcBef>
                <a:spcPct val="20000"/>
              </a:spcBef>
              <a:buClr>
                <a:srgbClr val="FF0000"/>
              </a:buClr>
              <a:buChar char="•"/>
              <a:defRPr kumimoji="1">
                <a:solidFill>
                  <a:schemeClr val="tx1"/>
                </a:solidFill>
                <a:latin typeface="Times New Roman" pitchFamily="18" charset="0"/>
              </a:defRPr>
            </a:lvl4pPr>
            <a:lvl5pPr marL="2057400" indent="-228600">
              <a:spcBef>
                <a:spcPct val="20000"/>
              </a:spcBef>
              <a:buClr>
                <a:srgbClr val="FF0000"/>
              </a:buClr>
              <a:buChar char="–"/>
              <a:defRPr kumimoji="1">
                <a:solidFill>
                  <a:schemeClr val="tx1"/>
                </a:solidFill>
                <a:latin typeface="Times New Roman"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itchFamily="18" charset="0"/>
              </a:defRPr>
            </a:lvl9pPr>
          </a:lstStyle>
          <a:p>
            <a:pPr>
              <a:spcBef>
                <a:spcPct val="0"/>
              </a:spcBef>
              <a:buClrTx/>
              <a:buFontTx/>
              <a:buNone/>
            </a:pPr>
            <a:r>
              <a:rPr kumimoji="0" lang="en-US" altLang="en-US" b="1" i="1">
                <a:solidFill>
                  <a:srgbClr val="0033CC"/>
                </a:solidFill>
              </a:rPr>
              <a:t>What will be the running time?</a:t>
            </a:r>
            <a:br>
              <a:rPr kumimoji="0" lang="en-US" altLang="en-US" b="1" i="1">
                <a:solidFill>
                  <a:srgbClr val="0033CC"/>
                </a:solidFill>
              </a:rPr>
            </a:br>
            <a:r>
              <a:rPr kumimoji="0" lang="en-US" altLang="en-US" b="1">
                <a:solidFill>
                  <a:srgbClr val="000000"/>
                </a:solidFill>
              </a:rPr>
              <a:t>A: Depends on queue</a:t>
            </a:r>
            <a:br>
              <a:rPr kumimoji="0" lang="en-US" altLang="en-US" b="1">
                <a:solidFill>
                  <a:srgbClr val="000000"/>
                </a:solidFill>
              </a:rPr>
            </a:br>
            <a:r>
              <a:rPr kumimoji="0" lang="en-US" altLang="en-US" b="1">
                <a:solidFill>
                  <a:srgbClr val="000000"/>
                </a:solidFill>
              </a:rPr>
              <a:t>  binary heap: O(E lg V)</a:t>
            </a:r>
            <a:br>
              <a:rPr kumimoji="0" lang="en-US" altLang="en-US" b="1">
                <a:solidFill>
                  <a:srgbClr val="000000"/>
                </a:solidFill>
              </a:rPr>
            </a:br>
            <a:r>
              <a:rPr kumimoji="0" lang="en-US" altLang="en-US" b="1">
                <a:solidFill>
                  <a:srgbClr val="000000"/>
                </a:solidFill>
              </a:rPr>
              <a:t>  Fibonacci heap: O(V lg V + E)</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a:xfrm>
            <a:off x="381000" y="152400"/>
            <a:ext cx="7620000" cy="685800"/>
          </a:xfrm>
        </p:spPr>
        <p:txBody>
          <a:bodyPr/>
          <a:lstStyle/>
          <a:p>
            <a:r>
              <a:rPr lang="en-US" altLang="en-US" dirty="0" smtClean="0"/>
              <a:t>Prim’s - Pseudocode</a:t>
            </a:r>
          </a:p>
        </p:txBody>
      </p:sp>
      <p:sp>
        <p:nvSpPr>
          <p:cNvPr id="107523" name="Content Placeholder 2"/>
          <p:cNvSpPr>
            <a:spLocks noGrp="1"/>
          </p:cNvSpPr>
          <p:nvPr>
            <p:ph idx="1"/>
          </p:nvPr>
        </p:nvSpPr>
        <p:spPr>
          <a:xfrm>
            <a:off x="381000" y="1143000"/>
            <a:ext cx="8255000" cy="5105400"/>
          </a:xfrm>
        </p:spPr>
        <p:txBody>
          <a:bodyPr/>
          <a:lstStyle/>
          <a:p>
            <a:r>
              <a:rPr lang="en-US" altLang="en-US" sz="2000" smtClean="0"/>
              <a:t>If implemented by binary min-heap then running time is same as Kruskal algorithm i.e. O(E log V)</a:t>
            </a:r>
          </a:p>
          <a:p>
            <a:r>
              <a:rPr lang="en-US" altLang="en-US" sz="2000" smtClean="0"/>
              <a:t>to perform lines 1–5 in O(V) time</a:t>
            </a:r>
          </a:p>
          <a:p>
            <a:r>
              <a:rPr lang="en-US" altLang="en-US" sz="2000" smtClean="0"/>
              <a:t>The body of the while loop executes |V| times, and since each EXTRACT-MIN operation takes O(log V)time, the total time for all calls to EXTRACT-MIN is O(V log V).</a:t>
            </a:r>
          </a:p>
          <a:p>
            <a:r>
              <a:rPr lang="en-US" altLang="en-US" sz="2000" smtClean="0"/>
              <a:t>The for loop in lines 8–11 executes O(E)times altogether, since the sum of the lengths of all adjacency lists is 2|E|.</a:t>
            </a:r>
          </a:p>
          <a:p>
            <a:r>
              <a:rPr lang="en-US" altLang="en-US" sz="2000" smtClean="0"/>
              <a:t>Within the for loop, we can implement the test for membership in Q in line 9 in constant time by keeping a bit for each vertex that tells whether or not it is in Q, and updating the bit when the vertex is removed from Q. The assignment in line 11 involves an implicit DECREASE-KEY operation on the min-heap, which a binary min-heap supports in O(log V)time. Thus, the total time for Prim’s algorithm  is O(V log V  + E log V) = O(E log V)</a:t>
            </a:r>
          </a:p>
          <a:p>
            <a:r>
              <a:rPr lang="en-US" altLang="en-US" sz="2000" smtClean="0"/>
              <a:t>IF IMPLEMENTED BY Fibonacci heap then it takes O(E + VlogV)</a:t>
            </a:r>
          </a:p>
          <a:p>
            <a:endParaRPr lang="en-US" altLang="en-US" sz="18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S364 CH04 Bz1">
  <a:themeElements>
    <a:clrScheme name="CS364 CH04 Bz1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CS364 CH04 Bz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S364 CH04 Bz1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S364 CH04 Bz1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S364 CH04 Bz1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364 CH04 Bz1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S364 CH04 Bz1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S364 CH04 Bz1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S364 CH04 Bz1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24734</TotalTime>
  <Words>5373</Words>
  <Application>Microsoft Office PowerPoint</Application>
  <PresentationFormat>On-screen Show (4:3)</PresentationFormat>
  <Paragraphs>1434</Paragraphs>
  <Slides>63</Slides>
  <Notes>50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63</vt:i4>
      </vt:variant>
    </vt:vector>
  </HeadingPairs>
  <TitlesOfParts>
    <vt:vector size="76" baseType="lpstr">
      <vt:lpstr>ＭＳ Ｐゴシック</vt:lpstr>
      <vt:lpstr>ＭＳ Ｐゴシック</vt:lpstr>
      <vt:lpstr>Arial</vt:lpstr>
      <vt:lpstr>Calibri</vt:lpstr>
      <vt:lpstr>Courier New</vt:lpstr>
      <vt:lpstr>Math B</vt:lpstr>
      <vt:lpstr>Microsoft Sans Serif</vt:lpstr>
      <vt:lpstr>MT Extra</vt:lpstr>
      <vt:lpstr>新細明體</vt:lpstr>
      <vt:lpstr>Symbol</vt:lpstr>
      <vt:lpstr>Times New Roman</vt:lpstr>
      <vt:lpstr>Wingdings</vt:lpstr>
      <vt:lpstr>CS364 CH04 Bz1</vt:lpstr>
      <vt:lpstr>PowerPoint Presentation</vt:lpstr>
      <vt:lpstr>Review: Graphs</vt:lpstr>
      <vt:lpstr>Review: Representing Graphs</vt:lpstr>
      <vt:lpstr>Review: Representing Graphs</vt:lpstr>
      <vt:lpstr>Graph Searching/ Traversals</vt:lpstr>
      <vt:lpstr>Spanning Tree</vt:lpstr>
      <vt:lpstr>Minimum Spanning Tree</vt:lpstr>
      <vt:lpstr>Minimum Spanning Tree</vt:lpstr>
      <vt:lpstr>Minimum Spanning Tree: Algorithms</vt:lpstr>
      <vt:lpstr>Kruskal’s Algorithm: Operations</vt:lpstr>
      <vt:lpstr>Kruskal’s Algorithm: Pseudocode</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 Complexity</vt:lpstr>
      <vt:lpstr>Kruskal’s Algorithm: Correctness</vt:lpstr>
      <vt:lpstr>Prim’s - Pseudocode</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Review: Prim’s Algorithm</vt:lpstr>
      <vt:lpstr>Review: Prim’s Algorithm</vt:lpstr>
      <vt:lpstr>Review: Prim’s Algorithm</vt:lpstr>
      <vt:lpstr>Review: Prim’s Algorithm</vt:lpstr>
      <vt:lpstr>Prim’s - Pseudocode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CS520 Advanced Analysis of Algorithms and Complexity</dc:title>
  <dc:creator>Ali</dc:creator>
  <cp:lastModifiedBy>Duaa</cp:lastModifiedBy>
  <cp:revision>1064</cp:revision>
  <cp:lastPrinted>1999-12-17T13:56:08Z</cp:lastPrinted>
  <dcterms:created xsi:type="dcterms:W3CDTF">1998-09-21T10:37:54Z</dcterms:created>
  <dcterms:modified xsi:type="dcterms:W3CDTF">2025-01-04T07:07:16Z</dcterms:modified>
</cp:coreProperties>
</file>