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34"/>
  </p:notesMasterIdLst>
  <p:handoutMasterIdLst>
    <p:handoutMasterId r:id="rId35"/>
  </p:handoutMasterIdLst>
  <p:sldIdLst>
    <p:sldId id="256" r:id="rId2"/>
    <p:sldId id="311" r:id="rId3"/>
    <p:sldId id="447" r:id="rId4"/>
    <p:sldId id="322" r:id="rId5"/>
    <p:sldId id="443" r:id="rId6"/>
    <p:sldId id="444" r:id="rId7"/>
    <p:sldId id="446" r:id="rId8"/>
    <p:sldId id="445" r:id="rId9"/>
    <p:sldId id="284" r:id="rId10"/>
    <p:sldId id="394" r:id="rId11"/>
    <p:sldId id="346" r:id="rId12"/>
    <p:sldId id="397" r:id="rId13"/>
    <p:sldId id="398" r:id="rId14"/>
    <p:sldId id="399" r:id="rId15"/>
    <p:sldId id="400" r:id="rId16"/>
    <p:sldId id="347" r:id="rId17"/>
    <p:sldId id="539" r:id="rId18"/>
    <p:sldId id="401" r:id="rId19"/>
    <p:sldId id="457" r:id="rId20"/>
    <p:sldId id="458" r:id="rId21"/>
    <p:sldId id="459" r:id="rId22"/>
    <p:sldId id="406" r:id="rId23"/>
    <p:sldId id="468" r:id="rId24"/>
    <p:sldId id="469" r:id="rId25"/>
    <p:sldId id="487" r:id="rId26"/>
    <p:sldId id="470" r:id="rId27"/>
    <p:sldId id="471" r:id="rId28"/>
    <p:sldId id="473" r:id="rId29"/>
    <p:sldId id="486" r:id="rId30"/>
    <p:sldId id="474" r:id="rId31"/>
    <p:sldId id="475" r:id="rId32"/>
    <p:sldId id="476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35" autoAdjust="0"/>
    <p:restoredTop sz="98428" autoAdjust="0"/>
  </p:normalViewPr>
  <p:slideViewPr>
    <p:cSldViewPr>
      <p:cViewPr varScale="1">
        <p:scale>
          <a:sx n="74" d="100"/>
          <a:sy n="7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C80B9-ECE8-47E4-8D60-BEE057477A46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1EDD7-A35A-45A0-8CFE-270616DDAA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200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B9EB4-21A7-47C0-B608-27DC32B1A8D8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DD212-DE0B-4624-BA6E-EE01586B6F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65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275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525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597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976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388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0092A9-0ED2-4117-8496-E72704460789}" type="slidenum">
              <a:rPr lang="en-US">
                <a:latin typeface="Arial" charset="0"/>
              </a:rPr>
              <a:pPr/>
              <a:t>31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11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68B36E-4E43-4E4E-A989-AD6CD82BC15C}" type="slidenum">
              <a:rPr lang="en-US">
                <a:latin typeface="Arial" charset="0"/>
              </a:rPr>
              <a:pPr/>
              <a:t>32</a:t>
            </a:fld>
            <a:endParaRPr lang="en-US">
              <a:latin typeface="Arial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0160" y="3474720"/>
            <a:ext cx="7040880" cy="3291840"/>
          </a:xfrm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Arial" charset="0"/>
            </a:endParaRPr>
          </a:p>
          <a:p>
            <a:pPr eaLnBrk="1" hangingPunct="1"/>
            <a:endParaRPr lang="en-US" dirty="0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99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M.Shoaib Farooq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3DCDF-3740-47EF-8EF8-F69210A20A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6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9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654175"/>
            <a:ext cx="8458200" cy="1470025"/>
          </a:xfrm>
        </p:spPr>
        <p:txBody>
          <a:bodyPr/>
          <a:lstStyle/>
          <a:p>
            <a:pPr algn="ctr"/>
            <a:r>
              <a:rPr lang="en-US" sz="3200" b="1" dirty="0" smtClean="0"/>
              <a:t>Data Structures and Algorithms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05200"/>
            <a:ext cx="8458200" cy="1752600"/>
          </a:xfrm>
        </p:spPr>
        <p:txBody>
          <a:bodyPr>
            <a:normAutofit/>
          </a:bodyPr>
          <a:lstStyle/>
          <a:p>
            <a:pPr algn="ctr"/>
            <a:r>
              <a:rPr lang="en-US" sz="2800" b="1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Instructor: </a:t>
            </a:r>
            <a:r>
              <a:rPr lang="en-US" sz="2800" b="1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Ms. Duaa-e-Nadeem</a:t>
            </a:r>
            <a:endParaRPr lang="en-US" sz="2800" b="1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sz="2800" b="1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Lecture# 01: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620000" cy="1143000"/>
          </a:xfrm>
        </p:spPr>
        <p:txBody>
          <a:bodyPr/>
          <a:lstStyle/>
          <a:p>
            <a:r>
              <a:rPr lang="en-US" sz="4000" dirty="0"/>
              <a:t>Algorithm </a:t>
            </a:r>
            <a:r>
              <a:rPr lang="en-US" sz="4000" dirty="0" smtClean="0"/>
              <a:t>Definition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001000" cy="2514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 algorithm is a step-by-step </a:t>
            </a:r>
            <a:r>
              <a:rPr lang="en-US" b="1" dirty="0">
                <a:solidFill>
                  <a:srgbClr val="FF0000"/>
                </a:solidFill>
              </a:rPr>
              <a:t>procedure for solving a particular </a:t>
            </a:r>
            <a:r>
              <a:rPr lang="en-US" b="1" dirty="0" smtClean="0">
                <a:solidFill>
                  <a:srgbClr val="FF0000"/>
                </a:solidFill>
              </a:rPr>
              <a:t>problem in a finite amount of time.</a:t>
            </a:r>
          </a:p>
          <a:p>
            <a:endParaRPr lang="en-US" dirty="0" smtClean="0"/>
          </a:p>
          <a:p>
            <a:r>
              <a:rPr lang="en-GB" dirty="0"/>
              <a:t>More generally, an </a:t>
            </a:r>
            <a:r>
              <a:rPr lang="en-GB" dirty="0" smtClean="0">
                <a:solidFill>
                  <a:srgbClr val="FF0000"/>
                </a:solidFill>
              </a:rPr>
              <a:t>algorithm</a:t>
            </a:r>
            <a:r>
              <a:rPr lang="en-GB" dirty="0" smtClean="0"/>
              <a:t> </a:t>
            </a:r>
            <a:r>
              <a:rPr lang="en-GB" dirty="0"/>
              <a:t>is any well defined computational procedure that takes collection of elements as </a:t>
            </a:r>
            <a:r>
              <a:rPr lang="en-GB" dirty="0">
                <a:solidFill>
                  <a:srgbClr val="FF0000"/>
                </a:solidFill>
              </a:rPr>
              <a:t>input</a:t>
            </a:r>
            <a:r>
              <a:rPr lang="en-GB" dirty="0">
                <a:solidFill>
                  <a:srgbClr val="D60093"/>
                </a:solidFill>
              </a:rPr>
              <a:t> </a:t>
            </a:r>
            <a:r>
              <a:rPr lang="en-GB" dirty="0"/>
              <a:t>and produces a collection of elements as </a:t>
            </a:r>
            <a:r>
              <a:rPr lang="en-GB" dirty="0">
                <a:solidFill>
                  <a:srgbClr val="FF0000"/>
                </a:solidFill>
              </a:rPr>
              <a:t>output.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33400" y="4267200"/>
            <a:ext cx="7696200" cy="1752600"/>
            <a:chOff x="609600" y="2514600"/>
            <a:chExt cx="7696200" cy="1752600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609600" y="3048000"/>
              <a:ext cx="112871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2400" dirty="0" smtClean="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Input</a:t>
              </a:r>
            </a:p>
            <a:p>
              <a:pPr algn="ctr"/>
              <a:r>
                <a:rPr kumimoji="1" lang="en-US" altLang="zh-TW" sz="2400" dirty="0" smtClean="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X</a:t>
              </a:r>
              <a:endParaRPr kumimoji="1" lang="en-US" altLang="zh-TW" sz="24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048000" y="2514600"/>
              <a:ext cx="2590800" cy="1752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TW" sz="2000" dirty="0">
                  <a:ea typeface="PMingLiU" pitchFamily="18" charset="-120"/>
                </a:rPr>
                <a:t>Some mysterious </a:t>
              </a:r>
            </a:p>
            <a:p>
              <a:pPr algn="ctr"/>
              <a:r>
                <a:rPr kumimoji="1" lang="en-US" altLang="zh-TW" sz="2000" dirty="0">
                  <a:ea typeface="PMingLiU" pitchFamily="18" charset="-120"/>
                </a:rPr>
                <a:t>processing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7023100" y="3048000"/>
              <a:ext cx="12827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2400" dirty="0" smtClean="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r>
                <a:rPr kumimoji="1" lang="en-US" altLang="zh-TW" sz="2400" dirty="0" smtClean="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Y = F(X)</a:t>
              </a:r>
              <a:endParaRPr kumimoji="1" lang="en-US" altLang="zh-TW" sz="24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048000" y="2514600"/>
              <a:ext cx="2590800" cy="1752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TW" sz="2800" b="1" dirty="0" smtClean="0">
                  <a:ea typeface="PMingLiU" pitchFamily="18" charset="-120"/>
                </a:rPr>
                <a:t>ALGORITHM</a:t>
              </a:r>
            </a:p>
            <a:p>
              <a:pPr algn="ctr">
                <a:lnSpc>
                  <a:spcPct val="150000"/>
                </a:lnSpc>
              </a:pPr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F: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400" dirty="0">
                  <a:latin typeface="Times New Roman"/>
                  <a:cs typeface="Times New Roman"/>
                </a:rPr>
                <a:t>→Y</a:t>
              </a:r>
              <a:endParaRPr kumimoji="1" lang="en-US" altLang="zh-TW" sz="2400" b="1" dirty="0">
                <a:ea typeface="PMingLiU" pitchFamily="18" charset="-120"/>
              </a:endParaRPr>
            </a:p>
          </p:txBody>
        </p:sp>
        <p:cxnSp>
          <p:nvCxnSpPr>
            <p:cNvPr id="10" name="Straight Arrow Connector 9"/>
            <p:cNvCxnSpPr>
              <a:endCxn id="7" idx="1"/>
            </p:cNvCxnSpPr>
            <p:nvPr/>
          </p:nvCxnSpPr>
          <p:spPr>
            <a:xfrm>
              <a:off x="1828800" y="3390900"/>
              <a:ext cx="1219200" cy="0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5638800" y="3429000"/>
              <a:ext cx="1219200" cy="0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620000" cy="1143000"/>
          </a:xfrm>
        </p:spPr>
        <p:txBody>
          <a:bodyPr/>
          <a:lstStyle/>
          <a:p>
            <a:r>
              <a:rPr lang="en-AU" sz="4000" dirty="0" smtClean="0"/>
              <a:t>Algorithm</a:t>
            </a:r>
            <a:r>
              <a:rPr lang="en-US" sz="4000" dirty="0" smtClean="0"/>
              <a:t> -- Examples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76200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dirty="0" smtClean="0"/>
              <a:t>Repairing a lamp</a:t>
            </a:r>
          </a:p>
          <a:p>
            <a:pPr>
              <a:lnSpc>
                <a:spcPct val="90000"/>
              </a:lnSpc>
            </a:pPr>
            <a:r>
              <a:rPr lang="en-AU" dirty="0" smtClean="0"/>
              <a:t>A cooking recipe</a:t>
            </a:r>
          </a:p>
          <a:p>
            <a:pPr>
              <a:lnSpc>
                <a:spcPct val="90000"/>
              </a:lnSpc>
            </a:pPr>
            <a:r>
              <a:rPr lang="en-AU" dirty="0" smtClean="0"/>
              <a:t>Calling a friend on the phone</a:t>
            </a:r>
          </a:p>
          <a:p>
            <a:pPr>
              <a:lnSpc>
                <a:spcPct val="90000"/>
              </a:lnSpc>
            </a:pPr>
            <a:r>
              <a:rPr lang="en-AU" dirty="0" smtClean="0"/>
              <a:t>The rules of how to play a game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AU" dirty="0" smtClean="0"/>
              <a:t>Directions for driving from A to B</a:t>
            </a:r>
          </a:p>
          <a:p>
            <a:pPr>
              <a:lnSpc>
                <a:spcPct val="90000"/>
              </a:lnSpc>
            </a:pPr>
            <a:r>
              <a:rPr lang="en-AU" dirty="0" smtClean="0"/>
              <a:t>A car repair manual</a:t>
            </a:r>
          </a:p>
          <a:p>
            <a:r>
              <a:rPr lang="en-US" dirty="0" smtClean="0"/>
              <a:t>Human </a:t>
            </a:r>
            <a:r>
              <a:rPr lang="en-US" dirty="0"/>
              <a:t>Brain Project</a:t>
            </a:r>
          </a:p>
          <a:p>
            <a:r>
              <a:rPr lang="en-US" dirty="0" smtClean="0"/>
              <a:t>Internet &amp;</a:t>
            </a:r>
            <a:r>
              <a:rPr lang="en-US" dirty="0"/>
              <a:t> Communication Links (Graph)</a:t>
            </a:r>
          </a:p>
          <a:p>
            <a:r>
              <a:rPr lang="en-US" dirty="0" smtClean="0"/>
              <a:t>Matrix Multiplication</a:t>
            </a:r>
            <a:endParaRPr lang="en-AU" dirty="0" smtClean="0"/>
          </a:p>
          <a:p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6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620000" cy="1143000"/>
          </a:xfrm>
        </p:spPr>
        <p:txBody>
          <a:bodyPr/>
          <a:lstStyle/>
          <a:p>
            <a:r>
              <a:rPr lang="en-US" sz="4000" dirty="0"/>
              <a:t>Algorithm </a:t>
            </a:r>
            <a:r>
              <a:rPr lang="en-US" sz="4000" dirty="0" smtClean="0"/>
              <a:t>vs. Program</a:t>
            </a:r>
            <a:endParaRPr lang="en-US" sz="4000" dirty="0"/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4800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 computer program is an instance, or concrete representation, for an algorithm in some programming </a:t>
            </a:r>
            <a:r>
              <a:rPr lang="en-US" b="1" dirty="0" smtClean="0">
                <a:solidFill>
                  <a:srgbClr val="FF0000"/>
                </a:solidFill>
              </a:rPr>
              <a:t>language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S</a:t>
            </a:r>
            <a:r>
              <a:rPr lang="th-TH" dirty="0" smtClean="0">
                <a:ea typeface="Cordia New"/>
              </a:rPr>
              <a:t>et </a:t>
            </a:r>
            <a:r>
              <a:rPr lang="th-TH" dirty="0">
                <a:ea typeface="Cordia New"/>
              </a:rPr>
              <a:t>of instructions </a:t>
            </a:r>
            <a:r>
              <a:rPr lang="th-TH" dirty="0" smtClean="0">
                <a:ea typeface="Cordia New"/>
              </a:rPr>
              <a:t>which the </a:t>
            </a:r>
            <a:r>
              <a:rPr lang="th-TH" dirty="0">
                <a:ea typeface="Cordia New"/>
              </a:rPr>
              <a:t>computer </a:t>
            </a:r>
            <a:r>
              <a:rPr lang="th-TH" dirty="0" smtClean="0">
                <a:ea typeface="Cordia New"/>
              </a:rPr>
              <a:t>follow</a:t>
            </a:r>
            <a:r>
              <a:rPr lang="en-US" dirty="0" smtClean="0">
                <a:ea typeface="Cordia New"/>
              </a:rPr>
              <a:t>s</a:t>
            </a:r>
            <a:r>
              <a:rPr lang="th-TH" dirty="0" smtClean="0">
                <a:ea typeface="Cordia New"/>
              </a:rPr>
              <a:t> </a:t>
            </a:r>
            <a:r>
              <a:rPr lang="th-TH" dirty="0">
                <a:ea typeface="Cordia New"/>
              </a:rPr>
              <a:t>to solve a problem</a:t>
            </a:r>
            <a:endParaRPr lang="en-US" b="1" dirty="0">
              <a:solidFill>
                <a:srgbClr val="FF0000"/>
              </a:solidFill>
            </a:endParaRPr>
          </a:p>
          <a:p>
            <a:pPr marL="114300" indent="0" eaLnBrk="1" hangingPunct="1">
              <a:buNone/>
            </a:pPr>
            <a:endParaRPr lang="en-US" sz="2400" b="1" dirty="0" smtClean="0"/>
          </a:p>
        </p:txBody>
      </p:sp>
      <p:grpSp>
        <p:nvGrpSpPr>
          <p:cNvPr id="36" name="Group 35"/>
          <p:cNvGrpSpPr/>
          <p:nvPr/>
        </p:nvGrpSpPr>
        <p:grpSpPr>
          <a:xfrm>
            <a:off x="527201" y="3261049"/>
            <a:ext cx="7168999" cy="3520751"/>
            <a:chOff x="228600" y="2956249"/>
            <a:chExt cx="7168999" cy="3520751"/>
          </a:xfrm>
        </p:grpSpPr>
        <p:graphicFrame>
          <p:nvGraphicFramePr>
            <p:cNvPr id="2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1644162"/>
                </p:ext>
              </p:extLst>
            </p:nvPr>
          </p:nvGraphicFramePr>
          <p:xfrm>
            <a:off x="1375718" y="3232219"/>
            <a:ext cx="1021215" cy="15606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43" name="Clip" r:id="rId3" imgW="1857600" imgH="3995640" progId="">
                    <p:embed/>
                  </p:oleObj>
                </mc:Choice>
                <mc:Fallback>
                  <p:oleObj name="Clip" r:id="rId3" imgW="1857600" imgH="399564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5718" y="3232219"/>
                          <a:ext cx="1021215" cy="156060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AutoShape 5"/>
            <p:cNvSpPr>
              <a:spLocks noChangeArrowheads="1"/>
            </p:cNvSpPr>
            <p:nvPr/>
          </p:nvSpPr>
          <p:spPr bwMode="auto">
            <a:xfrm>
              <a:off x="228601" y="2971800"/>
              <a:ext cx="1066800" cy="914400"/>
            </a:xfrm>
            <a:prstGeom prst="cloudCallout">
              <a:avLst>
                <a:gd name="adj1" fmla="val 44606"/>
                <a:gd name="adj2" fmla="val 53569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AU" sz="2400">
                <a:latin typeface="Arial" charset="0"/>
              </a:endParaRPr>
            </a:p>
          </p:txBody>
        </p:sp>
        <p:sp>
          <p:nvSpPr>
            <p:cNvPr id="25" name="Text Box 6"/>
            <p:cNvSpPr txBox="1">
              <a:spLocks noChangeArrowheads="1"/>
            </p:cNvSpPr>
            <p:nvPr/>
          </p:nvSpPr>
          <p:spPr bwMode="auto">
            <a:xfrm>
              <a:off x="228600" y="3181290"/>
              <a:ext cx="114711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>
                  <a:solidFill>
                    <a:schemeClr val="bg1"/>
                  </a:solidFill>
                </a:rPr>
                <a:t>Problem</a:t>
              </a:r>
              <a:endParaRPr lang="en-US" sz="2200" dirty="0">
                <a:solidFill>
                  <a:schemeClr val="bg1"/>
                </a:solidFill>
              </a:endParaRPr>
            </a:p>
          </p:txBody>
        </p:sp>
        <p:graphicFrame>
          <p:nvGraphicFramePr>
            <p:cNvPr id="2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9963533"/>
                </p:ext>
              </p:extLst>
            </p:nvPr>
          </p:nvGraphicFramePr>
          <p:xfrm>
            <a:off x="2208332" y="4915809"/>
            <a:ext cx="1684067" cy="1561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44" name="Clip" r:id="rId5" imgW="4016520" imgH="3945240" progId="">
                    <p:embed/>
                  </p:oleObj>
                </mc:Choice>
                <mc:Fallback>
                  <p:oleObj name="Clip" r:id="rId5" imgW="4016520" imgH="394524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332" y="4915809"/>
                          <a:ext cx="1684067" cy="156119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3886200" y="5553670"/>
              <a:ext cx="1981200" cy="92333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High </a:t>
              </a:r>
              <a:r>
                <a:rPr 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Level Language Program</a:t>
              </a:r>
              <a:endParaRPr lang="en-US" dirty="0">
                <a:solidFill>
                  <a:schemeClr val="bg1"/>
                </a:solidFill>
                <a:latin typeface="Arial" charset="0"/>
              </a:endParaRPr>
            </a:p>
          </p:txBody>
        </p:sp>
        <p:sp>
          <p:nvSpPr>
            <p:cNvPr id="29" name="AutoShape 10"/>
            <p:cNvSpPr>
              <a:spLocks noChangeArrowheads="1"/>
            </p:cNvSpPr>
            <p:nvPr/>
          </p:nvSpPr>
          <p:spPr bwMode="auto">
            <a:xfrm>
              <a:off x="4572000" y="4343400"/>
              <a:ext cx="539599" cy="1160506"/>
            </a:xfrm>
            <a:prstGeom prst="downArrow">
              <a:avLst>
                <a:gd name="adj1" fmla="val 50000"/>
                <a:gd name="adj2" fmla="val 103125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31" name="AutoShape 12"/>
            <p:cNvSpPr>
              <a:spLocks noChangeArrowheads="1"/>
            </p:cNvSpPr>
            <p:nvPr/>
          </p:nvSpPr>
          <p:spPr bwMode="auto">
            <a:xfrm>
              <a:off x="2368399" y="3536573"/>
              <a:ext cx="752178" cy="578227"/>
            </a:xfrm>
            <a:prstGeom prst="rightArrow">
              <a:avLst>
                <a:gd name="adj1" fmla="val 50000"/>
                <a:gd name="adj2" fmla="val 32500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32" name="Text Box 13"/>
            <p:cNvSpPr txBox="1">
              <a:spLocks noChangeArrowheads="1"/>
            </p:cNvSpPr>
            <p:nvPr/>
          </p:nvSpPr>
          <p:spPr bwMode="auto">
            <a:xfrm>
              <a:off x="3196777" y="3251537"/>
              <a:ext cx="3286422" cy="101566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Algorithm</a:t>
              </a:r>
              <a:r>
                <a:rPr lang="en-US" sz="2000" dirty="0">
                  <a:solidFill>
                    <a:schemeClr val="bg1"/>
                  </a:solidFill>
                  <a:latin typeface="Arial" charset="0"/>
                </a:rPr>
                <a:t>: A sequence of instructions describing how to do a task</a:t>
              </a:r>
            </a:p>
          </p:txBody>
        </p:sp>
        <p:graphicFrame>
          <p:nvGraphicFramePr>
            <p:cNvPr id="33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3620238"/>
                </p:ext>
              </p:extLst>
            </p:nvPr>
          </p:nvGraphicFramePr>
          <p:xfrm>
            <a:off x="6705600" y="2956249"/>
            <a:ext cx="691999" cy="19967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45" name="Clip" r:id="rId7" imgW="1295640" imgH="3934080" progId="">
                    <p:embed/>
                  </p:oleObj>
                </mc:Choice>
                <mc:Fallback>
                  <p:oleObj name="Clip" r:id="rId7" imgW="1295640" imgH="393408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5600" y="2956249"/>
                          <a:ext cx="691999" cy="199675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Solving Problems (1)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457200" y="1447800"/>
            <a:ext cx="8001000" cy="364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dirty="0">
                <a:latin typeface="+mn-lt"/>
              </a:rPr>
              <a:t>When faced with a </a:t>
            </a:r>
            <a:r>
              <a:rPr lang="en-US" sz="2400" dirty="0" smtClean="0">
                <a:latin typeface="+mn-lt"/>
              </a:rPr>
              <a:t>problem:</a:t>
            </a:r>
            <a:endParaRPr lang="en-US" sz="2200" dirty="0">
              <a:latin typeface="+mn-lt"/>
            </a:endParaRPr>
          </a:p>
          <a:p>
            <a:pPr lvl="1">
              <a:spcBef>
                <a:spcPts val="1800"/>
              </a:spcBef>
              <a:buFontTx/>
              <a:buAutoNum type="arabicPeriod"/>
            </a:pPr>
            <a:r>
              <a:rPr lang="en-US" sz="2200" dirty="0" smtClean="0">
                <a:latin typeface="+mn-lt"/>
              </a:rPr>
              <a:t>First </a:t>
            </a:r>
            <a:r>
              <a:rPr lang="en-US" sz="2200" dirty="0">
                <a:latin typeface="+mn-lt"/>
              </a:rPr>
              <a:t>clearly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define</a:t>
            </a:r>
            <a:r>
              <a:rPr lang="en-US" sz="2200" dirty="0">
                <a:latin typeface="+mn-lt"/>
              </a:rPr>
              <a:t> the </a:t>
            </a:r>
            <a:r>
              <a:rPr lang="en-US" sz="2200" dirty="0" smtClean="0">
                <a:latin typeface="+mn-lt"/>
              </a:rPr>
              <a:t>problem</a:t>
            </a:r>
          </a:p>
          <a:p>
            <a:pPr lvl="1">
              <a:spcBef>
                <a:spcPts val="1800"/>
              </a:spcBef>
              <a:buFontTx/>
              <a:buAutoNum type="arabicPeriod"/>
            </a:pPr>
            <a:r>
              <a:rPr lang="en-US" sz="2200" dirty="0" smtClean="0">
                <a:latin typeface="+mn-lt"/>
              </a:rPr>
              <a:t>Think </a:t>
            </a:r>
            <a:r>
              <a:rPr lang="en-US" sz="2200" dirty="0">
                <a:latin typeface="+mn-lt"/>
              </a:rPr>
              <a:t>of </a:t>
            </a:r>
            <a:r>
              <a:rPr lang="en-US" sz="2200" dirty="0">
                <a:solidFill>
                  <a:schemeClr val="tx2"/>
                </a:solidFill>
                <a:latin typeface="+mn-lt"/>
              </a:rPr>
              <a:t>possible </a:t>
            </a:r>
            <a:r>
              <a:rPr lang="en-US" sz="2200" dirty="0" smtClean="0">
                <a:solidFill>
                  <a:schemeClr val="tx2"/>
                </a:solidFill>
                <a:latin typeface="+mn-lt"/>
              </a:rPr>
              <a:t>solutions</a:t>
            </a:r>
          </a:p>
          <a:p>
            <a:pPr lvl="1">
              <a:spcBef>
                <a:spcPts val="1800"/>
              </a:spcBef>
              <a:buFontTx/>
              <a:buAutoNum type="arabicPeriod"/>
            </a:pP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Select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the one that </a:t>
            </a:r>
            <a:r>
              <a:rPr lang="en-US" sz="2200" dirty="0" smtClean="0">
                <a:latin typeface="+mn-lt"/>
              </a:rPr>
              <a:t>seems </a:t>
            </a: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the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best </a:t>
            </a:r>
            <a:r>
              <a:rPr lang="en-US" sz="2200" dirty="0">
                <a:latin typeface="+mn-lt"/>
              </a:rPr>
              <a:t>under the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prevailing</a:t>
            </a:r>
            <a:r>
              <a:rPr lang="en-US" sz="2200" dirty="0">
                <a:latin typeface="+mn-lt"/>
              </a:rPr>
              <a:t> circumstances</a:t>
            </a:r>
          </a:p>
          <a:p>
            <a:pPr lvl="1">
              <a:spcBef>
                <a:spcPts val="1800"/>
              </a:spcBef>
              <a:buFontTx/>
              <a:buAutoNum type="arabicPeriod"/>
            </a:pPr>
            <a:r>
              <a:rPr lang="en-US" sz="2200" dirty="0">
                <a:latin typeface="+mn-lt"/>
              </a:rPr>
              <a:t>And then </a:t>
            </a:r>
            <a:r>
              <a:rPr lang="en-US" sz="2200" dirty="0">
                <a:solidFill>
                  <a:schemeClr val="tx2"/>
                </a:solidFill>
                <a:latin typeface="+mn-lt"/>
              </a:rPr>
              <a:t>apply</a:t>
            </a:r>
            <a:r>
              <a:rPr lang="en-US" sz="2200" dirty="0">
                <a:latin typeface="+mn-lt"/>
              </a:rPr>
              <a:t> that solution</a:t>
            </a:r>
          </a:p>
          <a:p>
            <a:pPr lvl="1">
              <a:spcBef>
                <a:spcPts val="1800"/>
              </a:spcBef>
              <a:buFontTx/>
              <a:buAutoNum type="arabicPeriod"/>
            </a:pPr>
            <a:r>
              <a:rPr lang="en-US" sz="2200" dirty="0">
                <a:latin typeface="+mn-lt"/>
              </a:rPr>
              <a:t>If the solution </a:t>
            </a:r>
            <a:r>
              <a:rPr lang="en-US" sz="2200" dirty="0" smtClean="0">
                <a:latin typeface="+mn-lt"/>
              </a:rPr>
              <a:t>works </a:t>
            </a:r>
            <a:r>
              <a:rPr lang="en-US" sz="2200" dirty="0">
                <a:latin typeface="+mn-lt"/>
              </a:rPr>
              <a:t>as desired, fine; else </a:t>
            </a: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go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back to step 2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1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Solving Problems (2) 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457200" y="1421213"/>
            <a:ext cx="7848600" cy="33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It is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quite common</a:t>
            </a:r>
            <a:r>
              <a:rPr lang="en-US" sz="2200" dirty="0">
                <a:latin typeface="+mn-lt"/>
              </a:rPr>
              <a:t> to first solve a problem for a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particular case</a:t>
            </a:r>
          </a:p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Then for </a:t>
            </a:r>
            <a:r>
              <a:rPr lang="en-US" sz="2200" dirty="0">
                <a:solidFill>
                  <a:schemeClr val="tx2"/>
                </a:solidFill>
                <a:latin typeface="+mn-lt"/>
              </a:rPr>
              <a:t>another</a:t>
            </a:r>
          </a:p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And, possibly </a:t>
            </a:r>
            <a:r>
              <a:rPr lang="en-US" sz="2200" dirty="0">
                <a:solidFill>
                  <a:schemeClr val="tx2"/>
                </a:solidFill>
                <a:latin typeface="+mn-lt"/>
              </a:rPr>
              <a:t>another</a:t>
            </a:r>
          </a:p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And watch for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patterns and trends that emerge</a:t>
            </a:r>
          </a:p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And to use the knowledge </a:t>
            </a:r>
            <a:r>
              <a:rPr lang="en-US" sz="2200" dirty="0" smtClean="0">
                <a:latin typeface="+mn-lt"/>
              </a:rPr>
              <a:t>from these </a:t>
            </a:r>
            <a:r>
              <a:rPr lang="en-US" sz="2200" dirty="0">
                <a:latin typeface="+mn-lt"/>
              </a:rPr>
              <a:t>patterns and trends in coming up with a </a:t>
            </a:r>
            <a:r>
              <a:rPr lang="en-US" sz="2200" dirty="0">
                <a:solidFill>
                  <a:schemeClr val="tx2"/>
                </a:solidFill>
                <a:latin typeface="+mn-lt"/>
              </a:rPr>
              <a:t>general solution </a:t>
            </a:r>
          </a:p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  <a:latin typeface="+mn-lt"/>
              </a:rPr>
              <a:t>And this general solution is called …………….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24400" y="4343400"/>
            <a:ext cx="16764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rgbClr val="FF0000"/>
                </a:solidFill>
              </a:rPr>
              <a:t>“Algorithm”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49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79550"/>
            <a:ext cx="7924800" cy="47688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>
                <a:solidFill>
                  <a:srgbClr val="FF0000"/>
                </a:solidFill>
              </a:rPr>
              <a:t>Problem</a:t>
            </a:r>
          </a:p>
          <a:p>
            <a:pPr eaLnBrk="1" hangingPunct="1"/>
            <a:r>
              <a:rPr lang="en-GB" dirty="0"/>
              <a:t>The statement of the problem specifies, in general terms, the desired </a:t>
            </a:r>
            <a:r>
              <a:rPr lang="en-GB" dirty="0">
                <a:solidFill>
                  <a:srgbClr val="FF0000"/>
                </a:solidFill>
              </a:rPr>
              <a:t>input/output relationship.</a:t>
            </a:r>
          </a:p>
          <a:p>
            <a:pPr eaLnBrk="1" hangingPunct="1">
              <a:buFontTx/>
              <a:buNone/>
            </a:pPr>
            <a:r>
              <a:rPr lang="en-GB" dirty="0">
                <a:solidFill>
                  <a:srgbClr val="FF0000"/>
                </a:solidFill>
              </a:rPr>
              <a:t>Algorithm</a:t>
            </a:r>
          </a:p>
          <a:p>
            <a:pPr eaLnBrk="1" hangingPunct="1"/>
            <a:r>
              <a:rPr lang="en-GB" dirty="0"/>
              <a:t>The algorithm describes a specific computational procedure for achieving</a:t>
            </a:r>
            <a:r>
              <a:rPr lang="en-GB" dirty="0">
                <a:solidFill>
                  <a:srgbClr val="FF0000"/>
                </a:solidFill>
              </a:rPr>
              <a:t> input/output relationship.</a:t>
            </a:r>
          </a:p>
          <a:p>
            <a:pPr eaLnBrk="1" hangingPunct="1">
              <a:buFontTx/>
              <a:buNone/>
            </a:pPr>
            <a:r>
              <a:rPr lang="en-GB" dirty="0">
                <a:solidFill>
                  <a:srgbClr val="FF0000"/>
                </a:solidFill>
              </a:rPr>
              <a:t>Example</a:t>
            </a:r>
          </a:p>
          <a:p>
            <a:pPr eaLnBrk="1" hangingPunct="1"/>
            <a:r>
              <a:rPr lang="en-GB" dirty="0" smtClean="0"/>
              <a:t>Sorting </a:t>
            </a:r>
            <a:r>
              <a:rPr lang="en-GB" dirty="0"/>
              <a:t>a sequence of numbers into non-decreasing order.</a:t>
            </a:r>
          </a:p>
          <a:p>
            <a:pPr eaLnBrk="1" hangingPunct="1">
              <a:buFontTx/>
              <a:buNone/>
            </a:pPr>
            <a:r>
              <a:rPr lang="en-GB" dirty="0">
                <a:solidFill>
                  <a:srgbClr val="FF0000"/>
                </a:solidFill>
              </a:rPr>
              <a:t>Algorithms</a:t>
            </a:r>
          </a:p>
          <a:p>
            <a:pPr eaLnBrk="1" hangingPunct="1"/>
            <a:r>
              <a:rPr lang="en-GB" dirty="0"/>
              <a:t>Various algorithms e.g. </a:t>
            </a:r>
            <a:r>
              <a:rPr lang="en-GB" dirty="0">
                <a:solidFill>
                  <a:srgbClr val="FF0000"/>
                </a:solidFill>
              </a:rPr>
              <a:t>merge sort, quick sort, heap sorts etc.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1143001" y="3144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1" name="Rectangle 11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2" name="Rectangle 12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3" name="Rectangle 13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4" name="Rectangle 14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5" name="Text Box 16"/>
          <p:cNvSpPr txBox="1">
            <a:spLocks noChangeArrowheads="1"/>
          </p:cNvSpPr>
          <p:nvPr/>
        </p:nvSpPr>
        <p:spPr bwMode="auto">
          <a:xfrm>
            <a:off x="457200" y="511314"/>
            <a:ext cx="7848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GB" sz="40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One Problem, Many Algorithms</a:t>
            </a:r>
            <a:endParaRPr lang="en-US" sz="40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9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Problem Instances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153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sz="2400" dirty="0" smtClean="0"/>
              <a:t>An </a:t>
            </a:r>
            <a:r>
              <a:rPr lang="en-US" sz="2400" b="1" dirty="0" smtClean="0">
                <a:solidFill>
                  <a:srgbClr val="FF0000"/>
                </a:solidFill>
              </a:rPr>
              <a:t>input sequence </a:t>
            </a:r>
            <a:r>
              <a:rPr lang="en-US" sz="2400" dirty="0" smtClean="0"/>
              <a:t>is called an </a:t>
            </a:r>
            <a:r>
              <a:rPr lang="en-US" sz="2400" b="1" dirty="0" smtClean="0">
                <a:solidFill>
                  <a:srgbClr val="FF0000"/>
                </a:solidFill>
              </a:rPr>
              <a:t>instance of a Problem</a:t>
            </a:r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endParaRPr lang="sv-SE" sz="2400" dirty="0" smtClean="0"/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r>
              <a:rPr lang="sv-SE" sz="2400" dirty="0" smtClean="0"/>
              <a:t>A problem has many particular </a:t>
            </a:r>
            <a:r>
              <a:rPr lang="sv-SE" sz="2400" i="1" dirty="0" smtClean="0"/>
              <a:t>instances</a:t>
            </a:r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endParaRPr lang="sv-SE" sz="2400" i="1" dirty="0" smtClean="0"/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r>
              <a:rPr lang="sv-SE" sz="2400" dirty="0" smtClean="0"/>
              <a:t>An algorithm must </a:t>
            </a:r>
            <a:r>
              <a:rPr lang="sv-SE" sz="2400" b="1" dirty="0" smtClean="0">
                <a:solidFill>
                  <a:srgbClr val="FF0000"/>
                </a:solidFill>
              </a:rPr>
              <a:t>work correctly on all instances </a:t>
            </a:r>
            <a:r>
              <a:rPr lang="sv-SE" sz="2400" dirty="0" smtClean="0"/>
              <a:t>of the problem it claims to solve</a:t>
            </a:r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endParaRPr lang="sv-SE" sz="2400" dirty="0" smtClean="0"/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r>
              <a:rPr lang="sv-SE" sz="2400" dirty="0" smtClean="0"/>
              <a:t>Many interesting problems have infinitely many instances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sv-SE" dirty="0" smtClean="0"/>
              <a:t>Since computers are finite, we usually need to </a:t>
            </a:r>
            <a:r>
              <a:rPr lang="sv-SE" u="sng" dirty="0" smtClean="0"/>
              <a:t>limit the number and/or size of possible instances in this case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sv-SE" dirty="0" smtClean="0"/>
              <a:t>This restriction doesn’t prevent us from doing analysis in the abstract</a:t>
            </a:r>
            <a:endParaRPr lang="en-GB" dirty="0" smtClean="0"/>
          </a:p>
          <a:p>
            <a:pPr eaLnBrk="1" hangingPunct="1">
              <a:buFont typeface="Arial" charset="0"/>
              <a:buChar char="•"/>
              <a:defRPr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8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Properties of Algorithms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077200" cy="480060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It must be composed of </a:t>
            </a:r>
            <a:r>
              <a:rPr lang="en-US" dirty="0" smtClean="0"/>
              <a:t>an </a:t>
            </a:r>
            <a:r>
              <a:rPr lang="en-US" u="sng" dirty="0" smtClean="0">
                <a:solidFill>
                  <a:srgbClr val="FF0000"/>
                </a:solidFill>
              </a:rPr>
              <a:t>ordered sequence </a:t>
            </a:r>
            <a:r>
              <a:rPr lang="en-US" u="sng" dirty="0">
                <a:solidFill>
                  <a:srgbClr val="FF0000"/>
                </a:solidFill>
              </a:rPr>
              <a:t>of </a:t>
            </a:r>
            <a:r>
              <a:rPr lang="en-US" u="sng" dirty="0" smtClean="0">
                <a:solidFill>
                  <a:srgbClr val="FF0000"/>
                </a:solidFill>
              </a:rPr>
              <a:t>precise </a:t>
            </a:r>
            <a:r>
              <a:rPr lang="en-US" u="sng" dirty="0">
                <a:solidFill>
                  <a:srgbClr val="FF0000"/>
                </a:solidFill>
              </a:rPr>
              <a:t>steps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dirty="0" smtClean="0"/>
          </a:p>
          <a:p>
            <a:pPr>
              <a:spcBef>
                <a:spcPts val="1800"/>
              </a:spcBef>
            </a:pPr>
            <a:r>
              <a:rPr lang="en-US" dirty="0"/>
              <a:t>It must have </a:t>
            </a:r>
            <a:r>
              <a:rPr lang="en-US" u="sng" dirty="0">
                <a:solidFill>
                  <a:srgbClr val="FF0000"/>
                </a:solidFill>
              </a:rPr>
              <a:t>finite number of well-defined instructions </a:t>
            </a:r>
            <a:r>
              <a:rPr lang="en-US" u="sng" dirty="0" smtClean="0">
                <a:solidFill>
                  <a:srgbClr val="FF0000"/>
                </a:solidFill>
              </a:rPr>
              <a:t>/steps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spcBef>
                <a:spcPts val="1800"/>
              </a:spcBef>
            </a:pPr>
            <a:r>
              <a:rPr lang="en-US" dirty="0" smtClean="0"/>
              <a:t>The </a:t>
            </a:r>
            <a:r>
              <a:rPr lang="en-US" dirty="0"/>
              <a:t>execution sequence of instructions </a:t>
            </a:r>
            <a:r>
              <a:rPr lang="en-US" u="sng" dirty="0">
                <a:solidFill>
                  <a:srgbClr val="FF0000"/>
                </a:solidFill>
              </a:rPr>
              <a:t>should not be ambiguous</a:t>
            </a:r>
            <a:r>
              <a:rPr lang="en-US" dirty="0"/>
              <a:t>.</a:t>
            </a:r>
          </a:p>
          <a:p>
            <a:pPr eaLnBrk="1" hangingPunct="1">
              <a:spcBef>
                <a:spcPts val="1800"/>
              </a:spcBef>
            </a:pPr>
            <a:r>
              <a:rPr lang="en-US" dirty="0" smtClean="0"/>
              <a:t>It must be </a:t>
            </a:r>
            <a:r>
              <a:rPr lang="en-US" u="sng" dirty="0" smtClean="0">
                <a:solidFill>
                  <a:srgbClr val="FF0000"/>
                </a:solidFill>
              </a:rPr>
              <a:t>correct</a:t>
            </a:r>
            <a:r>
              <a:rPr lang="en-US" dirty="0" smtClean="0"/>
              <a:t>.</a:t>
            </a:r>
          </a:p>
          <a:p>
            <a:pPr eaLnBrk="1" hangingPunct="1">
              <a:spcBef>
                <a:spcPts val="1800"/>
              </a:spcBef>
            </a:pPr>
            <a:r>
              <a:rPr lang="en-US" dirty="0" smtClean="0"/>
              <a:t>It must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u="sng" dirty="0" smtClean="0">
                <a:solidFill>
                  <a:srgbClr val="FF0000"/>
                </a:solidFill>
              </a:rPr>
              <a:t>terminate</a:t>
            </a:r>
            <a:r>
              <a:rPr lang="en-US" dirty="0" smtClean="0"/>
              <a:t>.</a:t>
            </a:r>
          </a:p>
          <a:p>
            <a:pPr marL="114300" indent="0" eaLnBrk="1" hangingPunct="1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4114800" cy="46482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sz="2400" dirty="0" smtClean="0"/>
              <a:t>An algorithm is “</a:t>
            </a:r>
            <a:r>
              <a:rPr lang="en-US" sz="2400" dirty="0" smtClean="0">
                <a:solidFill>
                  <a:srgbClr val="FF0000"/>
                </a:solidFill>
              </a:rPr>
              <a:t>correct</a:t>
            </a:r>
            <a:r>
              <a:rPr lang="en-US" sz="2400" dirty="0" smtClean="0"/>
              <a:t>” if its:</a:t>
            </a:r>
          </a:p>
          <a:p>
            <a:pPr lvl="1" eaLnBrk="1" hangingPunct="1"/>
            <a:r>
              <a:rPr lang="en-US" sz="2200" dirty="0"/>
              <a:t>Semantics are correct</a:t>
            </a:r>
          </a:p>
          <a:p>
            <a:pPr lvl="1" eaLnBrk="1" hangingPunct="1"/>
            <a:r>
              <a:rPr lang="en-US" sz="2200" dirty="0"/>
              <a:t>Syntax is correct</a:t>
            </a:r>
          </a:p>
          <a:p>
            <a:pPr marL="114300" indent="0" eaLnBrk="1" hangingPunct="1">
              <a:buNone/>
            </a:pPr>
            <a:endParaRPr lang="en-US" sz="2000" dirty="0" smtClean="0"/>
          </a:p>
          <a:p>
            <a:pPr eaLnBrk="1" hangingPunct="1">
              <a:buFontTx/>
              <a:buNone/>
            </a:pPr>
            <a:r>
              <a:rPr lang="en-US" sz="2400" dirty="0" smtClean="0">
                <a:solidFill>
                  <a:schemeClr val="tx2"/>
                </a:solidFill>
              </a:rPr>
              <a:t>Semantics:</a:t>
            </a:r>
          </a:p>
          <a:p>
            <a:pPr lvl="1"/>
            <a:r>
              <a:rPr lang="en-US" sz="2200" dirty="0" smtClean="0"/>
              <a:t>The </a:t>
            </a:r>
            <a:r>
              <a:rPr lang="en-US" sz="2200" dirty="0">
                <a:solidFill>
                  <a:srgbClr val="FF0000"/>
                </a:solidFill>
              </a:rPr>
              <a:t>concept </a:t>
            </a:r>
            <a:r>
              <a:rPr lang="en-US" sz="2200" dirty="0"/>
              <a:t>embedded in </a:t>
            </a:r>
            <a:r>
              <a:rPr lang="en-US" sz="2200" dirty="0" smtClean="0"/>
              <a:t>an algorithm </a:t>
            </a:r>
            <a:r>
              <a:rPr lang="en-US" sz="2200" dirty="0"/>
              <a:t>(the </a:t>
            </a:r>
            <a:r>
              <a:rPr lang="en-US" sz="2200" dirty="0">
                <a:solidFill>
                  <a:srgbClr val="FF0000"/>
                </a:solidFill>
              </a:rPr>
              <a:t>soul</a:t>
            </a:r>
            <a:r>
              <a:rPr lang="en-US" sz="2200" dirty="0"/>
              <a:t>!)</a:t>
            </a:r>
          </a:p>
          <a:p>
            <a:pPr eaLnBrk="1" hangingPunct="1">
              <a:buFontTx/>
              <a:buNone/>
            </a:pPr>
            <a:endParaRPr lang="en-US" sz="2000" dirty="0"/>
          </a:p>
          <a:p>
            <a:pPr eaLnBrk="1" hangingPunct="1">
              <a:buFontTx/>
              <a:buNone/>
            </a:pPr>
            <a:r>
              <a:rPr lang="en-US" sz="2400" dirty="0" smtClean="0">
                <a:solidFill>
                  <a:schemeClr val="tx2"/>
                </a:solidFill>
              </a:rPr>
              <a:t>Syntax:</a:t>
            </a:r>
          </a:p>
          <a:p>
            <a:pPr lvl="1"/>
            <a:r>
              <a:rPr lang="en-US" sz="2200" dirty="0" smtClean="0"/>
              <a:t>The </a:t>
            </a:r>
            <a:r>
              <a:rPr lang="en-US" sz="2200" dirty="0"/>
              <a:t>actual </a:t>
            </a:r>
            <a:r>
              <a:rPr lang="en-US" sz="2200" dirty="0">
                <a:solidFill>
                  <a:srgbClr val="FF0000"/>
                </a:solidFill>
              </a:rPr>
              <a:t>representation </a:t>
            </a:r>
            <a:r>
              <a:rPr lang="en-US" sz="2200" dirty="0"/>
              <a:t>of an algorithm (the </a:t>
            </a:r>
            <a:r>
              <a:rPr lang="en-US" sz="2200" dirty="0">
                <a:solidFill>
                  <a:srgbClr val="FF0000"/>
                </a:solidFill>
              </a:rPr>
              <a:t>body</a:t>
            </a:r>
            <a:r>
              <a:rPr lang="en-US" sz="2200" dirty="0"/>
              <a:t>!)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4572000" y="1524000"/>
            <a:ext cx="3505200" cy="464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sz="2200" b="1" dirty="0">
                <a:solidFill>
                  <a:srgbClr val="FF0000"/>
                </a:solidFill>
                <a:latin typeface="+mn-lt"/>
              </a:rPr>
              <a:t>WARNINGS: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endParaRPr lang="en-US" sz="2200" b="1" dirty="0">
              <a:latin typeface="+mn-lt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An algorithm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can be syntactically correct, yet semantically incorrect – dangerous </a:t>
            </a: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situation!</a:t>
            </a:r>
            <a:endParaRPr lang="en-US" sz="2200" dirty="0">
              <a:latin typeface="+mn-lt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defRPr/>
            </a:pPr>
            <a:endParaRPr lang="en-US" sz="2200" dirty="0">
              <a:solidFill>
                <a:srgbClr val="FF0000"/>
              </a:solidFill>
              <a:latin typeface="+mn-lt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Syntactic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correctness is easier to check as compared to </a:t>
            </a: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semantic correctness</a:t>
            </a:r>
            <a:endParaRPr lang="en-US" sz="2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Syntax &amp; Semantics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38873199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33400"/>
            <a:ext cx="6386512" cy="6365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/>
              <a:t>Algorithm Summary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077200" cy="5181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 smtClean="0"/>
              <a:t>Problem Statement</a:t>
            </a:r>
          </a:p>
          <a:p>
            <a:pPr lvl="1" eaLnBrk="1" hangingPunct="1"/>
            <a:r>
              <a:rPr lang="en-US" sz="2200" dirty="0" smtClean="0"/>
              <a:t>Relationship b/w input and output</a:t>
            </a:r>
          </a:p>
          <a:p>
            <a:pPr eaLnBrk="1" hangingPunct="1"/>
            <a:endParaRPr lang="en-US" sz="1300" dirty="0" smtClean="0"/>
          </a:p>
          <a:p>
            <a:pPr eaLnBrk="1" hangingPunct="1"/>
            <a:r>
              <a:rPr lang="en-US" sz="2400" dirty="0" smtClean="0"/>
              <a:t>Algorithm</a:t>
            </a:r>
          </a:p>
          <a:p>
            <a:pPr lvl="1" eaLnBrk="1" hangingPunct="1"/>
            <a:r>
              <a:rPr lang="en-US" sz="2200" dirty="0" smtClean="0"/>
              <a:t>Procedure to achieve the relationship</a:t>
            </a:r>
          </a:p>
          <a:p>
            <a:pPr eaLnBrk="1" hangingPunct="1"/>
            <a:endParaRPr lang="en-US" sz="1300" dirty="0" smtClean="0"/>
          </a:p>
          <a:p>
            <a:pPr eaLnBrk="1" hangingPunct="1"/>
            <a:r>
              <a:rPr lang="en-US" sz="2400" dirty="0" smtClean="0"/>
              <a:t>Definition</a:t>
            </a:r>
          </a:p>
          <a:p>
            <a:pPr lvl="1" eaLnBrk="1" hangingPunct="1"/>
            <a:r>
              <a:rPr lang="en-US" sz="2200" dirty="0" smtClean="0"/>
              <a:t>A sequence of steps that transform the input to output</a:t>
            </a:r>
          </a:p>
          <a:p>
            <a:pPr eaLnBrk="1" hangingPunct="1"/>
            <a:endParaRPr lang="en-US" sz="1300" dirty="0" smtClean="0"/>
          </a:p>
          <a:p>
            <a:pPr eaLnBrk="1" hangingPunct="1"/>
            <a:r>
              <a:rPr lang="en-US" sz="2400" dirty="0" smtClean="0"/>
              <a:t>Instance</a:t>
            </a:r>
          </a:p>
          <a:p>
            <a:pPr lvl="1" eaLnBrk="1" hangingPunct="1"/>
            <a:r>
              <a:rPr lang="en-US" sz="2200" dirty="0" smtClean="0"/>
              <a:t>The input needed to compute solution</a:t>
            </a:r>
          </a:p>
          <a:p>
            <a:pPr eaLnBrk="1" hangingPunct="1"/>
            <a:endParaRPr lang="en-US" sz="1300" dirty="0" smtClean="0"/>
          </a:p>
          <a:p>
            <a:pPr eaLnBrk="1" hangingPunct="1"/>
            <a:r>
              <a:rPr lang="en-US" sz="2400" dirty="0" smtClean="0"/>
              <a:t>Correct Algorithm</a:t>
            </a:r>
          </a:p>
          <a:p>
            <a:pPr lvl="1" eaLnBrk="1" hangingPunct="1"/>
            <a:r>
              <a:rPr lang="en-US" sz="2200" dirty="0" smtClean="0"/>
              <a:t>for every input it halts with correct output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BA4165E-6474-4D2C-B1F0-D2ACD3B5A045}" type="slidenum">
              <a:rPr lang="en-US" smtClean="0"/>
              <a:pPr/>
              <a:t>11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2454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153400" cy="5334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The study of algorithms </a:t>
            </a:r>
            <a:r>
              <a:rPr lang="en-US" dirty="0" smtClean="0">
                <a:solidFill>
                  <a:srgbClr val="FF0000"/>
                </a:solidFill>
              </a:rPr>
              <a:t>began with mathematicians </a:t>
            </a:r>
            <a:r>
              <a:rPr lang="en-US" dirty="0" smtClean="0"/>
              <a:t>and was a significant area  of work in the early years. The </a:t>
            </a:r>
            <a:r>
              <a:rPr lang="en-US" dirty="0" smtClean="0">
                <a:solidFill>
                  <a:srgbClr val="FF0000"/>
                </a:solidFill>
              </a:rPr>
              <a:t>goal of those early studies </a:t>
            </a:r>
            <a:r>
              <a:rPr lang="en-US" dirty="0" smtClean="0"/>
              <a:t>was to find a single, general algorithm that could solve all problems of a </a:t>
            </a:r>
            <a:r>
              <a:rPr lang="en-US" dirty="0" smtClean="0">
                <a:solidFill>
                  <a:srgbClr val="FF0000"/>
                </a:solidFill>
              </a:rPr>
              <a:t>single type.</a:t>
            </a:r>
          </a:p>
          <a:p>
            <a:pPr eaLnBrk="1" hangingPunct="1"/>
            <a:endParaRPr lang="en-US" sz="20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dirty="0"/>
              <a:t>Named after 9th century Persian Muslim mathematician </a:t>
            </a:r>
            <a:endParaRPr lang="en-US" dirty="0" smtClean="0"/>
          </a:p>
          <a:p>
            <a:pPr marL="114300" indent="0"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u="sng" dirty="0" smtClean="0"/>
              <a:t>Abu </a:t>
            </a:r>
            <a:r>
              <a:rPr lang="en-US" u="sng" dirty="0"/>
              <a:t>Abdullah Muhammad ibn Musa </a:t>
            </a:r>
            <a:r>
              <a:rPr lang="en-US" u="sng" dirty="0" smtClean="0"/>
              <a:t>al-Khwarizmi</a:t>
            </a:r>
            <a:r>
              <a:rPr lang="en-US" dirty="0" smtClean="0"/>
              <a:t>  who </a:t>
            </a:r>
          </a:p>
          <a:p>
            <a:pPr marL="114300" indent="0"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 lived in Baghdad  </a:t>
            </a:r>
            <a:r>
              <a:rPr lang="en-US" dirty="0"/>
              <a:t>and worked at the </a:t>
            </a:r>
            <a:r>
              <a:rPr lang="en-US" dirty="0">
                <a:solidFill>
                  <a:srgbClr val="002060"/>
                </a:solidFill>
              </a:rPr>
              <a:t>Dar </a:t>
            </a:r>
            <a:r>
              <a:rPr lang="en-US" dirty="0" smtClean="0">
                <a:solidFill>
                  <a:srgbClr val="002060"/>
                </a:solidFill>
              </a:rPr>
              <a:t>al-</a:t>
            </a:r>
            <a:r>
              <a:rPr lang="en-US" dirty="0" err="1" smtClean="0">
                <a:solidFill>
                  <a:srgbClr val="002060"/>
                </a:solidFill>
              </a:rPr>
              <a:t>Hikma</a:t>
            </a:r>
            <a:endParaRPr lang="en-US" dirty="0" smtClean="0">
              <a:solidFill>
                <a:srgbClr val="002060"/>
              </a:solidFill>
            </a:endParaRPr>
          </a:p>
          <a:p>
            <a:pPr>
              <a:defRPr/>
            </a:pPr>
            <a:endParaRPr lang="en-US" sz="2800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dirty="0"/>
              <a:t>Dar al-</a:t>
            </a:r>
            <a:r>
              <a:rPr lang="en-US" dirty="0" err="1"/>
              <a:t>Hikma</a:t>
            </a:r>
            <a:r>
              <a:rPr lang="en-US" dirty="0"/>
              <a:t> acquired </a:t>
            </a:r>
            <a:r>
              <a:rPr lang="en-US" dirty="0" smtClean="0"/>
              <a:t>&amp; translated </a:t>
            </a:r>
            <a:r>
              <a:rPr lang="en-US" dirty="0"/>
              <a:t>books on science </a:t>
            </a:r>
            <a:r>
              <a:rPr lang="en-US" dirty="0" smtClean="0"/>
              <a:t>&amp; </a:t>
            </a:r>
            <a:r>
              <a:rPr lang="en-US" dirty="0"/>
              <a:t>philosophy, particularly those in Greek, as well as publishing original </a:t>
            </a:r>
            <a:r>
              <a:rPr lang="en-US" dirty="0" smtClean="0"/>
              <a:t>research.</a:t>
            </a:r>
            <a:endParaRPr lang="en-US" dirty="0"/>
          </a:p>
          <a:p>
            <a:pPr>
              <a:defRPr/>
            </a:pPr>
            <a:endParaRPr lang="en-US" sz="1400" dirty="0" smtClean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dirty="0"/>
              <a:t>The word </a:t>
            </a:r>
            <a:r>
              <a:rPr lang="en-US" i="1" dirty="0"/>
              <a:t>algorism </a:t>
            </a:r>
            <a:r>
              <a:rPr lang="en-US" dirty="0" smtClean="0"/>
              <a:t>originally referred only to the</a:t>
            </a:r>
            <a:r>
              <a:rPr lang="en-US" i="1" dirty="0" smtClean="0"/>
              <a:t> </a:t>
            </a:r>
            <a:r>
              <a:rPr lang="en-US" b="1" dirty="0">
                <a:solidFill>
                  <a:srgbClr val="FF0000"/>
                </a:solidFill>
              </a:rPr>
              <a:t>rules of performing arithmetic</a:t>
            </a:r>
            <a:r>
              <a:rPr lang="en-US" dirty="0"/>
              <a:t> using Hindu-Arabic </a:t>
            </a:r>
            <a:r>
              <a:rPr lang="en-US" dirty="0" smtClean="0"/>
              <a:t>numerals, but later </a:t>
            </a:r>
            <a:r>
              <a:rPr lang="en-US" dirty="0"/>
              <a:t>evolved to include all definite procedures for solving </a:t>
            </a:r>
            <a:r>
              <a:rPr lang="en-US" dirty="0" smtClean="0"/>
              <a:t>problems.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7620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Brief History</a:t>
            </a:r>
          </a:p>
        </p:txBody>
      </p:sp>
      <p:pic>
        <p:nvPicPr>
          <p:cNvPr id="7" name="Picture 10" descr="L:\cse1301.2000S2\Slides\Complete\lect02\Al-Khwarizmi_2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9000" y="2438400"/>
            <a:ext cx="1447800" cy="195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110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001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Al-Khwarizmi’s Golden Principle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7772400" cy="4876800"/>
          </a:xfrm>
        </p:spPr>
        <p:txBody>
          <a:bodyPr/>
          <a:lstStyle/>
          <a:p>
            <a:pPr marL="571500" indent="-571500">
              <a:buNone/>
            </a:pPr>
            <a:r>
              <a:rPr lang="en-US" dirty="0" smtClean="0">
                <a:solidFill>
                  <a:srgbClr val="002060"/>
                </a:solidFill>
              </a:rPr>
              <a:t>All complex problems can be and must be solved</a:t>
            </a:r>
          </a:p>
          <a:p>
            <a:pPr marL="571500" indent="-571500">
              <a:buNone/>
            </a:pPr>
            <a:r>
              <a:rPr lang="en-US" dirty="0" smtClean="0"/>
              <a:t>using the following simple steps:</a:t>
            </a:r>
          </a:p>
          <a:p>
            <a:pPr marL="571500" indent="-571500">
              <a:buNone/>
            </a:pPr>
            <a:endParaRPr lang="en-US" sz="2000" dirty="0"/>
          </a:p>
          <a:p>
            <a:pPr marL="571500" indent="-571500">
              <a:spcAft>
                <a:spcPct val="50000"/>
              </a:spcAft>
              <a:buFontTx/>
              <a:buAutoNum type="arabicPeriod"/>
            </a:pPr>
            <a:r>
              <a:rPr lang="en-US" dirty="0"/>
              <a:t>Break down the </a:t>
            </a:r>
            <a:r>
              <a:rPr lang="en-US" dirty="0" smtClean="0"/>
              <a:t>problem into small, simple </a:t>
            </a:r>
            <a:r>
              <a:rPr lang="en-US" dirty="0" smtClean="0">
                <a:solidFill>
                  <a:srgbClr val="002060"/>
                </a:solidFill>
              </a:rPr>
              <a:t>sub-problems</a:t>
            </a:r>
          </a:p>
          <a:p>
            <a:pPr marL="571500" indent="-571500">
              <a:spcAft>
                <a:spcPct val="50000"/>
              </a:spcAft>
              <a:buFontTx/>
              <a:buAutoNum type="arabicPeriod"/>
            </a:pPr>
            <a:r>
              <a:rPr lang="en-US" dirty="0"/>
              <a:t>Arrange the sub-problems in such an order that each of them can be solved without effecting any other</a:t>
            </a:r>
          </a:p>
          <a:p>
            <a:pPr marL="571500" indent="-571500">
              <a:spcAft>
                <a:spcPct val="50000"/>
              </a:spcAft>
              <a:buFontTx/>
              <a:buAutoNum type="arabicPeriod"/>
            </a:pPr>
            <a:r>
              <a:rPr lang="en-US" dirty="0"/>
              <a:t>Solve them separately, in the correct order</a:t>
            </a:r>
          </a:p>
          <a:p>
            <a:pPr marL="571500" indent="-571500">
              <a:spcAft>
                <a:spcPct val="50000"/>
              </a:spcAft>
              <a:buFontTx/>
              <a:buAutoNum type="arabicPeriod"/>
            </a:pPr>
            <a:r>
              <a:rPr lang="en-US" dirty="0" smtClean="0">
                <a:solidFill>
                  <a:srgbClr val="002060"/>
                </a:solidFill>
              </a:rPr>
              <a:t>Combine</a:t>
            </a:r>
            <a:r>
              <a:rPr lang="en-US" dirty="0" smtClean="0"/>
              <a:t> the solutions of the sub-problems to form the solution of the original problem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2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Why Algorithms are Useful?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47800"/>
            <a:ext cx="8058150" cy="4267200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Once we find an algorithm </a:t>
            </a:r>
            <a:r>
              <a:rPr lang="en-US" dirty="0" smtClean="0"/>
              <a:t>for solving a problem, we do not need to </a:t>
            </a:r>
            <a:r>
              <a:rPr lang="en-US" dirty="0" smtClean="0">
                <a:solidFill>
                  <a:srgbClr val="FF0000"/>
                </a:solidFill>
              </a:rPr>
              <a:t>re-discover</a:t>
            </a:r>
            <a:r>
              <a:rPr lang="en-US" dirty="0" smtClean="0"/>
              <a:t> it the </a:t>
            </a:r>
            <a:r>
              <a:rPr lang="en-US" dirty="0" smtClean="0">
                <a:solidFill>
                  <a:srgbClr val="FF0000"/>
                </a:solidFill>
              </a:rPr>
              <a:t>next time </a:t>
            </a:r>
            <a:r>
              <a:rPr lang="en-US" dirty="0" smtClean="0"/>
              <a:t>we are faced with  that problem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Once an algorithm is </a:t>
            </a:r>
            <a:r>
              <a:rPr lang="en-US" dirty="0" smtClean="0">
                <a:solidFill>
                  <a:schemeClr val="tx2"/>
                </a:solidFill>
              </a:rPr>
              <a:t>known</a:t>
            </a:r>
            <a:r>
              <a:rPr lang="en-US" dirty="0" smtClean="0"/>
              <a:t>, the task of solving the </a:t>
            </a:r>
            <a:r>
              <a:rPr lang="en-US" dirty="0" smtClean="0">
                <a:solidFill>
                  <a:srgbClr val="FF0000"/>
                </a:solidFill>
              </a:rPr>
              <a:t>problem reduces </a:t>
            </a:r>
            <a:r>
              <a:rPr lang="en-US" dirty="0" smtClean="0"/>
              <a:t>to following (almost </a:t>
            </a:r>
            <a:r>
              <a:rPr lang="en-US" dirty="0" smtClean="0">
                <a:solidFill>
                  <a:schemeClr val="tx2"/>
                </a:solidFill>
              </a:rPr>
              <a:t>blindly and without thinking</a:t>
            </a:r>
            <a:r>
              <a:rPr lang="en-US" dirty="0" smtClean="0"/>
              <a:t>) the instructions precisely 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All the knowledge </a:t>
            </a:r>
            <a:r>
              <a:rPr lang="en-US" dirty="0" smtClean="0"/>
              <a:t>required for solving the problem is </a:t>
            </a:r>
            <a:r>
              <a:rPr lang="en-US" dirty="0" smtClean="0">
                <a:solidFill>
                  <a:schemeClr val="tx2"/>
                </a:solidFill>
              </a:rPr>
              <a:t>present</a:t>
            </a:r>
            <a:r>
              <a:rPr lang="en-US" dirty="0" smtClean="0"/>
              <a:t> in the algorithm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62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01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Why Write an Algorithm Down?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7924800" cy="4114800"/>
          </a:xfrm>
        </p:spPr>
        <p:txBody>
          <a:bodyPr/>
          <a:lstStyle/>
          <a:p>
            <a:pPr eaLnBrk="1" hangingPunct="1"/>
            <a:r>
              <a:rPr lang="en-US" dirty="0" smtClean="0"/>
              <a:t>For your </a:t>
            </a:r>
            <a:r>
              <a:rPr lang="en-US" dirty="0" smtClean="0">
                <a:solidFill>
                  <a:srgbClr val="FF0000"/>
                </a:solidFill>
              </a:rPr>
              <a:t>own use in the future</a:t>
            </a:r>
            <a:r>
              <a:rPr lang="en-US" dirty="0" smtClean="0"/>
              <a:t>, so that you don’t have spend the time for </a:t>
            </a:r>
            <a:r>
              <a:rPr lang="en-US" dirty="0" smtClean="0">
                <a:solidFill>
                  <a:srgbClr val="FF0000"/>
                </a:solidFill>
              </a:rPr>
              <a:t>rethinking</a:t>
            </a:r>
            <a:r>
              <a:rPr lang="en-US" dirty="0" smtClean="0"/>
              <a:t> it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Written form is </a:t>
            </a:r>
            <a:r>
              <a:rPr lang="en-US" dirty="0" smtClean="0">
                <a:solidFill>
                  <a:schemeClr val="tx2"/>
                </a:solidFill>
              </a:rPr>
              <a:t>easier to modify and improve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Makes it easy when </a:t>
            </a:r>
            <a:r>
              <a:rPr lang="en-US" dirty="0" smtClean="0">
                <a:solidFill>
                  <a:srgbClr val="FF0000"/>
                </a:solidFill>
              </a:rPr>
              <a:t>explaining</a:t>
            </a:r>
            <a:r>
              <a:rPr lang="en-US" dirty="0" smtClean="0"/>
              <a:t> the process to others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061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Designing of Algorithms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153400" cy="5410200"/>
          </a:xfrm>
        </p:spPr>
        <p:txBody>
          <a:bodyPr>
            <a:normAutofit/>
          </a:bodyPr>
          <a:lstStyle/>
          <a:p>
            <a:r>
              <a:rPr lang="en-US" dirty="0"/>
              <a:t>Selecting the basic approaches to the solution of the problem</a:t>
            </a:r>
            <a:endParaRPr lang="en-GB" dirty="0" smtClean="0"/>
          </a:p>
          <a:p>
            <a:r>
              <a:rPr lang="en-US" dirty="0"/>
              <a:t>Choosing data </a:t>
            </a:r>
            <a:r>
              <a:rPr lang="en-US" dirty="0" smtClean="0"/>
              <a:t>structures</a:t>
            </a:r>
            <a:endParaRPr lang="en-GB" dirty="0" smtClean="0"/>
          </a:p>
          <a:p>
            <a:r>
              <a:rPr lang="en-GB" dirty="0" smtClean="0"/>
              <a:t>Putting the pieces of the puzzle together</a:t>
            </a:r>
            <a:endParaRPr lang="en-GB" dirty="0"/>
          </a:p>
          <a:p>
            <a:r>
              <a:rPr lang="en-US" dirty="0" smtClean="0"/>
              <a:t>Expressing and implementing the algorithm</a:t>
            </a:r>
          </a:p>
          <a:p>
            <a:pPr lvl="1"/>
            <a:r>
              <a:rPr lang="en-US" dirty="0" smtClean="0"/>
              <a:t>clearness, conciseness, effectiveness, etc.</a:t>
            </a:r>
          </a:p>
          <a:p>
            <a:pPr marL="411480" lvl="1" indent="0">
              <a:buNone/>
            </a:pPr>
            <a:endParaRPr lang="en-US" sz="1200" dirty="0" smtClean="0"/>
          </a:p>
          <a:p>
            <a:pPr marL="114300" indent="0">
              <a:buNone/>
            </a:pPr>
            <a:r>
              <a:rPr lang="en-US" dirty="0" smtClean="0"/>
              <a:t>Major Factors in Algorithms Design</a:t>
            </a:r>
          </a:p>
          <a:p>
            <a:r>
              <a:rPr lang="en-GB" altLang="en-US" dirty="0" smtClean="0">
                <a:solidFill>
                  <a:srgbClr val="FF00FF"/>
                </a:solidFill>
              </a:rPr>
              <a:t>Correctness: </a:t>
            </a:r>
            <a:r>
              <a:rPr lang="en-GB" altLang="en-US" dirty="0" smtClean="0"/>
              <a:t>An </a:t>
            </a:r>
            <a:r>
              <a:rPr lang="en-GB" altLang="en-US" dirty="0"/>
              <a:t>algorithm is said to be correct if </a:t>
            </a:r>
            <a:r>
              <a:rPr lang="en-GB" altLang="en-US" dirty="0" smtClean="0"/>
              <a:t>for </a:t>
            </a:r>
            <a:r>
              <a:rPr lang="en-GB" altLang="en-US" dirty="0"/>
              <a:t>every input, it halts with correct </a:t>
            </a:r>
            <a:r>
              <a:rPr lang="en-GB" altLang="en-US" dirty="0" smtClean="0"/>
              <a:t>output. An </a:t>
            </a:r>
            <a:r>
              <a:rPr lang="en-GB" altLang="en-US" dirty="0"/>
              <a:t>incorrect algorithm might not halt at all </a:t>
            </a:r>
            <a:r>
              <a:rPr lang="en-GB" altLang="en-US" dirty="0" smtClean="0"/>
              <a:t>OR it </a:t>
            </a:r>
            <a:r>
              <a:rPr lang="en-GB" altLang="en-US" dirty="0"/>
              <a:t>might halt with an answer other than desired </a:t>
            </a:r>
            <a:r>
              <a:rPr lang="en-GB" altLang="en-US" dirty="0" smtClean="0"/>
              <a:t>one. Correct </a:t>
            </a:r>
            <a:r>
              <a:rPr lang="en-GB" altLang="en-US" dirty="0"/>
              <a:t>algorithm solves a computational problem</a:t>
            </a:r>
          </a:p>
          <a:p>
            <a:r>
              <a:rPr lang="en-US" altLang="en-US" dirty="0" smtClean="0">
                <a:solidFill>
                  <a:srgbClr val="FF00FF"/>
                </a:solidFill>
              </a:rPr>
              <a:t>Algorithm Efficiency: </a:t>
            </a:r>
            <a:r>
              <a:rPr lang="en-US" altLang="en-US" dirty="0" smtClean="0"/>
              <a:t>Measuring </a:t>
            </a:r>
            <a:r>
              <a:rPr lang="en-US" altLang="en-US" dirty="0"/>
              <a:t>efficiency of an </a:t>
            </a:r>
            <a:r>
              <a:rPr lang="en-US" altLang="en-US" dirty="0" smtClean="0"/>
              <a:t>algorithm</a:t>
            </a:r>
            <a:endParaRPr lang="en-US" altLang="en-US" dirty="0"/>
          </a:p>
          <a:p>
            <a:pPr lvl="1"/>
            <a:r>
              <a:rPr lang="en-US" altLang="en-US" dirty="0"/>
              <a:t>do its analysis i.e. growth rate. </a:t>
            </a:r>
          </a:p>
          <a:p>
            <a:pPr lvl="1"/>
            <a:r>
              <a:rPr lang="en-US" altLang="en-US" dirty="0"/>
              <a:t>Compare efficiencies of different algorithms for the same problem. </a:t>
            </a:r>
            <a:endParaRPr lang="en-GB" altLang="en-US" dirty="0"/>
          </a:p>
          <a:p>
            <a:pPr marL="114300" indent="0"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2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Designing of Algorithms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1534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Most basic and popular algorithms are search and sort algorithms</a:t>
            </a:r>
          </a:p>
          <a:p>
            <a:r>
              <a:rPr lang="en-US" dirty="0" smtClean="0"/>
              <a:t>Which algorithm is the best?</a:t>
            </a:r>
          </a:p>
          <a:p>
            <a:r>
              <a:rPr lang="en-GB" dirty="0" smtClean="0"/>
              <a:t>Depends </a:t>
            </a:r>
            <a:r>
              <a:rPr lang="en-GB" dirty="0"/>
              <a:t>upon various </a:t>
            </a:r>
            <a:r>
              <a:rPr lang="en-GB" dirty="0" smtClean="0"/>
              <a:t>factors</a:t>
            </a:r>
            <a:r>
              <a:rPr lang="en-GB" dirty="0"/>
              <a:t>, for example in case of </a:t>
            </a:r>
            <a:r>
              <a:rPr lang="en-GB" dirty="0" smtClean="0">
                <a:solidFill>
                  <a:srgbClr val="FF0000"/>
                </a:solidFill>
              </a:rPr>
              <a:t>sorting</a:t>
            </a:r>
          </a:p>
          <a:p>
            <a:pPr lvl="1"/>
            <a:r>
              <a:rPr lang="en-GB" dirty="0"/>
              <a:t>The number of items to be sorted</a:t>
            </a:r>
          </a:p>
          <a:p>
            <a:pPr lvl="1"/>
            <a:r>
              <a:rPr lang="en-GB" dirty="0"/>
              <a:t>The extent to which the items are already sorted</a:t>
            </a:r>
          </a:p>
          <a:p>
            <a:pPr lvl="1"/>
            <a:r>
              <a:rPr lang="en-GB" dirty="0"/>
              <a:t>Possible restrictions on the item values</a:t>
            </a:r>
          </a:p>
          <a:p>
            <a:pPr lvl="1"/>
            <a:r>
              <a:rPr lang="en-GB" dirty="0"/>
              <a:t>The kind of storage device to be used etc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9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1143000"/>
          </a:xfrm>
        </p:spPr>
        <p:txBody>
          <a:bodyPr/>
          <a:lstStyle/>
          <a:p>
            <a:r>
              <a:rPr lang="en-US" sz="4000" dirty="0" smtClean="0"/>
              <a:t>Important Designing Techniques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7924800" cy="5410200"/>
          </a:xfrm>
        </p:spPr>
        <p:txBody>
          <a:bodyPr>
            <a:normAutofit/>
          </a:bodyPr>
          <a:lstStyle/>
          <a:p>
            <a:r>
              <a:rPr lang="en-US" b="1" dirty="0" smtClean="0"/>
              <a:t>Brute Force</a:t>
            </a:r>
            <a:r>
              <a:rPr lang="en-US" dirty="0" smtClean="0"/>
              <a:t>–Straightforward, naive approach–Mostly expensive</a:t>
            </a:r>
          </a:p>
          <a:p>
            <a:endParaRPr lang="en-US" sz="1400" b="1" dirty="0" smtClean="0"/>
          </a:p>
          <a:p>
            <a:r>
              <a:rPr lang="en-US" b="1" dirty="0" smtClean="0"/>
              <a:t>Divide-and-Conquer</a:t>
            </a:r>
            <a:r>
              <a:rPr lang="en-US" dirty="0" smtClean="0"/>
              <a:t> –Divide into smaller sub-problems</a:t>
            </a:r>
          </a:p>
          <a:p>
            <a:pPr lvl="1"/>
            <a:r>
              <a:rPr lang="en-US" dirty="0" err="1" smtClean="0"/>
              <a:t>e.g</a:t>
            </a:r>
            <a:r>
              <a:rPr lang="en-US" dirty="0" smtClean="0"/>
              <a:t> merge sort</a:t>
            </a:r>
          </a:p>
          <a:p>
            <a:endParaRPr lang="en-US" sz="1400" b="1" dirty="0" smtClean="0"/>
          </a:p>
          <a:p>
            <a:r>
              <a:rPr lang="en-US" b="1" dirty="0" smtClean="0"/>
              <a:t>Iterative Improvement</a:t>
            </a:r>
            <a:r>
              <a:rPr lang="en-US" dirty="0" smtClean="0"/>
              <a:t>–Improve one change at a time.</a:t>
            </a:r>
          </a:p>
          <a:p>
            <a:pPr lvl="1"/>
            <a:r>
              <a:rPr lang="en-US" dirty="0" err="1" smtClean="0"/>
              <a:t>e.g</a:t>
            </a:r>
            <a:r>
              <a:rPr lang="en-US" dirty="0" smtClean="0"/>
              <a:t> greedy algorithms</a:t>
            </a:r>
          </a:p>
          <a:p>
            <a:endParaRPr lang="en-US" sz="1400" b="1" dirty="0" smtClean="0"/>
          </a:p>
          <a:p>
            <a:r>
              <a:rPr lang="en-US" b="1" dirty="0" smtClean="0"/>
              <a:t>Decrease-and-Conquer</a:t>
            </a:r>
            <a:r>
              <a:rPr lang="en-US" dirty="0" smtClean="0"/>
              <a:t>–Decrease instance size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dirty="0" err="1" smtClean="0"/>
              <a:t>fibonacci</a:t>
            </a:r>
            <a:r>
              <a:rPr lang="en-US" dirty="0" smtClean="0"/>
              <a:t> sequence </a:t>
            </a:r>
            <a:endParaRPr lang="en-US" b="1" dirty="0" smtClean="0"/>
          </a:p>
          <a:p>
            <a:endParaRPr lang="en-US" sz="1400" b="1" dirty="0" smtClean="0"/>
          </a:p>
          <a:p>
            <a:r>
              <a:rPr lang="en-US" b="1" dirty="0" smtClean="0"/>
              <a:t>Transform-and-Conquer</a:t>
            </a:r>
            <a:r>
              <a:rPr lang="en-US" dirty="0" smtClean="0"/>
              <a:t>–Modify problem first and then solve it</a:t>
            </a:r>
          </a:p>
          <a:p>
            <a:pPr lvl="1"/>
            <a:r>
              <a:rPr lang="en-US" dirty="0" err="1" smtClean="0"/>
              <a:t>e.g</a:t>
            </a:r>
            <a:r>
              <a:rPr lang="en-US" dirty="0" smtClean="0"/>
              <a:t> repeating numbers in an array</a:t>
            </a:r>
          </a:p>
          <a:p>
            <a:endParaRPr lang="en-US" sz="1400" dirty="0" smtClean="0"/>
          </a:p>
          <a:p>
            <a:r>
              <a:rPr lang="en-US" b="1" dirty="0"/>
              <a:t>Dynamic </a:t>
            </a:r>
            <a:r>
              <a:rPr lang="en-US" b="1" dirty="0" smtClean="0"/>
              <a:t>programming</a:t>
            </a:r>
            <a:r>
              <a:rPr lang="en-US" dirty="0" smtClean="0"/>
              <a:t>–Dependent sub-problems, reuse results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5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Algorithm Efficiency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305800" cy="5410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sv-SE" dirty="0" smtClean="0"/>
              <a:t>Several possible algorithms  exist that can solve a particular problem</a:t>
            </a:r>
          </a:p>
          <a:p>
            <a:pPr lvl="1">
              <a:lnSpc>
                <a:spcPct val="90000"/>
              </a:lnSpc>
            </a:pPr>
            <a:r>
              <a:rPr lang="sv-SE" dirty="0" smtClean="0">
                <a:solidFill>
                  <a:srgbClr val="FF0000"/>
                </a:solidFill>
              </a:rPr>
              <a:t>each algorithm has a given </a:t>
            </a:r>
            <a:r>
              <a:rPr lang="sv-SE" i="1" dirty="0" smtClean="0">
                <a:solidFill>
                  <a:srgbClr val="FF0000"/>
                </a:solidFill>
              </a:rPr>
              <a:t>efficiency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compare </a:t>
            </a:r>
            <a:r>
              <a:rPr lang="en-US" dirty="0">
                <a:solidFill>
                  <a:srgbClr val="FF0000"/>
                </a:solidFill>
              </a:rPr>
              <a:t>efficiencies of different algorithms for the same problem</a:t>
            </a:r>
            <a:endParaRPr lang="sv-SE" i="1" dirty="0" smtClean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endParaRPr lang="sv-SE" sz="1000" dirty="0" smtClean="0"/>
          </a:p>
          <a:p>
            <a:pPr>
              <a:lnSpc>
                <a:spcPct val="90000"/>
              </a:lnSpc>
            </a:pPr>
            <a:r>
              <a:rPr lang="en-US" dirty="0"/>
              <a:t>The efficiency of an algorithm is a measure of the </a:t>
            </a:r>
            <a:r>
              <a:rPr lang="en-US" b="1" dirty="0">
                <a:solidFill>
                  <a:srgbClr val="FF0000"/>
                </a:solidFill>
              </a:rPr>
              <a:t>amount of resources consumed </a:t>
            </a:r>
            <a:r>
              <a:rPr lang="en-US" dirty="0"/>
              <a:t>in solving a problem of size </a:t>
            </a:r>
            <a:r>
              <a:rPr lang="en-US" dirty="0" smtClean="0"/>
              <a:t>n</a:t>
            </a:r>
            <a:endParaRPr lang="sv-SE" dirty="0" smtClean="0"/>
          </a:p>
          <a:p>
            <a:pPr lvl="1">
              <a:lnSpc>
                <a:spcPct val="90000"/>
              </a:lnSpc>
            </a:pPr>
            <a:r>
              <a:rPr lang="sv-SE" i="1" dirty="0">
                <a:solidFill>
                  <a:srgbClr val="FF0000"/>
                </a:solidFill>
              </a:rPr>
              <a:t>Running time </a:t>
            </a:r>
            <a:r>
              <a:rPr lang="sv-SE" dirty="0">
                <a:solidFill>
                  <a:srgbClr val="FF0000"/>
                </a:solidFill>
              </a:rPr>
              <a:t>(</a:t>
            </a:r>
            <a:r>
              <a:rPr lang="en-US" altLang="en-US" dirty="0">
                <a:solidFill>
                  <a:srgbClr val="FF0000"/>
                </a:solidFill>
              </a:rPr>
              <a:t>number of primitive steps that are executed)</a:t>
            </a:r>
            <a:endParaRPr lang="sv-SE" i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sv-SE" i="1" dirty="0">
                <a:solidFill>
                  <a:srgbClr val="FF0000"/>
                </a:solidFill>
              </a:rPr>
              <a:t>Memory/Space</a:t>
            </a:r>
          </a:p>
          <a:p>
            <a:pPr>
              <a:lnSpc>
                <a:spcPct val="90000"/>
              </a:lnSpc>
            </a:pPr>
            <a:endParaRPr lang="sv-SE" sz="1000" dirty="0" smtClean="0"/>
          </a:p>
          <a:p>
            <a:pPr>
              <a:lnSpc>
                <a:spcPct val="90000"/>
              </a:lnSpc>
            </a:pPr>
            <a:r>
              <a:rPr lang="en-US" altLang="en-US" dirty="0"/>
              <a:t>Analysis in the </a:t>
            </a:r>
            <a:r>
              <a:rPr lang="en-US" altLang="en-US" dirty="0">
                <a:solidFill>
                  <a:srgbClr val="FF0000"/>
                </a:solidFill>
              </a:rPr>
              <a:t>context of algorithms </a:t>
            </a:r>
            <a:r>
              <a:rPr lang="en-US" altLang="en-US" dirty="0"/>
              <a:t>is concerned with </a:t>
            </a:r>
            <a:r>
              <a:rPr lang="en-US" altLang="en-US" dirty="0">
                <a:solidFill>
                  <a:srgbClr val="FF0000"/>
                </a:solidFill>
              </a:rPr>
              <a:t>predicting the </a:t>
            </a:r>
            <a:r>
              <a:rPr lang="en-US" altLang="en-US" dirty="0" smtClean="0">
                <a:solidFill>
                  <a:srgbClr val="FF0000"/>
                </a:solidFill>
              </a:rPr>
              <a:t>required resources</a:t>
            </a:r>
            <a:endParaRPr lang="sv-SE" dirty="0" smtClean="0"/>
          </a:p>
          <a:p>
            <a:pPr lvl="1">
              <a:lnSpc>
                <a:spcPct val="90000"/>
              </a:lnSpc>
            </a:pPr>
            <a:endParaRPr lang="sv-SE" sz="1000" i="1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There are always tradeoffs between these two efficiencies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allow one to decrease the running time of an algorithm solution by increasing space to store and vice-versa</a:t>
            </a:r>
          </a:p>
          <a:p>
            <a:pPr lvl="1">
              <a:lnSpc>
                <a:spcPct val="90000"/>
              </a:lnSpc>
            </a:pPr>
            <a:endParaRPr lang="en-US" sz="1000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Time </a:t>
            </a:r>
            <a:r>
              <a:rPr lang="en-US" altLang="en-US" dirty="0" smtClean="0"/>
              <a:t>is </a:t>
            </a:r>
            <a:r>
              <a:rPr lang="en-US" altLang="en-US" dirty="0"/>
              <a:t>the resource of </a:t>
            </a:r>
            <a:r>
              <a:rPr lang="en-US" altLang="en-US" dirty="0">
                <a:solidFill>
                  <a:srgbClr val="FF0000"/>
                </a:solidFill>
              </a:rPr>
              <a:t>most</a:t>
            </a:r>
            <a:r>
              <a:rPr lang="en-US" altLang="en-US" dirty="0">
                <a:solidFill>
                  <a:srgbClr val="00FF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interest</a:t>
            </a:r>
          </a:p>
          <a:p>
            <a:pPr>
              <a:lnSpc>
                <a:spcPct val="90000"/>
              </a:lnSpc>
            </a:pPr>
            <a:endParaRPr lang="en-US" sz="1000" dirty="0" smtClean="0"/>
          </a:p>
          <a:p>
            <a:pPr>
              <a:lnSpc>
                <a:spcPct val="90000"/>
              </a:lnSpc>
            </a:pPr>
            <a:r>
              <a:rPr lang="en-US" altLang="en-US" dirty="0"/>
              <a:t>By </a:t>
            </a:r>
            <a:r>
              <a:rPr lang="en-US" altLang="en-US" dirty="0">
                <a:solidFill>
                  <a:schemeClr val="tx2"/>
                </a:solidFill>
              </a:rPr>
              <a:t>analyzing several candidate algorithms</a:t>
            </a:r>
            <a:r>
              <a:rPr lang="en-US" altLang="en-US" dirty="0"/>
              <a:t>, the most efficient one(s) can be </a:t>
            </a:r>
            <a:r>
              <a:rPr lang="en-US" altLang="en-US" dirty="0" smtClean="0">
                <a:solidFill>
                  <a:srgbClr val="FF0000"/>
                </a:solidFill>
              </a:rPr>
              <a:t>identified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8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Algorithm Efficiency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229600" cy="5562600"/>
          </a:xfrm>
        </p:spPr>
        <p:txBody>
          <a:bodyPr>
            <a:normAutofit lnSpcReduction="10000"/>
          </a:bodyPr>
          <a:lstStyle/>
          <a:p>
            <a:pPr marL="609600" indent="-609600">
              <a:buNone/>
            </a:pPr>
            <a:r>
              <a:rPr lang="en-US" altLang="en-US" dirty="0" smtClean="0"/>
              <a:t>  Two </a:t>
            </a:r>
            <a:r>
              <a:rPr lang="en-US" altLang="en-US" dirty="0"/>
              <a:t>goals for best design practices</a:t>
            </a:r>
            <a:r>
              <a:rPr lang="en-US" altLang="en-US" dirty="0" smtClean="0"/>
              <a:t>:</a:t>
            </a:r>
            <a:endParaRPr lang="en-US" altLang="en-US" dirty="0"/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en-US" altLang="en-US" dirty="0"/>
              <a:t>To design an algorithm that is easy to understand, code, debug.</a:t>
            </a:r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en-US" altLang="en-US" dirty="0"/>
              <a:t>To design an algorithm that makes efficient use of the computer’s </a:t>
            </a:r>
            <a:r>
              <a:rPr lang="en-US" altLang="en-US" dirty="0" smtClean="0"/>
              <a:t>resources.</a:t>
            </a:r>
            <a:endParaRPr lang="en-US" altLang="en-US" sz="2800" dirty="0" smtClean="0"/>
          </a:p>
          <a:p>
            <a:pPr marL="160020" indent="0">
              <a:lnSpc>
                <a:spcPct val="90000"/>
              </a:lnSpc>
              <a:buNone/>
            </a:pPr>
            <a:endParaRPr lang="en-US" altLang="en-US" sz="1100" dirty="0" smtClean="0"/>
          </a:p>
          <a:p>
            <a:pPr marL="160020" indent="0">
              <a:lnSpc>
                <a:spcPct val="90000"/>
              </a:lnSpc>
              <a:buNone/>
            </a:pPr>
            <a:r>
              <a:rPr lang="en-US" altLang="en-US" dirty="0" smtClean="0"/>
              <a:t>How </a:t>
            </a:r>
            <a:r>
              <a:rPr lang="en-US" altLang="en-US" dirty="0"/>
              <a:t>do we improve the time efficiency of a program</a:t>
            </a:r>
            <a:r>
              <a:rPr lang="en-US" altLang="en-US" dirty="0" smtClean="0"/>
              <a:t>?  </a:t>
            </a:r>
          </a:p>
          <a:p>
            <a:pPr marL="160020" indent="0">
              <a:lnSpc>
                <a:spcPct val="90000"/>
              </a:lnSpc>
              <a:buNone/>
            </a:pPr>
            <a:r>
              <a:rPr lang="en-US" altLang="en-US" b="1" u="sng" dirty="0" smtClean="0"/>
              <a:t>The 90/10 Rule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 dirty="0" smtClean="0"/>
              <a:t>90</a:t>
            </a:r>
            <a:r>
              <a:rPr lang="en-US" altLang="en-US" dirty="0"/>
              <a:t>% of the execution time of a program is spent </a:t>
            </a:r>
            <a:r>
              <a:rPr lang="en-US" altLang="en-US" dirty="0" smtClean="0"/>
              <a:t>in executing </a:t>
            </a:r>
            <a:r>
              <a:rPr lang="en-US" altLang="en-US" dirty="0"/>
              <a:t>10% of the </a:t>
            </a:r>
            <a:r>
              <a:rPr lang="en-US" altLang="en-US" dirty="0" smtClean="0"/>
              <a:t>code. So</a:t>
            </a:r>
            <a:r>
              <a:rPr lang="en-US" altLang="en-US" dirty="0"/>
              <a:t>, how do we locate the critical 10</a:t>
            </a:r>
            <a:r>
              <a:rPr lang="en-US" altLang="en-US" dirty="0" smtClean="0"/>
              <a:t>%?</a:t>
            </a:r>
          </a:p>
          <a:p>
            <a:pPr marL="1165860" lvl="2" indent="-342900">
              <a:lnSpc>
                <a:spcPct val="90000"/>
              </a:lnSpc>
            </a:pPr>
            <a:r>
              <a:rPr lang="en-US" altLang="en-US" dirty="0" smtClean="0"/>
              <a:t> </a:t>
            </a:r>
            <a:r>
              <a:rPr lang="en-US" altLang="en-US" dirty="0"/>
              <a:t>software metrics </a:t>
            </a:r>
            <a:r>
              <a:rPr lang="en-US" altLang="en-US" dirty="0" smtClean="0"/>
              <a:t>tools</a:t>
            </a:r>
          </a:p>
          <a:p>
            <a:pPr marL="1165860" lvl="2" indent="-342900">
              <a:lnSpc>
                <a:spcPct val="90000"/>
              </a:lnSpc>
            </a:pPr>
            <a:r>
              <a:rPr lang="en-US" altLang="en-US" dirty="0" smtClean="0"/>
              <a:t> </a:t>
            </a:r>
            <a:r>
              <a:rPr lang="en-US" altLang="en-US" dirty="0"/>
              <a:t>global counters to locate bottlenecks (loop executions,  function calls</a:t>
            </a:r>
            <a:r>
              <a:rPr lang="en-US" altLang="en-US" dirty="0" smtClean="0"/>
              <a:t>)</a:t>
            </a:r>
            <a:endParaRPr lang="en-US" altLang="en-US" dirty="0"/>
          </a:p>
          <a:p>
            <a:pPr marL="160020" indent="0">
              <a:lnSpc>
                <a:spcPct val="90000"/>
              </a:lnSpc>
              <a:buNone/>
            </a:pPr>
            <a:endParaRPr lang="en-US" altLang="en-US" sz="1100" dirty="0" smtClean="0"/>
          </a:p>
          <a:p>
            <a:pPr marL="160020" indent="0">
              <a:lnSpc>
                <a:spcPct val="90000"/>
              </a:lnSpc>
              <a:buNone/>
            </a:pPr>
            <a:r>
              <a:rPr lang="en-US" altLang="en-US" dirty="0" smtClean="0"/>
              <a:t>Time Efficiency improvement</a:t>
            </a:r>
          </a:p>
          <a:p>
            <a:pPr marL="502920" indent="-342900">
              <a:lnSpc>
                <a:spcPct val="90000"/>
              </a:lnSpc>
            </a:pPr>
            <a:r>
              <a:rPr lang="en-US" altLang="en-US" sz="2000" dirty="0" smtClean="0"/>
              <a:t>Good programming: </a:t>
            </a:r>
            <a:r>
              <a:rPr lang="en-US" altLang="en-US" sz="2000" dirty="0"/>
              <a:t>Move code </a:t>
            </a:r>
            <a:r>
              <a:rPr lang="en-US" altLang="en-US" sz="2000" b="1" dirty="0"/>
              <a:t>out of loops</a:t>
            </a:r>
            <a:r>
              <a:rPr lang="en-US" altLang="en-US" sz="2000" dirty="0"/>
              <a:t> that does not belong </a:t>
            </a:r>
            <a:r>
              <a:rPr lang="en-US" altLang="en-US" sz="2000" dirty="0" smtClean="0"/>
              <a:t>there</a:t>
            </a:r>
          </a:p>
          <a:p>
            <a:pPr marL="502920" indent="-342900">
              <a:lnSpc>
                <a:spcPct val="90000"/>
              </a:lnSpc>
            </a:pPr>
            <a:r>
              <a:rPr lang="en-US" altLang="en-US" sz="2000" dirty="0"/>
              <a:t>Remove any </a:t>
            </a:r>
            <a:r>
              <a:rPr lang="en-US" altLang="en-US" sz="2000" b="1" dirty="0"/>
              <a:t>unnecessary I/O</a:t>
            </a:r>
            <a:r>
              <a:rPr lang="en-US" altLang="en-US" sz="2000" dirty="0"/>
              <a:t> </a:t>
            </a:r>
            <a:r>
              <a:rPr lang="en-US" altLang="en-US" sz="2000" dirty="0" smtClean="0"/>
              <a:t>operations</a:t>
            </a:r>
          </a:p>
          <a:p>
            <a:pPr marL="502920" indent="-342900">
              <a:lnSpc>
                <a:spcPct val="90000"/>
              </a:lnSpc>
            </a:pPr>
            <a:r>
              <a:rPr lang="en-US" altLang="en-US" sz="2000" dirty="0"/>
              <a:t>Replace an inefficient algorithm (best solution</a:t>
            </a:r>
            <a:r>
              <a:rPr lang="en-US" altLang="en-US" sz="2000" dirty="0" smtClean="0"/>
              <a:t>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 smtClean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Moral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- Choose the most appropriate algorithm(s) BEFORE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/>
              <a:t>             program </a:t>
            </a:r>
            <a:r>
              <a:rPr lang="en-US" altLang="en-US" sz="2000" dirty="0" smtClean="0"/>
              <a:t>implementation</a:t>
            </a:r>
          </a:p>
          <a:p>
            <a:pPr marL="1165860" lvl="2" indent="-342900">
              <a:lnSpc>
                <a:spcPct val="90000"/>
              </a:lnSpc>
            </a:pPr>
            <a:endParaRPr lang="en-US" altLang="en-US" dirty="0"/>
          </a:p>
          <a:p>
            <a:pPr marL="1165860" lvl="2" indent="-342900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7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77962"/>
            <a:ext cx="7924800" cy="5151438"/>
          </a:xfrm>
        </p:spPr>
        <p:txBody>
          <a:bodyPr>
            <a:normAutofit fontScale="70000" lnSpcReduction="20000"/>
          </a:bodyPr>
          <a:lstStyle/>
          <a:p>
            <a:r>
              <a:rPr lang="en-US" sz="3100" dirty="0" smtClean="0"/>
              <a:t>The following three cases are investigated in algorithm analysis:</a:t>
            </a:r>
          </a:p>
          <a:p>
            <a:endParaRPr lang="en-US" sz="3400" dirty="0" smtClean="0"/>
          </a:p>
          <a:p>
            <a:r>
              <a:rPr lang="en-US" sz="3100" dirty="0" smtClean="0">
                <a:solidFill>
                  <a:srgbClr val="FF0000"/>
                </a:solidFill>
              </a:rPr>
              <a:t>A) Worst case: </a:t>
            </a:r>
            <a:r>
              <a:rPr lang="en-US" sz="3100" dirty="0" smtClean="0"/>
              <a:t>The worst outcome for any possible input</a:t>
            </a:r>
          </a:p>
          <a:p>
            <a:pPr lvl="1"/>
            <a:r>
              <a:rPr lang="sv-SE" sz="2900" dirty="0"/>
              <a:t>We often concentrate on this for our analysis as it provides a </a:t>
            </a:r>
            <a:r>
              <a:rPr lang="sv-SE" sz="2900" b="1" dirty="0">
                <a:solidFill>
                  <a:srgbClr val="FF0000"/>
                </a:solidFill>
              </a:rPr>
              <a:t>clear </a:t>
            </a:r>
            <a:r>
              <a:rPr lang="sv-SE" sz="2900" b="1" i="1" dirty="0">
                <a:solidFill>
                  <a:srgbClr val="FF0000"/>
                </a:solidFill>
              </a:rPr>
              <a:t>upper bound</a:t>
            </a:r>
            <a:r>
              <a:rPr lang="sv-SE" sz="2900" b="1" dirty="0">
                <a:solidFill>
                  <a:srgbClr val="FF0000"/>
                </a:solidFill>
              </a:rPr>
              <a:t> </a:t>
            </a:r>
            <a:r>
              <a:rPr lang="sv-SE" sz="2900" dirty="0"/>
              <a:t>of resources</a:t>
            </a:r>
            <a:endParaRPr lang="en-US" sz="2900" dirty="0" smtClean="0"/>
          </a:p>
          <a:p>
            <a:pPr lvl="1"/>
            <a:r>
              <a:rPr lang="en-US" sz="2900" dirty="0" smtClean="0"/>
              <a:t>an absolute guarantee</a:t>
            </a:r>
          </a:p>
          <a:p>
            <a:pPr marL="411480" lvl="1" indent="0">
              <a:buNone/>
            </a:pPr>
            <a:r>
              <a:rPr lang="en-US" sz="3200" dirty="0" smtClean="0"/>
              <a:t> </a:t>
            </a:r>
          </a:p>
          <a:p>
            <a:r>
              <a:rPr lang="en-US" sz="3100" dirty="0" smtClean="0">
                <a:solidFill>
                  <a:srgbClr val="FF0000"/>
                </a:solidFill>
              </a:rPr>
              <a:t>B) Average case: </a:t>
            </a:r>
            <a:r>
              <a:rPr lang="sv-SE" sz="3200" dirty="0" smtClean="0"/>
              <a:t>Measures </a:t>
            </a:r>
            <a:r>
              <a:rPr lang="sv-SE" sz="3200" dirty="0"/>
              <a:t>performance over the entire set of possible </a:t>
            </a:r>
            <a:r>
              <a:rPr lang="sv-SE" sz="3200" dirty="0" smtClean="0"/>
              <a:t>instances</a:t>
            </a:r>
            <a:endParaRPr lang="en-US" sz="3100" dirty="0" smtClean="0"/>
          </a:p>
          <a:p>
            <a:pPr lvl="2"/>
            <a:r>
              <a:rPr lang="en-US" altLang="en-US" sz="2900" dirty="0"/>
              <a:t>Very useful, but treat with care: what is “average”?</a:t>
            </a:r>
          </a:p>
          <a:p>
            <a:pPr lvl="2"/>
            <a:r>
              <a:rPr lang="en-US" altLang="en-US" sz="2900" dirty="0"/>
              <a:t>Random (equally likely) </a:t>
            </a:r>
            <a:r>
              <a:rPr lang="en-US" altLang="en-US" sz="2900" dirty="0" smtClean="0"/>
              <a:t>inputs vs. real-life </a:t>
            </a:r>
            <a:r>
              <a:rPr lang="en-US" altLang="en-US" sz="2900" dirty="0"/>
              <a:t>inputs</a:t>
            </a:r>
            <a:endParaRPr lang="en-US" sz="2900" dirty="0"/>
          </a:p>
          <a:p>
            <a:pPr lvl="1"/>
            <a:endParaRPr lang="en-US" sz="3200" dirty="0" smtClean="0"/>
          </a:p>
          <a:p>
            <a:r>
              <a:rPr lang="en-US" sz="3400" dirty="0" smtClean="0">
                <a:solidFill>
                  <a:srgbClr val="FF0000"/>
                </a:solidFill>
              </a:rPr>
              <a:t>C) </a:t>
            </a:r>
            <a:r>
              <a:rPr lang="en-US" sz="3100" dirty="0" smtClean="0">
                <a:solidFill>
                  <a:srgbClr val="FF0000"/>
                </a:solidFill>
              </a:rPr>
              <a:t>Best Case:</a:t>
            </a:r>
            <a:r>
              <a:rPr lang="en-US" sz="3100" dirty="0" smtClean="0"/>
              <a:t> </a:t>
            </a:r>
            <a:r>
              <a:rPr lang="en-US" sz="3100" dirty="0"/>
              <a:t>The </a:t>
            </a:r>
            <a:r>
              <a:rPr lang="en-US" sz="3100" dirty="0" smtClean="0"/>
              <a:t>best </a:t>
            </a:r>
            <a:r>
              <a:rPr lang="en-US" sz="3100" dirty="0"/>
              <a:t>outcome for any possible input</a:t>
            </a:r>
            <a:endParaRPr lang="en-US" sz="3100" dirty="0" smtClean="0"/>
          </a:p>
          <a:p>
            <a:pPr lvl="1"/>
            <a:r>
              <a:rPr lang="en-US" sz="2900" dirty="0"/>
              <a:t>provides </a:t>
            </a:r>
            <a:r>
              <a:rPr lang="en-US" sz="2900" dirty="0" smtClean="0"/>
              <a:t>lower </a:t>
            </a:r>
            <a:r>
              <a:rPr lang="en-US" sz="2900" dirty="0"/>
              <a:t>bound </a:t>
            </a:r>
            <a:r>
              <a:rPr lang="en-US" sz="2900" dirty="0" smtClean="0"/>
              <a:t>of resources</a:t>
            </a:r>
          </a:p>
          <a:p>
            <a:endParaRPr lang="en-US" sz="4100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20000" cy="1143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Analysis of Algorithms</a:t>
            </a:r>
            <a:endParaRPr lang="th-TH" sz="4000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854A68E7-A919-48BE-A51A-92AAC596598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5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4777"/>
            <a:ext cx="6318647" cy="4721223"/>
          </a:xfrm>
        </p:spPr>
        <p:txBody>
          <a:bodyPr/>
          <a:lstStyle/>
          <a:p>
            <a:pPr eaLnBrk="1" hangingPunct="1">
              <a:buClr>
                <a:srgbClr val="D60093"/>
              </a:buClr>
            </a:pPr>
            <a:r>
              <a:rPr lang="en-US" dirty="0">
                <a:solidFill>
                  <a:srgbClr val="FF0000"/>
                </a:solidFill>
              </a:rPr>
              <a:t>Problem</a:t>
            </a:r>
          </a:p>
          <a:p>
            <a:pPr eaLnBrk="1" hangingPunct="1">
              <a:buClr>
                <a:srgbClr val="D60093"/>
              </a:buClr>
            </a:pPr>
            <a:r>
              <a:rPr lang="en-US" dirty="0">
                <a:solidFill>
                  <a:srgbClr val="FF0000"/>
                </a:solidFill>
              </a:rPr>
              <a:t>Strategy</a:t>
            </a:r>
          </a:p>
          <a:p>
            <a:pPr eaLnBrk="1" hangingPunct="1">
              <a:buClr>
                <a:srgbClr val="D60093"/>
              </a:buClr>
            </a:pPr>
            <a:r>
              <a:rPr lang="en-US" dirty="0">
                <a:solidFill>
                  <a:srgbClr val="FF0000"/>
                </a:solidFill>
              </a:rPr>
              <a:t>Algorithm</a:t>
            </a:r>
          </a:p>
          <a:p>
            <a:pPr lvl="1" eaLnBrk="1" hangingPunct="1">
              <a:buClr>
                <a:schemeClr val="accent2"/>
              </a:buClr>
            </a:pPr>
            <a:r>
              <a:rPr lang="en-US" dirty="0" smtClean="0"/>
              <a:t>Input</a:t>
            </a:r>
          </a:p>
          <a:p>
            <a:pPr lvl="1" eaLnBrk="1" hangingPunct="1">
              <a:buClr>
                <a:schemeClr val="accent2"/>
              </a:buClr>
            </a:pPr>
            <a:r>
              <a:rPr lang="en-US" dirty="0" smtClean="0"/>
              <a:t>Output</a:t>
            </a:r>
          </a:p>
          <a:p>
            <a:pPr lvl="1" eaLnBrk="1" hangingPunct="1">
              <a:buClr>
                <a:schemeClr val="accent2"/>
              </a:buClr>
            </a:pPr>
            <a:r>
              <a:rPr lang="en-US" dirty="0" smtClean="0"/>
              <a:t>Steps</a:t>
            </a:r>
          </a:p>
          <a:p>
            <a:pPr eaLnBrk="1" hangingPunct="1">
              <a:buClr>
                <a:srgbClr val="D60093"/>
              </a:buClr>
            </a:pPr>
            <a:r>
              <a:rPr lang="en-US" dirty="0">
                <a:solidFill>
                  <a:srgbClr val="FF0000"/>
                </a:solidFill>
              </a:rPr>
              <a:t>Analysis</a:t>
            </a:r>
          </a:p>
          <a:p>
            <a:pPr lvl="1" eaLnBrk="1" hangingPunct="1">
              <a:buClr>
                <a:schemeClr val="accent2"/>
              </a:buClr>
            </a:pPr>
            <a:r>
              <a:rPr lang="en-US" dirty="0" smtClean="0"/>
              <a:t>Correctness</a:t>
            </a:r>
          </a:p>
          <a:p>
            <a:pPr lvl="1" eaLnBrk="1" hangingPunct="1">
              <a:buClr>
                <a:schemeClr val="accent2"/>
              </a:buClr>
            </a:pPr>
            <a:r>
              <a:rPr lang="en-US" dirty="0" smtClean="0"/>
              <a:t>Time &amp; Space Optimality</a:t>
            </a:r>
          </a:p>
          <a:p>
            <a:pPr eaLnBrk="1" hangingPunct="1">
              <a:buClr>
                <a:srgbClr val="D60093"/>
              </a:buClr>
            </a:pPr>
            <a:r>
              <a:rPr lang="en-US" dirty="0">
                <a:solidFill>
                  <a:srgbClr val="FF0000"/>
                </a:solidFill>
              </a:rPr>
              <a:t>Implementation</a:t>
            </a:r>
          </a:p>
          <a:p>
            <a:pPr eaLnBrk="1" hangingPunct="1">
              <a:buClr>
                <a:srgbClr val="D60093"/>
              </a:buClr>
            </a:pPr>
            <a:r>
              <a:rPr lang="en-US" dirty="0">
                <a:solidFill>
                  <a:srgbClr val="FF0000"/>
                </a:solidFill>
              </a:rPr>
              <a:t>Verification</a:t>
            </a:r>
          </a:p>
        </p:txBody>
      </p:sp>
      <p:sp>
        <p:nvSpPr>
          <p:cNvPr id="37892" name="Rectangle 7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893" name="Rectangle 8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894" name="Rectangle 9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895" name="Rectangle 10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896" name="Rectangle 11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897" name="Rectangle 12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898" name="Rectangle 13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899" name="Rectangle 14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900" name="Rectangle 15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901" name="Rectangle 16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902" name="Rectangle 17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903" name="Rectangle 18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904" name="Text Box 20"/>
          <p:cNvSpPr txBox="1">
            <a:spLocks noChangeArrowheads="1"/>
          </p:cNvSpPr>
          <p:nvPr/>
        </p:nvSpPr>
        <p:spPr bwMode="auto">
          <a:xfrm>
            <a:off x="304800" y="457200"/>
            <a:ext cx="6858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40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Problem Solving Process</a:t>
            </a:r>
            <a:endParaRPr lang="en-US" sz="40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8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620000" cy="1143000"/>
          </a:xfrm>
        </p:spPr>
        <p:txBody>
          <a:bodyPr/>
          <a:lstStyle/>
          <a:p>
            <a:pPr eaLnBrk="1" hangingPunct="1"/>
            <a:r>
              <a:rPr lang="en-AU" sz="4000" dirty="0" smtClean="0"/>
              <a:t>Components of an </a:t>
            </a:r>
            <a:r>
              <a:rPr lang="en-US" sz="4000" dirty="0" smtClean="0"/>
              <a:t>A</a:t>
            </a:r>
            <a:r>
              <a:rPr lang="en-AU" sz="4000" dirty="0" err="1" smtClean="0"/>
              <a:t>lgorithm</a:t>
            </a:r>
            <a:endParaRPr lang="en-AU" sz="4000" dirty="0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7620000" cy="4800600"/>
          </a:xfrm>
        </p:spPr>
        <p:txBody>
          <a:bodyPr/>
          <a:lstStyle/>
          <a:p>
            <a:pPr eaLnBrk="1" hangingPunct="1"/>
            <a:r>
              <a:rPr lang="en-AU" dirty="0" smtClean="0"/>
              <a:t>Variables and values</a:t>
            </a:r>
          </a:p>
          <a:p>
            <a:pPr eaLnBrk="1" hangingPunct="1"/>
            <a:r>
              <a:rPr lang="en-AU" dirty="0" smtClean="0"/>
              <a:t>Instructions</a:t>
            </a:r>
          </a:p>
          <a:p>
            <a:pPr eaLnBrk="1" hangingPunct="1"/>
            <a:r>
              <a:rPr lang="en-AU" dirty="0" smtClean="0"/>
              <a:t>Sequences</a:t>
            </a:r>
          </a:p>
          <a:p>
            <a:pPr eaLnBrk="1" hangingPunct="1"/>
            <a:r>
              <a:rPr lang="en-AU" dirty="0" smtClean="0"/>
              <a:t>Selections</a:t>
            </a:r>
          </a:p>
          <a:p>
            <a:pPr eaLnBrk="1" hangingPunct="1"/>
            <a:r>
              <a:rPr lang="en-AU" dirty="0" smtClean="0"/>
              <a:t>Repetition</a:t>
            </a:r>
            <a:r>
              <a:rPr lang="en-US" dirty="0" smtClean="0"/>
              <a:t>s</a:t>
            </a:r>
          </a:p>
          <a:p>
            <a:pPr eaLnBrk="1" hangingPunct="1"/>
            <a:endParaRPr lang="en-AU" dirty="0" smtClean="0"/>
          </a:p>
          <a:p>
            <a:pPr marL="114300" indent="0" eaLnBrk="1" hangingPunct="1">
              <a:buNone/>
            </a:pPr>
            <a:endParaRPr lang="en-AU" i="1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3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Instruction and Sequence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229600" cy="5257800"/>
          </a:xfrm>
        </p:spPr>
        <p:txBody>
          <a:bodyPr>
            <a:normAutofit/>
          </a:bodyPr>
          <a:lstStyle/>
          <a:p>
            <a:r>
              <a:rPr lang="sv-SE" dirty="0" smtClean="0"/>
              <a:t>A linear sequence of elementary operations is also </a:t>
            </a:r>
            <a:r>
              <a:rPr lang="sv-SE" b="1" dirty="0" smtClean="0"/>
              <a:t>performed in constant time</a:t>
            </a:r>
            <a:r>
              <a:rPr lang="sv-SE" dirty="0" smtClean="0"/>
              <a:t>.</a:t>
            </a:r>
          </a:p>
          <a:p>
            <a:r>
              <a:rPr lang="sv-SE" dirty="0" smtClean="0"/>
              <a:t>More generally, given two program fragments P</a:t>
            </a:r>
            <a:r>
              <a:rPr lang="sv-SE" baseline="-25000" dirty="0" smtClean="0"/>
              <a:t>1</a:t>
            </a:r>
            <a:r>
              <a:rPr lang="sv-SE" dirty="0" smtClean="0"/>
              <a:t> and P</a:t>
            </a:r>
            <a:r>
              <a:rPr lang="sv-SE" baseline="-25000" dirty="0" smtClean="0"/>
              <a:t>2</a:t>
            </a:r>
            <a:r>
              <a:rPr lang="sv-SE" dirty="0" smtClean="0"/>
              <a:t> which run sequentially in times </a:t>
            </a:r>
            <a:r>
              <a:rPr lang="sv-SE" i="1" dirty="0" smtClean="0"/>
              <a:t>t</a:t>
            </a:r>
            <a:r>
              <a:rPr lang="sv-SE" baseline="-25000" dirty="0" smtClean="0"/>
              <a:t>1</a:t>
            </a:r>
            <a:r>
              <a:rPr lang="sv-SE" dirty="0" smtClean="0"/>
              <a:t> and </a:t>
            </a:r>
            <a:r>
              <a:rPr lang="sv-SE" i="1" dirty="0" smtClean="0"/>
              <a:t>t</a:t>
            </a:r>
            <a:r>
              <a:rPr lang="sv-SE" baseline="-25000" dirty="0" smtClean="0"/>
              <a:t>2</a:t>
            </a:r>
          </a:p>
          <a:p>
            <a:pPr lvl="1"/>
            <a:r>
              <a:rPr lang="sv-SE" dirty="0" smtClean="0"/>
              <a:t>use the </a:t>
            </a:r>
            <a:r>
              <a:rPr lang="sv-SE" b="1" dirty="0" smtClean="0">
                <a:solidFill>
                  <a:srgbClr val="FF0000"/>
                </a:solidFill>
              </a:rPr>
              <a:t>maximum rule </a:t>
            </a:r>
            <a:r>
              <a:rPr lang="sv-SE" dirty="0" smtClean="0"/>
              <a:t>which states that the larger time dominates</a:t>
            </a:r>
          </a:p>
          <a:p>
            <a:pPr lvl="1"/>
            <a:r>
              <a:rPr lang="sv-SE" dirty="0" smtClean="0"/>
              <a:t>complexity will be max(t</a:t>
            </a:r>
            <a:r>
              <a:rPr lang="sv-SE" baseline="-25000" dirty="0" smtClean="0"/>
              <a:t>1</a:t>
            </a:r>
            <a:r>
              <a:rPr lang="sv-SE" dirty="0" smtClean="0"/>
              <a:t>,t</a:t>
            </a:r>
            <a:r>
              <a:rPr lang="sv-SE" baseline="-25000" dirty="0" smtClean="0"/>
              <a:t>2</a:t>
            </a:r>
            <a:r>
              <a:rPr lang="sv-SE" dirty="0" smtClean="0"/>
              <a:t>)</a:t>
            </a:r>
          </a:p>
          <a:p>
            <a:pPr marL="411480" lvl="1" indent="0">
              <a:buNone/>
            </a:pPr>
            <a:endParaRPr lang="sv-SE" dirty="0"/>
          </a:p>
          <a:p>
            <a:pPr>
              <a:buNone/>
            </a:pPr>
            <a:r>
              <a:rPr lang="pt-BR" dirty="0"/>
              <a:t>e.g. Assignment </a:t>
            </a:r>
            <a:r>
              <a:rPr lang="pt-BR" dirty="0" smtClean="0"/>
              <a:t>Statements</a:t>
            </a:r>
            <a:endParaRPr lang="pt-BR" dirty="0"/>
          </a:p>
          <a:p>
            <a:pPr marL="628650" indent="0">
              <a:buNone/>
            </a:pPr>
            <a:r>
              <a:rPr lang="pt-BR" dirty="0">
                <a:solidFill>
                  <a:srgbClr val="FF0000"/>
                </a:solidFill>
              </a:rPr>
              <a:t>  x=a  </a:t>
            </a:r>
            <a:r>
              <a:rPr lang="pt-BR" dirty="0" smtClean="0">
                <a:solidFill>
                  <a:srgbClr val="FF0000"/>
                </a:solidFill>
              </a:rPr>
              <a:t>.....................1</a:t>
            </a:r>
            <a:endParaRPr lang="pt-BR" dirty="0">
              <a:solidFill>
                <a:srgbClr val="FF0000"/>
              </a:solidFill>
            </a:endParaRPr>
          </a:p>
          <a:p>
            <a:pPr marL="628650" indent="0">
              <a:buNone/>
            </a:pPr>
            <a:r>
              <a:rPr lang="pt-BR" dirty="0">
                <a:solidFill>
                  <a:srgbClr val="FF0000"/>
                </a:solidFill>
              </a:rPr>
              <a:t>  x= a+b*c/h-u  ......1</a:t>
            </a:r>
          </a:p>
          <a:p>
            <a:pPr marL="628650" indent="0">
              <a:buNone/>
            </a:pPr>
            <a:r>
              <a:rPr lang="pt-BR" dirty="0">
                <a:solidFill>
                  <a:srgbClr val="FF0000"/>
                </a:solidFill>
              </a:rPr>
              <a:t>  a&gt;b </a:t>
            </a:r>
            <a:r>
              <a:rPr lang="pt-BR" dirty="0" smtClean="0">
                <a:solidFill>
                  <a:srgbClr val="FF0000"/>
                </a:solidFill>
              </a:rPr>
              <a:t>......................1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0" y="4763869"/>
            <a:ext cx="243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i="1" dirty="0" smtClean="0"/>
              <a:t>T(n) = 1+1+1</a:t>
            </a:r>
            <a:endParaRPr lang="en-US" sz="2000" b="1" i="1" dirty="0"/>
          </a:p>
          <a:p>
            <a:pPr>
              <a:buNone/>
            </a:pPr>
            <a:r>
              <a:rPr lang="en-US" sz="2000" b="1" i="1" dirty="0" smtClean="0"/>
              <a:t>T(n</a:t>
            </a:r>
            <a:r>
              <a:rPr lang="en-US" sz="2000" b="1" i="1" dirty="0"/>
              <a:t>)</a:t>
            </a:r>
            <a:r>
              <a:rPr lang="en-US" sz="2000" b="1" i="1" dirty="0" smtClean="0"/>
              <a:t> = 3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6115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Sequences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077200" cy="5562600"/>
          </a:xfrm>
        </p:spPr>
        <p:txBody>
          <a:bodyPr>
            <a:normAutofit/>
          </a:bodyPr>
          <a:lstStyle/>
          <a:p>
            <a:r>
              <a:rPr lang="sv-SE" dirty="0" smtClean="0"/>
              <a:t>Analysing a group of consecutive statements</a:t>
            </a:r>
            <a:endParaRPr lang="sv-SE" baseline="-25000" dirty="0" smtClean="0"/>
          </a:p>
          <a:p>
            <a:r>
              <a:rPr lang="sv-SE" dirty="0" smtClean="0"/>
              <a:t>The statement taking the maximum time will be the one counted</a:t>
            </a:r>
          </a:p>
          <a:p>
            <a:pPr lvl="1"/>
            <a:r>
              <a:rPr lang="sv-SE" dirty="0" smtClean="0"/>
              <a:t>use the </a:t>
            </a:r>
            <a:r>
              <a:rPr lang="sv-SE" b="1" dirty="0" smtClean="0">
                <a:solidFill>
                  <a:srgbClr val="FF0000"/>
                </a:solidFill>
              </a:rPr>
              <a:t>maximum rule</a:t>
            </a:r>
          </a:p>
          <a:p>
            <a:endParaRPr lang="sv-SE" dirty="0" smtClean="0"/>
          </a:p>
          <a:p>
            <a:endParaRPr lang="sv-SE" dirty="0"/>
          </a:p>
          <a:p>
            <a:endParaRPr lang="sv-SE" dirty="0" smtClean="0"/>
          </a:p>
          <a:p>
            <a:endParaRPr lang="sv-SE" dirty="0"/>
          </a:p>
          <a:p>
            <a:endParaRPr lang="sv-SE" dirty="0" smtClean="0"/>
          </a:p>
          <a:p>
            <a:endParaRPr lang="sv-SE" dirty="0"/>
          </a:p>
          <a:p>
            <a:endParaRPr lang="sv-SE" dirty="0" smtClean="0"/>
          </a:p>
          <a:p>
            <a:pPr marL="342900" lvl="2">
              <a:buClr>
                <a:schemeClr val="accent1"/>
              </a:buClr>
            </a:pPr>
            <a:r>
              <a:rPr lang="th-TH" altLang="en-US" sz="2200" dirty="0"/>
              <a:t>e.g. a fragment with single for-loop followed by double for- </a:t>
            </a:r>
            <a:r>
              <a:rPr lang="th-TH" altLang="en-US" sz="2200" dirty="0" smtClean="0"/>
              <a:t>loop</a:t>
            </a:r>
            <a:endParaRPr lang="en-US" altLang="en-US" sz="2200" dirty="0" smtClean="0"/>
          </a:p>
          <a:p>
            <a:pPr marL="617220" lvl="3">
              <a:buClr>
                <a:schemeClr val="accent1"/>
              </a:buClr>
            </a:pPr>
            <a:r>
              <a:rPr lang="en-US" altLang="en-US" sz="2000" b="1" dirty="0" smtClean="0"/>
              <a:t>T(n) = </a:t>
            </a:r>
            <a:r>
              <a:rPr lang="th-TH" altLang="en-US" sz="2000" b="1" dirty="0" smtClean="0"/>
              <a:t>n</a:t>
            </a:r>
            <a:r>
              <a:rPr lang="th-TH" altLang="en-US" sz="2000" b="1" baseline="30000" dirty="0" smtClean="0"/>
              <a:t>2</a:t>
            </a:r>
            <a:endParaRPr lang="th-TH" altLang="en-US" sz="2000" b="1" dirty="0"/>
          </a:p>
          <a:p>
            <a:r>
              <a:rPr lang="en-US" altLang="en-US" dirty="0" smtClean="0"/>
              <a:t>Always </a:t>
            </a:r>
            <a:r>
              <a:rPr lang="th-TH" altLang="en-US" dirty="0" smtClean="0"/>
              <a:t>analyze </a:t>
            </a:r>
            <a:r>
              <a:rPr lang="th-TH" altLang="en-US" dirty="0"/>
              <a:t>function calls first</a:t>
            </a:r>
            <a:endParaRPr lang="sv-SE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1016000" y="2743200"/>
            <a:ext cx="3024187" cy="2232025"/>
            <a:chOff x="612" y="2115"/>
            <a:chExt cx="1905" cy="1406"/>
          </a:xfrm>
        </p:grpSpPr>
        <p:sp>
          <p:nvSpPr>
            <p:cNvPr id="7" name="Text Box 15"/>
            <p:cNvSpPr txBox="1">
              <a:spLocks noChangeArrowheads="1"/>
            </p:cNvSpPr>
            <p:nvPr/>
          </p:nvSpPr>
          <p:spPr bwMode="auto">
            <a:xfrm>
              <a:off x="917" y="2353"/>
              <a:ext cx="674" cy="233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Block #1</a:t>
              </a:r>
            </a:p>
          </p:txBody>
        </p:sp>
        <p:sp>
          <p:nvSpPr>
            <p:cNvPr id="8" name="Text Box 16"/>
            <p:cNvSpPr txBox="1">
              <a:spLocks noChangeArrowheads="1"/>
            </p:cNvSpPr>
            <p:nvPr/>
          </p:nvSpPr>
          <p:spPr bwMode="auto">
            <a:xfrm>
              <a:off x="930" y="2931"/>
              <a:ext cx="674" cy="233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Block #2</a:t>
              </a:r>
            </a:p>
          </p:txBody>
        </p:sp>
        <p:sp>
          <p:nvSpPr>
            <p:cNvPr id="9" name="Line 17"/>
            <p:cNvSpPr>
              <a:spLocks noChangeShapeType="1"/>
            </p:cNvSpPr>
            <p:nvPr/>
          </p:nvSpPr>
          <p:spPr bwMode="auto">
            <a:xfrm>
              <a:off x="1338" y="2659"/>
              <a:ext cx="0" cy="272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18"/>
            <p:cNvSpPr txBox="1">
              <a:spLocks noChangeArrowheads="1"/>
            </p:cNvSpPr>
            <p:nvPr/>
          </p:nvSpPr>
          <p:spPr bwMode="auto">
            <a:xfrm>
              <a:off x="2064" y="2341"/>
              <a:ext cx="2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t</a:t>
              </a:r>
              <a:r>
                <a:rPr lang="en-US" altLang="en-US" sz="1800" baseline="-25000">
                  <a:latin typeface="Arial" charset="0"/>
                </a:rPr>
                <a:t>1</a:t>
              </a:r>
            </a:p>
          </p:txBody>
        </p:sp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2109" y="2931"/>
              <a:ext cx="2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t</a:t>
              </a:r>
              <a:r>
                <a:rPr lang="en-US" altLang="en-US" sz="1800" baseline="-25000">
                  <a:latin typeface="Arial" charset="0"/>
                </a:rPr>
                <a:t>2</a:t>
              </a:r>
            </a:p>
          </p:txBody>
        </p:sp>
        <p:sp>
          <p:nvSpPr>
            <p:cNvPr id="12" name="Rectangle 20"/>
            <p:cNvSpPr>
              <a:spLocks noChangeArrowheads="1"/>
            </p:cNvSpPr>
            <p:nvPr/>
          </p:nvSpPr>
          <p:spPr bwMode="auto">
            <a:xfrm>
              <a:off x="612" y="2115"/>
              <a:ext cx="1905" cy="1406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4524375" y="3562350"/>
            <a:ext cx="20422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chemeClr val="accent1"/>
              </a:buClr>
              <a:buSzPct val="80000"/>
              <a:buFont typeface="Wingdings 2" pitchFamily="18" charset="2"/>
              <a:buChar char=""/>
              <a:defRPr sz="3200">
                <a:solidFill>
                  <a:schemeClr val="tx1"/>
                </a:solidFill>
                <a:latin typeface="Corbe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"/>
              <a:defRPr sz="2800">
                <a:solidFill>
                  <a:schemeClr val="tx1"/>
                </a:solidFill>
                <a:latin typeface="Corbel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charset="0"/>
              <a:buChar char="▪"/>
              <a:defRPr sz="2400">
                <a:solidFill>
                  <a:schemeClr val="tx1"/>
                </a:solidFill>
                <a:latin typeface="Corbel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charset="0"/>
              <a:buChar char="▪"/>
              <a:defRPr sz="2000">
                <a:solidFill>
                  <a:schemeClr val="tx1"/>
                </a:solidFill>
                <a:latin typeface="Corbel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itchFamily="18" charset="2"/>
              <a:buChar char=""/>
              <a:defRPr sz="2000">
                <a:solidFill>
                  <a:schemeClr val="tx1"/>
                </a:solidFill>
                <a:latin typeface="Corbe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sz="2000">
                <a:solidFill>
                  <a:schemeClr val="tx1"/>
                </a:solidFill>
                <a:latin typeface="Corbe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sz="2000">
                <a:solidFill>
                  <a:schemeClr val="tx1"/>
                </a:solidFill>
                <a:latin typeface="Corbe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sz="2000">
                <a:solidFill>
                  <a:schemeClr val="tx1"/>
                </a:solidFill>
                <a:latin typeface="Corbe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sz="2000">
                <a:solidFill>
                  <a:schemeClr val="tx1"/>
                </a:solidFill>
                <a:latin typeface="Corbel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200" b="1" dirty="0" smtClean="0">
                <a:latin typeface="+mn-lt"/>
              </a:rPr>
              <a:t>T(n) </a:t>
            </a:r>
            <a:r>
              <a:rPr lang="en-US" altLang="en-US" sz="2200" b="1" dirty="0">
                <a:latin typeface="+mn-lt"/>
              </a:rPr>
              <a:t>= max(t</a:t>
            </a:r>
            <a:r>
              <a:rPr lang="en-US" altLang="en-US" sz="2200" b="1" baseline="-25000" dirty="0">
                <a:latin typeface="+mn-lt"/>
              </a:rPr>
              <a:t>1</a:t>
            </a:r>
            <a:r>
              <a:rPr lang="en-US" altLang="en-US" sz="2200" b="1" dirty="0">
                <a:latin typeface="+mn-lt"/>
              </a:rPr>
              <a:t>,t</a:t>
            </a:r>
            <a:r>
              <a:rPr lang="en-US" altLang="en-US" sz="2200" b="1" baseline="-25000" dirty="0">
                <a:latin typeface="+mn-lt"/>
              </a:rPr>
              <a:t>2</a:t>
            </a:r>
            <a:r>
              <a:rPr lang="en-US" altLang="en-US" sz="2200" dirty="0"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237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Selection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228600" y="1143001"/>
            <a:ext cx="7620000" cy="2514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sv-SE" dirty="0" smtClean="0"/>
              <a:t>If </a:t>
            </a:r>
            <a:r>
              <a:rPr lang="sv-SE" i="1" dirty="0" smtClean="0">
                <a:solidFill>
                  <a:srgbClr val="FF0000"/>
                </a:solidFill>
              </a:rPr>
              <a:t>&lt;test&gt; </a:t>
            </a:r>
            <a:r>
              <a:rPr lang="sv-SE" dirty="0" smtClean="0"/>
              <a:t>then P</a:t>
            </a:r>
            <a:r>
              <a:rPr lang="sv-SE" baseline="-25000" dirty="0" smtClean="0"/>
              <a:t>1</a:t>
            </a:r>
            <a:r>
              <a:rPr lang="sv-SE" dirty="0" smtClean="0"/>
              <a:t> </a:t>
            </a:r>
            <a:r>
              <a:rPr lang="sv-SE" i="1" dirty="0" smtClean="0"/>
              <a:t>else</a:t>
            </a:r>
            <a:r>
              <a:rPr lang="sv-SE" dirty="0" smtClean="0"/>
              <a:t> P</a:t>
            </a:r>
            <a:r>
              <a:rPr lang="sv-SE" baseline="-25000" dirty="0" smtClean="0"/>
              <a:t>2</a:t>
            </a:r>
            <a:r>
              <a:rPr lang="sv-SE" dirty="0" smtClean="0"/>
              <a:t> structures are a little harder; </a:t>
            </a:r>
            <a:r>
              <a:rPr lang="sv-SE" b="1" dirty="0" smtClean="0"/>
              <a:t>conditional loops</a:t>
            </a:r>
            <a:r>
              <a:rPr lang="sv-SE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sv-SE" dirty="0" smtClean="0"/>
              <a:t>The maximum rule can be applied here too:</a:t>
            </a:r>
          </a:p>
          <a:p>
            <a:pPr lvl="1">
              <a:lnSpc>
                <a:spcPct val="90000"/>
              </a:lnSpc>
            </a:pPr>
            <a:r>
              <a:rPr lang="sv-SE" dirty="0" smtClean="0"/>
              <a:t>max(</a:t>
            </a:r>
            <a:r>
              <a:rPr lang="sv-SE" i="1" dirty="0" smtClean="0"/>
              <a:t>t</a:t>
            </a:r>
            <a:r>
              <a:rPr lang="sv-SE" baseline="-25000" dirty="0" smtClean="0"/>
              <a:t>1</a:t>
            </a:r>
            <a:r>
              <a:rPr lang="sv-SE" dirty="0" smtClean="0"/>
              <a:t>, </a:t>
            </a:r>
            <a:r>
              <a:rPr lang="sv-SE" i="1" dirty="0" smtClean="0"/>
              <a:t>t</a:t>
            </a:r>
            <a:r>
              <a:rPr lang="sv-SE" baseline="-25000" dirty="0" smtClean="0"/>
              <a:t>2</a:t>
            </a:r>
            <a:r>
              <a:rPr lang="sv-SE" dirty="0" smtClean="0"/>
              <a:t>), assuming </a:t>
            </a:r>
            <a:r>
              <a:rPr lang="sv-SE" i="1" dirty="0" smtClean="0"/>
              <a:t>t</a:t>
            </a:r>
            <a:r>
              <a:rPr lang="sv-SE" baseline="-25000" dirty="0" smtClean="0"/>
              <a:t>1</a:t>
            </a:r>
            <a:r>
              <a:rPr lang="sv-SE" dirty="0" smtClean="0"/>
              <a:t>, </a:t>
            </a:r>
            <a:r>
              <a:rPr lang="sv-SE" i="1" dirty="0" smtClean="0"/>
              <a:t>t</a:t>
            </a:r>
            <a:r>
              <a:rPr lang="sv-SE" baseline="-25000" dirty="0" smtClean="0"/>
              <a:t>2</a:t>
            </a:r>
            <a:r>
              <a:rPr lang="sv-SE" dirty="0" smtClean="0"/>
              <a:t> are times of P</a:t>
            </a:r>
            <a:r>
              <a:rPr lang="sv-SE" baseline="-25000" dirty="0" smtClean="0"/>
              <a:t>1</a:t>
            </a:r>
            <a:r>
              <a:rPr lang="sv-SE" dirty="0" smtClean="0"/>
              <a:t>, P</a:t>
            </a:r>
            <a:r>
              <a:rPr lang="sv-SE" baseline="-25000" dirty="0" smtClean="0"/>
              <a:t>2</a:t>
            </a:r>
          </a:p>
          <a:p>
            <a:pPr>
              <a:lnSpc>
                <a:spcPct val="90000"/>
              </a:lnSpc>
            </a:pPr>
            <a:r>
              <a:rPr lang="sv-SE" dirty="0" smtClean="0"/>
              <a:t>However, the maximum rule may prove too conservative</a:t>
            </a:r>
          </a:p>
          <a:p>
            <a:pPr lvl="1">
              <a:lnSpc>
                <a:spcPct val="90000"/>
              </a:lnSpc>
            </a:pPr>
            <a:r>
              <a:rPr lang="sv-SE" dirty="0" smtClean="0"/>
              <a:t>if &lt;test&gt; is always true the time is </a:t>
            </a:r>
            <a:r>
              <a:rPr lang="sv-SE" i="1" dirty="0" smtClean="0"/>
              <a:t>t</a:t>
            </a:r>
            <a:r>
              <a:rPr lang="sv-SE" baseline="-25000" dirty="0" smtClean="0"/>
              <a:t>1</a:t>
            </a:r>
            <a:endParaRPr lang="sv-SE" dirty="0" smtClean="0"/>
          </a:p>
          <a:p>
            <a:pPr lvl="1">
              <a:lnSpc>
                <a:spcPct val="90000"/>
              </a:lnSpc>
            </a:pPr>
            <a:r>
              <a:rPr lang="sv-SE" dirty="0" smtClean="0"/>
              <a:t>if &lt;test&gt; is always false the time is </a:t>
            </a:r>
            <a:r>
              <a:rPr lang="sv-SE" i="1" dirty="0" smtClean="0"/>
              <a:t>t</a:t>
            </a:r>
            <a:r>
              <a:rPr lang="sv-SE" baseline="-25000" dirty="0" smtClean="0"/>
              <a:t>2</a:t>
            </a:r>
            <a:endParaRPr lang="en-GB" baseline="-25000" dirty="0"/>
          </a:p>
          <a:p>
            <a:pPr marL="411480" lvl="1" indent="0">
              <a:lnSpc>
                <a:spcPct val="90000"/>
              </a:lnSpc>
              <a:buNone/>
            </a:pPr>
            <a:endParaRPr lang="sv-SE" baseline="-25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04800" y="3733800"/>
            <a:ext cx="3368675" cy="2819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b="1" i="1" dirty="0" smtClean="0">
                <a:solidFill>
                  <a:srgbClr val="FF0000"/>
                </a:solidFill>
              </a:rPr>
              <a:t>e.g</a:t>
            </a:r>
            <a:r>
              <a:rPr lang="en-US" sz="2000" b="1" i="1" dirty="0">
                <a:solidFill>
                  <a:srgbClr val="FF0000"/>
                </a:solidFill>
              </a:rPr>
              <a:t>. if (a&gt;b)  then ...........1</a:t>
            </a:r>
          </a:p>
          <a:p>
            <a:pPr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	         a=2......................1</a:t>
            </a:r>
          </a:p>
          <a:p>
            <a:pPr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		b=b+3*t .............1 </a:t>
            </a:r>
          </a:p>
          <a:p>
            <a:pPr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     else</a:t>
            </a:r>
          </a:p>
          <a:p>
            <a:pPr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	      x=x+2*3 ................1</a:t>
            </a:r>
          </a:p>
          <a:p>
            <a:pPr>
              <a:buFont typeface="Arial" pitchFamily="34" charset="0"/>
              <a:buNone/>
            </a:pPr>
            <a:endParaRPr lang="en-US" sz="2000" b="1" i="1" dirty="0" smtClean="0"/>
          </a:p>
          <a:p>
            <a:pPr>
              <a:buFont typeface="Arial" pitchFamily="34" charset="0"/>
              <a:buNone/>
            </a:pPr>
            <a:r>
              <a:rPr lang="en-US" sz="2000" b="1" i="1" dirty="0" smtClean="0"/>
              <a:t>T(n)= 1+max(2,1) = 3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368675" y="3733800"/>
            <a:ext cx="4937125" cy="2819401"/>
            <a:chOff x="3124200" y="3733800"/>
            <a:chExt cx="4937125" cy="2819401"/>
          </a:xfrm>
        </p:grpSpPr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3965575" y="4233863"/>
              <a:ext cx="1368425" cy="719137"/>
            </a:xfrm>
            <a:prstGeom prst="flowChartDecision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3124200" y="5457825"/>
              <a:ext cx="1073150" cy="379413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Block</a:t>
              </a:r>
              <a:r>
                <a:rPr lang="en-US" altLang="en-US" sz="1800">
                  <a:solidFill>
                    <a:schemeClr val="bg2"/>
                  </a:solidFill>
                  <a:latin typeface="Arial" charset="0"/>
                </a:rPr>
                <a:t> </a:t>
              </a:r>
              <a:r>
                <a:rPr lang="en-US" altLang="en-US" sz="1800">
                  <a:latin typeface="Arial" charset="0"/>
                </a:rPr>
                <a:t>#1</a:t>
              </a: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5111750" y="5487987"/>
              <a:ext cx="1073150" cy="379413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dirty="0">
                  <a:latin typeface="Arial" charset="0"/>
                </a:rPr>
                <a:t>Block</a:t>
              </a:r>
              <a:r>
                <a:rPr lang="en-US" altLang="en-US" sz="1800" dirty="0">
                  <a:solidFill>
                    <a:schemeClr val="bg2"/>
                  </a:solidFill>
                  <a:latin typeface="Arial" charset="0"/>
                </a:rPr>
                <a:t> </a:t>
              </a:r>
              <a:r>
                <a:rPr lang="en-US" altLang="en-US" sz="1800" dirty="0">
                  <a:latin typeface="Arial" charset="0"/>
                </a:rPr>
                <a:t>#2</a:t>
              </a:r>
            </a:p>
          </p:txBody>
        </p:sp>
        <p:cxnSp>
          <p:nvCxnSpPr>
            <p:cNvPr id="11" name="AutoShape 18"/>
            <p:cNvCxnSpPr>
              <a:cxnSpLocks noChangeShapeType="1"/>
            </p:cNvCxnSpPr>
            <p:nvPr/>
          </p:nvCxnSpPr>
          <p:spPr bwMode="auto">
            <a:xfrm rot="10800000" flipV="1">
              <a:off x="3672841" y="4593431"/>
              <a:ext cx="274320" cy="864393"/>
            </a:xfrm>
            <a:prstGeom prst="bentConnector2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20"/>
            <p:cNvCxnSpPr>
              <a:cxnSpLocks noChangeShapeType="1"/>
              <a:stCxn id="8" idx="3"/>
              <a:endCxn id="10" idx="0"/>
            </p:cNvCxnSpPr>
            <p:nvPr/>
          </p:nvCxnSpPr>
          <p:spPr bwMode="auto">
            <a:xfrm>
              <a:off x="5334000" y="4593432"/>
              <a:ext cx="314325" cy="894555"/>
            </a:xfrm>
            <a:prstGeom prst="bentConnector2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662646" y="4862355"/>
              <a:ext cx="1588" cy="2011680"/>
            </a:xfrm>
            <a:prstGeom prst="bentConnector3">
              <a:avLst>
                <a:gd name="adj1" fmla="val 14400005"/>
              </a:avLst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Line 22"/>
            <p:cNvSpPr>
              <a:spLocks noChangeShapeType="1"/>
            </p:cNvSpPr>
            <p:nvPr/>
          </p:nvSpPr>
          <p:spPr bwMode="auto">
            <a:xfrm>
              <a:off x="4608512" y="6096001"/>
              <a:ext cx="0" cy="4572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3"/>
            <p:cNvSpPr>
              <a:spLocks noChangeShapeType="1"/>
            </p:cNvSpPr>
            <p:nvPr/>
          </p:nvSpPr>
          <p:spPr bwMode="auto">
            <a:xfrm>
              <a:off x="4648200" y="3733800"/>
              <a:ext cx="0" cy="4754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28"/>
            <p:cNvSpPr txBox="1">
              <a:spLocks noChangeArrowheads="1"/>
            </p:cNvSpPr>
            <p:nvPr/>
          </p:nvSpPr>
          <p:spPr bwMode="auto">
            <a:xfrm>
              <a:off x="4343400" y="5487987"/>
              <a:ext cx="344488" cy="379413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t</a:t>
              </a:r>
              <a:r>
                <a:rPr lang="en-US" altLang="en-US" sz="1800" baseline="-25000">
                  <a:latin typeface="Arial" charset="0"/>
                </a:rPr>
                <a:t>1</a:t>
              </a:r>
            </a:p>
          </p:txBody>
        </p:sp>
        <p:sp>
          <p:nvSpPr>
            <p:cNvPr id="17" name="Text Box 29"/>
            <p:cNvSpPr txBox="1">
              <a:spLocks noChangeArrowheads="1"/>
            </p:cNvSpPr>
            <p:nvPr/>
          </p:nvSpPr>
          <p:spPr bwMode="auto">
            <a:xfrm>
              <a:off x="6324600" y="5486400"/>
              <a:ext cx="344488" cy="379413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t</a:t>
              </a:r>
              <a:r>
                <a:rPr lang="en-US" altLang="en-US" sz="1800" baseline="-25000">
                  <a:latin typeface="Arial" charset="0"/>
                </a:rPr>
                <a:t>2</a:t>
              </a:r>
            </a:p>
          </p:txBody>
        </p:sp>
        <p:sp>
          <p:nvSpPr>
            <p:cNvPr id="18" name="Text Box 32"/>
            <p:cNvSpPr txBox="1">
              <a:spLocks noChangeArrowheads="1"/>
            </p:cNvSpPr>
            <p:nvPr/>
          </p:nvSpPr>
          <p:spPr bwMode="auto">
            <a:xfrm>
              <a:off x="6934200" y="5461000"/>
              <a:ext cx="112712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dirty="0">
                  <a:latin typeface="Arial" charset="0"/>
                </a:rPr>
                <a:t>Max(t</a:t>
              </a:r>
              <a:r>
                <a:rPr lang="en-US" altLang="en-US" sz="1800" baseline="-25000" dirty="0">
                  <a:latin typeface="Arial" charset="0"/>
                </a:rPr>
                <a:t>1</a:t>
              </a:r>
              <a:r>
                <a:rPr lang="en-US" altLang="en-US" sz="1800" dirty="0">
                  <a:latin typeface="Arial" charset="0"/>
                </a:rPr>
                <a:t>,t</a:t>
              </a:r>
              <a:r>
                <a:rPr lang="en-US" altLang="en-US" sz="1800" baseline="-25000" dirty="0">
                  <a:latin typeface="Arial" charset="0"/>
                </a:rPr>
                <a:t>2</a:t>
              </a:r>
              <a:r>
                <a:rPr lang="en-US" altLang="en-US" sz="1800" dirty="0">
                  <a:latin typeface="Arial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50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Repetition (Loops)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79248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sv-SE" dirty="0"/>
              <a:t>Analyzing loops: Any loop has two parts:</a:t>
            </a:r>
          </a:p>
          <a:p>
            <a:pPr marL="692150" lvl="1" indent="-347663"/>
            <a:r>
              <a:rPr lang="en-GB" u="sng" dirty="0"/>
              <a:t>How many iterations are performed?</a:t>
            </a:r>
          </a:p>
          <a:p>
            <a:pPr marL="692150" lvl="1" indent="-347663"/>
            <a:r>
              <a:rPr lang="en-GB" u="sng" dirty="0"/>
              <a:t>How many steps per iteration? </a:t>
            </a:r>
          </a:p>
          <a:p>
            <a:pPr>
              <a:lnSpc>
                <a:spcPct val="90000"/>
              </a:lnSpc>
              <a:buFontTx/>
              <a:buNone/>
            </a:pPr>
            <a:endParaRPr lang="sv-SE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sv-SE" dirty="0" smtClean="0">
                <a:solidFill>
                  <a:srgbClr val="FF0000"/>
                </a:solidFill>
              </a:rPr>
              <a:t>    for </a:t>
            </a:r>
            <a:r>
              <a:rPr lang="sv-SE" i="1" dirty="0" smtClean="0">
                <a:solidFill>
                  <a:srgbClr val="FF0000"/>
                </a:solidFill>
              </a:rPr>
              <a:t>i</a:t>
            </a:r>
            <a:r>
              <a:rPr lang="sv-SE" dirty="0" smtClean="0">
                <a:solidFill>
                  <a:srgbClr val="FF0000"/>
                </a:solidFill>
              </a:rPr>
              <a:t> = 1 to </a:t>
            </a:r>
            <a:r>
              <a:rPr lang="sv-SE" i="1" dirty="0">
                <a:solidFill>
                  <a:srgbClr val="FF0000"/>
                </a:solidFill>
              </a:rPr>
              <a:t>n</a:t>
            </a:r>
            <a:r>
              <a:rPr lang="sv-SE" dirty="0" smtClean="0">
                <a:solidFill>
                  <a:srgbClr val="FF0000"/>
                </a:solidFill>
              </a:rPr>
              <a:t> do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sv-SE" dirty="0">
                <a:solidFill>
                  <a:srgbClr val="FF0000"/>
                </a:solidFill>
              </a:rPr>
              <a:t>	</a:t>
            </a:r>
            <a:r>
              <a:rPr lang="sv-SE" dirty="0" smtClean="0">
                <a:solidFill>
                  <a:srgbClr val="FF0000"/>
                </a:solidFill>
              </a:rPr>
              <a:t>      P(</a:t>
            </a:r>
            <a:r>
              <a:rPr lang="sv-SE" i="1" dirty="0" smtClean="0">
                <a:solidFill>
                  <a:srgbClr val="FF0000"/>
                </a:solidFill>
              </a:rPr>
              <a:t>i</a:t>
            </a:r>
            <a:r>
              <a:rPr lang="sv-SE" dirty="0" smtClean="0">
                <a:solidFill>
                  <a:srgbClr val="FF0000"/>
                </a:solidFill>
              </a:rPr>
              <a:t>);</a:t>
            </a:r>
          </a:p>
          <a:p>
            <a:pPr>
              <a:lnSpc>
                <a:spcPct val="90000"/>
              </a:lnSpc>
            </a:pPr>
            <a:endParaRPr lang="sv-SE" sz="1400" dirty="0" smtClean="0"/>
          </a:p>
          <a:p>
            <a:pPr>
              <a:lnSpc>
                <a:spcPct val="90000"/>
              </a:lnSpc>
            </a:pPr>
            <a:r>
              <a:rPr lang="sv-SE" dirty="0" smtClean="0"/>
              <a:t>Assume that P(</a:t>
            </a:r>
            <a:r>
              <a:rPr lang="sv-SE" i="1" dirty="0" smtClean="0"/>
              <a:t>i</a:t>
            </a:r>
            <a:r>
              <a:rPr lang="sv-SE" dirty="0" smtClean="0"/>
              <a:t>) takes time </a:t>
            </a:r>
            <a:r>
              <a:rPr lang="sv-SE" i="1" dirty="0" smtClean="0"/>
              <a:t>t</a:t>
            </a:r>
            <a:r>
              <a:rPr lang="sv-SE" dirty="0" smtClean="0"/>
              <a:t>, where </a:t>
            </a:r>
            <a:r>
              <a:rPr lang="sv-SE" i="1" dirty="0" smtClean="0"/>
              <a:t>t</a:t>
            </a:r>
            <a:r>
              <a:rPr lang="sv-SE" dirty="0" smtClean="0"/>
              <a:t> is independent of </a:t>
            </a:r>
            <a:r>
              <a:rPr lang="sv-SE" i="1" dirty="0" smtClean="0"/>
              <a:t>i</a:t>
            </a:r>
          </a:p>
          <a:p>
            <a:pPr>
              <a:lnSpc>
                <a:spcPct val="90000"/>
              </a:lnSpc>
            </a:pPr>
            <a:r>
              <a:rPr lang="th-TH" altLang="en-US" dirty="0"/>
              <a:t>Running time of a for-loop is </a:t>
            </a:r>
            <a:r>
              <a:rPr lang="th-TH" altLang="en-US" dirty="0" smtClean="0"/>
              <a:t>at</a:t>
            </a:r>
            <a:r>
              <a:rPr lang="en-US" altLang="en-US" dirty="0" smtClean="0"/>
              <a:t> </a:t>
            </a:r>
            <a:r>
              <a:rPr lang="th-TH" altLang="en-US" dirty="0" smtClean="0"/>
              <a:t>most </a:t>
            </a:r>
            <a:r>
              <a:rPr lang="th-TH" altLang="en-US" dirty="0"/>
              <a:t>the running time of the statements inside the for-loop times number of iterations</a:t>
            </a:r>
            <a:endParaRPr lang="sv-SE" dirty="0" smtClean="0"/>
          </a:p>
          <a:p>
            <a:pPr lvl="1">
              <a:lnSpc>
                <a:spcPct val="90000"/>
              </a:lnSpc>
              <a:buFontTx/>
              <a:buNone/>
            </a:pPr>
            <a:endParaRPr lang="sv-SE" sz="2200" dirty="0" smtClean="0"/>
          </a:p>
          <a:p>
            <a:pPr lvl="1">
              <a:lnSpc>
                <a:spcPct val="90000"/>
              </a:lnSpc>
              <a:buFontTx/>
              <a:buNone/>
            </a:pPr>
            <a:r>
              <a:rPr lang="sv-SE" sz="2200" dirty="0" smtClean="0"/>
              <a:t>	</a:t>
            </a:r>
            <a:r>
              <a:rPr lang="sv-SE" sz="2200" b="1" i="1" dirty="0" smtClean="0"/>
              <a:t>T(n)</a:t>
            </a:r>
            <a:r>
              <a:rPr lang="sv-SE" sz="2200" b="1" dirty="0" smtClean="0"/>
              <a:t> = </a:t>
            </a:r>
            <a:r>
              <a:rPr lang="sv-SE" sz="2200" b="1" i="1" dirty="0" smtClean="0"/>
              <a:t>nt</a:t>
            </a:r>
          </a:p>
          <a:p>
            <a:pPr marL="114300" indent="0">
              <a:lnSpc>
                <a:spcPct val="90000"/>
              </a:lnSpc>
              <a:buNone/>
            </a:pPr>
            <a:endParaRPr lang="sv-SE" dirty="0" smtClean="0"/>
          </a:p>
          <a:p>
            <a:pPr>
              <a:lnSpc>
                <a:spcPct val="90000"/>
              </a:lnSpc>
            </a:pPr>
            <a:r>
              <a:rPr lang="sv-SE" dirty="0" smtClean="0"/>
              <a:t>This approach is reasonable, provided n is positive</a:t>
            </a:r>
          </a:p>
          <a:p>
            <a:pPr>
              <a:lnSpc>
                <a:spcPct val="90000"/>
              </a:lnSpc>
            </a:pPr>
            <a:r>
              <a:rPr lang="sv-SE" dirty="0" smtClean="0"/>
              <a:t>If </a:t>
            </a:r>
            <a:r>
              <a:rPr lang="sv-SE" i="1" dirty="0" smtClean="0"/>
              <a:t>n</a:t>
            </a:r>
            <a:r>
              <a:rPr lang="sv-SE" dirty="0" smtClean="0"/>
              <a:t> is zero or negative the relationship </a:t>
            </a:r>
            <a:r>
              <a:rPr lang="sv-SE" i="1" dirty="0" smtClean="0"/>
              <a:t>T(n)</a:t>
            </a:r>
            <a:r>
              <a:rPr lang="sv-SE" dirty="0" smtClean="0"/>
              <a:t> = </a:t>
            </a:r>
            <a:r>
              <a:rPr lang="sv-SE" i="1" dirty="0" smtClean="0"/>
              <a:t>nt </a:t>
            </a:r>
            <a:r>
              <a:rPr lang="sv-SE" dirty="0" smtClean="0"/>
              <a:t>is not valid</a:t>
            </a:r>
          </a:p>
          <a:p>
            <a:pPr marL="114300" indent="0">
              <a:lnSpc>
                <a:spcPct val="90000"/>
              </a:lnSpc>
              <a:buNone/>
            </a:pPr>
            <a:endParaRPr lang="sv-SE" sz="24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0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001000" cy="5334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dirty="0" smtClean="0"/>
              <a:t>Analysing Nested Loops</a:t>
            </a:r>
          </a:p>
          <a:p>
            <a:pPr>
              <a:buNone/>
            </a:pPr>
            <a:r>
              <a:rPr lang="sv-SE" sz="1050" dirty="0">
                <a:solidFill>
                  <a:srgbClr val="FF0000"/>
                </a:solidFill>
              </a:rPr>
              <a:t> </a:t>
            </a:r>
            <a:endParaRPr lang="sv-SE" sz="105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sv-SE" dirty="0" smtClean="0">
                <a:solidFill>
                  <a:srgbClr val="FF0000"/>
                </a:solidFill>
              </a:rPr>
              <a:t>    for </a:t>
            </a:r>
            <a:r>
              <a:rPr lang="sv-SE" i="1" dirty="0">
                <a:solidFill>
                  <a:srgbClr val="FF0000"/>
                </a:solidFill>
              </a:rPr>
              <a:t>i</a:t>
            </a:r>
            <a:r>
              <a:rPr lang="sv-SE" dirty="0">
                <a:solidFill>
                  <a:srgbClr val="FF0000"/>
                </a:solidFill>
              </a:rPr>
              <a:t> = 0 to </a:t>
            </a:r>
            <a:r>
              <a:rPr lang="sv-SE" i="1" dirty="0">
                <a:solidFill>
                  <a:srgbClr val="FF0000"/>
                </a:solidFill>
              </a:rPr>
              <a:t>n</a:t>
            </a:r>
            <a:r>
              <a:rPr lang="sv-SE" dirty="0">
                <a:solidFill>
                  <a:srgbClr val="FF0000"/>
                </a:solidFill>
              </a:rPr>
              <a:t> do </a:t>
            </a:r>
          </a:p>
          <a:p>
            <a:pPr>
              <a:buNone/>
            </a:pPr>
            <a:r>
              <a:rPr lang="sv-SE" dirty="0">
                <a:solidFill>
                  <a:srgbClr val="FF0000"/>
                </a:solidFill>
              </a:rPr>
              <a:t>    </a:t>
            </a:r>
            <a:r>
              <a:rPr lang="sv-SE" dirty="0" smtClean="0">
                <a:solidFill>
                  <a:srgbClr val="FF0000"/>
                </a:solidFill>
              </a:rPr>
              <a:t>      </a:t>
            </a:r>
            <a:r>
              <a:rPr lang="sv-SE" dirty="0">
                <a:solidFill>
                  <a:srgbClr val="FF0000"/>
                </a:solidFill>
              </a:rPr>
              <a:t>for </a:t>
            </a:r>
            <a:r>
              <a:rPr lang="sv-SE" i="1" dirty="0">
                <a:solidFill>
                  <a:srgbClr val="FF0000"/>
                </a:solidFill>
              </a:rPr>
              <a:t>j</a:t>
            </a:r>
            <a:r>
              <a:rPr lang="sv-SE" dirty="0">
                <a:solidFill>
                  <a:srgbClr val="FF0000"/>
                </a:solidFill>
              </a:rPr>
              <a:t> = 0 to </a:t>
            </a:r>
            <a:r>
              <a:rPr lang="sv-SE" dirty="0" smtClean="0">
                <a:solidFill>
                  <a:srgbClr val="FF0000"/>
                </a:solidFill>
              </a:rPr>
              <a:t>m </a:t>
            </a:r>
            <a:r>
              <a:rPr lang="sv-SE" dirty="0">
                <a:solidFill>
                  <a:srgbClr val="FF0000"/>
                </a:solidFill>
              </a:rPr>
              <a:t>do </a:t>
            </a:r>
            <a:endParaRPr lang="sv-SE" alt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en-US" dirty="0">
                <a:solidFill>
                  <a:srgbClr val="FF3300"/>
                </a:solidFill>
              </a:rPr>
              <a:t>		</a:t>
            </a:r>
            <a:r>
              <a:rPr lang="en-US" altLang="en-US" dirty="0" smtClean="0">
                <a:solidFill>
                  <a:srgbClr val="FF3300"/>
                </a:solidFill>
              </a:rPr>
              <a:t>    P(j</a:t>
            </a:r>
            <a:r>
              <a:rPr lang="en-US" altLang="en-US" dirty="0">
                <a:solidFill>
                  <a:srgbClr val="FF3300"/>
                </a:solidFill>
              </a:rPr>
              <a:t>);</a:t>
            </a:r>
            <a:endParaRPr lang="th-TH" altLang="en-US" dirty="0">
              <a:solidFill>
                <a:srgbClr val="FF3300"/>
              </a:solidFill>
            </a:endParaRPr>
          </a:p>
          <a:p>
            <a:pPr>
              <a:lnSpc>
                <a:spcPct val="80000"/>
              </a:lnSpc>
            </a:pPr>
            <a:endParaRPr lang="en-GB" sz="1600" dirty="0" smtClean="0"/>
          </a:p>
          <a:p>
            <a:pPr>
              <a:lnSpc>
                <a:spcPct val="80000"/>
              </a:lnSpc>
            </a:pPr>
            <a:r>
              <a:rPr lang="sv-SE" dirty="0"/>
              <a:t>Assume that </a:t>
            </a:r>
            <a:r>
              <a:rPr lang="sv-SE" dirty="0" smtClean="0"/>
              <a:t>P(</a:t>
            </a:r>
            <a:r>
              <a:rPr lang="sv-SE" i="1" dirty="0" smtClean="0"/>
              <a:t>j</a:t>
            </a:r>
            <a:r>
              <a:rPr lang="sv-SE" dirty="0" smtClean="0"/>
              <a:t>) </a:t>
            </a:r>
            <a:r>
              <a:rPr lang="sv-SE" dirty="0"/>
              <a:t>takes time </a:t>
            </a:r>
            <a:r>
              <a:rPr lang="sv-SE" i="1" dirty="0"/>
              <a:t>t</a:t>
            </a:r>
            <a:r>
              <a:rPr lang="sv-SE" dirty="0"/>
              <a:t>, where </a:t>
            </a:r>
            <a:r>
              <a:rPr lang="sv-SE" i="1" dirty="0"/>
              <a:t>t</a:t>
            </a:r>
            <a:r>
              <a:rPr lang="sv-SE" dirty="0"/>
              <a:t> is independent of </a:t>
            </a:r>
            <a:r>
              <a:rPr lang="sv-SE" i="1" dirty="0" smtClean="0"/>
              <a:t>i and j</a:t>
            </a:r>
            <a:endParaRPr lang="en-GB" dirty="0" smtClean="0"/>
          </a:p>
          <a:p>
            <a:pPr>
              <a:lnSpc>
                <a:spcPct val="80000"/>
              </a:lnSpc>
            </a:pPr>
            <a:r>
              <a:rPr lang="en-GB" dirty="0" smtClean="0"/>
              <a:t>Start </a:t>
            </a:r>
            <a:r>
              <a:rPr lang="en-GB" dirty="0"/>
              <a:t>with outer loop:</a:t>
            </a:r>
          </a:p>
          <a:p>
            <a:pPr marL="692150" lvl="1" indent="-347663">
              <a:lnSpc>
                <a:spcPct val="80000"/>
              </a:lnSpc>
            </a:pPr>
            <a:r>
              <a:rPr lang="en-GB" dirty="0"/>
              <a:t>How many iterations?  </a:t>
            </a:r>
            <a:r>
              <a:rPr lang="en-GB" dirty="0">
                <a:solidFill>
                  <a:srgbClr val="FF0000"/>
                </a:solidFill>
              </a:rPr>
              <a:t>n</a:t>
            </a:r>
          </a:p>
          <a:p>
            <a:pPr marL="692150" lvl="1" indent="-347663">
              <a:lnSpc>
                <a:spcPct val="80000"/>
              </a:lnSpc>
            </a:pPr>
            <a:r>
              <a:rPr lang="en-GB" dirty="0"/>
              <a:t>How much time per iteration? </a:t>
            </a:r>
            <a:r>
              <a:rPr lang="en-GB" dirty="0">
                <a:solidFill>
                  <a:srgbClr val="FF0000"/>
                </a:solidFill>
              </a:rPr>
              <a:t>Need to evaluate inner loop</a:t>
            </a:r>
            <a:endParaRPr lang="en-US" altLang="en-US" dirty="0" smtClean="0"/>
          </a:p>
          <a:p>
            <a:endParaRPr lang="en-US" altLang="en-US" sz="1400" dirty="0" smtClean="0"/>
          </a:p>
          <a:p>
            <a:r>
              <a:rPr lang="th-TH" altLang="en-US" dirty="0" smtClean="0"/>
              <a:t>Analyze </a:t>
            </a:r>
            <a:r>
              <a:rPr lang="th-TH" altLang="en-US" dirty="0"/>
              <a:t>inside-out. Total running time is running time of the statement multiplied by product of the sizes of all the </a:t>
            </a:r>
            <a:r>
              <a:rPr lang="th-TH" altLang="en-US" dirty="0" smtClean="0"/>
              <a:t>for-loops</a:t>
            </a:r>
            <a:endParaRPr lang="en-GB" altLang="en-US" dirty="0"/>
          </a:p>
          <a:p>
            <a:pPr marL="114300" indent="0">
              <a:buNone/>
            </a:pPr>
            <a:endParaRPr lang="en-GB" sz="1400" dirty="0"/>
          </a:p>
          <a:p>
            <a:pPr marL="114300" indent="0">
              <a:buNone/>
            </a:pPr>
            <a:r>
              <a:rPr lang="en-GB" b="1" i="1" dirty="0"/>
              <a:t> </a:t>
            </a:r>
            <a:r>
              <a:rPr lang="en-GB" b="1" i="1" dirty="0" smtClean="0"/>
              <a:t> T(n) = </a:t>
            </a:r>
            <a:r>
              <a:rPr lang="en-GB" b="1" i="1" dirty="0" err="1" smtClean="0"/>
              <a:t>nmt</a:t>
            </a:r>
            <a:endParaRPr lang="en-GB" b="1" i="1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Repetition (Loops)</a:t>
            </a:r>
          </a:p>
        </p:txBody>
      </p:sp>
    </p:spTree>
    <p:extLst>
      <p:ext uri="{BB962C8B-B14F-4D97-AF65-F5344CB8AC3E}">
        <p14:creationId xmlns:p14="http://schemas.microsoft.com/office/powerpoint/2010/main" val="343877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001000" cy="55626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dirty="0" smtClean="0"/>
              <a:t>Analysing Nested Loops</a:t>
            </a:r>
          </a:p>
          <a:p>
            <a:pPr>
              <a:buNone/>
            </a:pPr>
            <a:r>
              <a:rPr lang="sv-SE" sz="900" dirty="0" smtClean="0">
                <a:solidFill>
                  <a:srgbClr val="FF0000"/>
                </a:solidFill>
              </a:rPr>
              <a:t> </a:t>
            </a:r>
            <a:endParaRPr lang="sv-SE" sz="105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sv-SE" dirty="0" smtClean="0">
                <a:solidFill>
                  <a:srgbClr val="FF0000"/>
                </a:solidFill>
              </a:rPr>
              <a:t>    for </a:t>
            </a:r>
            <a:r>
              <a:rPr lang="sv-SE" i="1" dirty="0">
                <a:solidFill>
                  <a:srgbClr val="FF0000"/>
                </a:solidFill>
              </a:rPr>
              <a:t>i</a:t>
            </a:r>
            <a:r>
              <a:rPr lang="sv-SE" dirty="0">
                <a:solidFill>
                  <a:srgbClr val="FF0000"/>
                </a:solidFill>
              </a:rPr>
              <a:t> = 0 to </a:t>
            </a:r>
            <a:r>
              <a:rPr lang="sv-SE" i="1" dirty="0">
                <a:solidFill>
                  <a:srgbClr val="FF0000"/>
                </a:solidFill>
              </a:rPr>
              <a:t>n</a:t>
            </a:r>
            <a:r>
              <a:rPr lang="sv-SE" dirty="0">
                <a:solidFill>
                  <a:srgbClr val="FF0000"/>
                </a:solidFill>
              </a:rPr>
              <a:t> do </a:t>
            </a:r>
          </a:p>
          <a:p>
            <a:pPr>
              <a:buNone/>
            </a:pPr>
            <a:r>
              <a:rPr lang="sv-SE" dirty="0">
                <a:solidFill>
                  <a:srgbClr val="FF0000"/>
                </a:solidFill>
              </a:rPr>
              <a:t>    </a:t>
            </a:r>
            <a:r>
              <a:rPr lang="sv-SE" dirty="0" smtClean="0">
                <a:solidFill>
                  <a:srgbClr val="FF0000"/>
                </a:solidFill>
              </a:rPr>
              <a:t>      </a:t>
            </a:r>
            <a:r>
              <a:rPr lang="sv-SE" dirty="0">
                <a:solidFill>
                  <a:srgbClr val="FF0000"/>
                </a:solidFill>
              </a:rPr>
              <a:t>for </a:t>
            </a:r>
            <a:r>
              <a:rPr lang="sv-SE" i="1" dirty="0">
                <a:solidFill>
                  <a:srgbClr val="FF0000"/>
                </a:solidFill>
              </a:rPr>
              <a:t>j</a:t>
            </a:r>
            <a:r>
              <a:rPr lang="sv-SE" dirty="0">
                <a:solidFill>
                  <a:srgbClr val="FF0000"/>
                </a:solidFill>
              </a:rPr>
              <a:t> = 0 to i</a:t>
            </a:r>
            <a:r>
              <a:rPr lang="sv-SE" dirty="0" smtClean="0">
                <a:solidFill>
                  <a:srgbClr val="FF0000"/>
                </a:solidFill>
              </a:rPr>
              <a:t> </a:t>
            </a:r>
            <a:r>
              <a:rPr lang="sv-SE" dirty="0">
                <a:solidFill>
                  <a:srgbClr val="FF0000"/>
                </a:solidFill>
              </a:rPr>
              <a:t>do </a:t>
            </a:r>
            <a:endParaRPr lang="sv-SE" alt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en-US" dirty="0">
                <a:solidFill>
                  <a:srgbClr val="FF3300"/>
                </a:solidFill>
              </a:rPr>
              <a:t>		</a:t>
            </a:r>
            <a:r>
              <a:rPr lang="en-US" altLang="en-US" dirty="0" smtClean="0">
                <a:solidFill>
                  <a:srgbClr val="FF3300"/>
                </a:solidFill>
              </a:rPr>
              <a:t>    P(j</a:t>
            </a:r>
            <a:r>
              <a:rPr lang="en-US" altLang="en-US" dirty="0">
                <a:solidFill>
                  <a:srgbClr val="FF3300"/>
                </a:solidFill>
              </a:rPr>
              <a:t>);</a:t>
            </a:r>
            <a:endParaRPr lang="th-TH" altLang="en-US" dirty="0">
              <a:solidFill>
                <a:srgbClr val="FF3300"/>
              </a:solidFill>
            </a:endParaRPr>
          </a:p>
          <a:p>
            <a:pPr>
              <a:lnSpc>
                <a:spcPct val="80000"/>
              </a:lnSpc>
            </a:pPr>
            <a:endParaRPr lang="en-GB" sz="1400" dirty="0" smtClean="0"/>
          </a:p>
          <a:p>
            <a:pPr>
              <a:lnSpc>
                <a:spcPct val="80000"/>
              </a:lnSpc>
            </a:pPr>
            <a:r>
              <a:rPr lang="sv-SE" dirty="0"/>
              <a:t>Assume that </a:t>
            </a:r>
            <a:r>
              <a:rPr lang="sv-SE" dirty="0" smtClean="0"/>
              <a:t>P(</a:t>
            </a:r>
            <a:r>
              <a:rPr lang="sv-SE" i="1" dirty="0" smtClean="0"/>
              <a:t>j</a:t>
            </a:r>
            <a:r>
              <a:rPr lang="sv-SE" dirty="0" smtClean="0"/>
              <a:t>) </a:t>
            </a:r>
            <a:r>
              <a:rPr lang="sv-SE" dirty="0"/>
              <a:t>takes time </a:t>
            </a:r>
            <a:r>
              <a:rPr lang="sv-SE" i="1" dirty="0"/>
              <a:t>t</a:t>
            </a:r>
            <a:r>
              <a:rPr lang="sv-SE" dirty="0"/>
              <a:t>, where </a:t>
            </a:r>
            <a:r>
              <a:rPr lang="sv-SE" i="1" dirty="0"/>
              <a:t>t</a:t>
            </a:r>
            <a:r>
              <a:rPr lang="sv-SE" dirty="0"/>
              <a:t> is independent of </a:t>
            </a:r>
            <a:r>
              <a:rPr lang="sv-SE" i="1" dirty="0" smtClean="0"/>
              <a:t>i and j</a:t>
            </a: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How </a:t>
            </a:r>
            <a:r>
              <a:rPr lang="en-US" dirty="0"/>
              <a:t>do we analyze the running time of an algorithm that has complex nested loop? </a:t>
            </a: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The </a:t>
            </a:r>
            <a:r>
              <a:rPr lang="en-US" dirty="0"/>
              <a:t>answer is we write out the loops as summations and then solve the summations.  To convert loops into summations, </a:t>
            </a:r>
            <a:r>
              <a:rPr lang="en-US" b="1" dirty="0">
                <a:solidFill>
                  <a:srgbClr val="FF0000"/>
                </a:solidFill>
              </a:rPr>
              <a:t>we work from inside-out.</a:t>
            </a:r>
            <a:endParaRPr lang="en-GB" sz="1400" dirty="0"/>
          </a:p>
          <a:p>
            <a:pPr marL="114300" indent="0">
              <a:buNone/>
            </a:pPr>
            <a:r>
              <a:rPr lang="en-GB" b="1" i="1" dirty="0"/>
              <a:t> </a:t>
            </a:r>
            <a:r>
              <a:rPr lang="en-GB" b="1" i="1" dirty="0" smtClean="0"/>
              <a:t> </a:t>
            </a:r>
          </a:p>
          <a:p>
            <a:pPr marL="114300" indent="0">
              <a:buNone/>
            </a:pPr>
            <a:r>
              <a:rPr lang="en-GB" b="1" i="1" dirty="0" smtClean="0"/>
              <a:t>T(n) = n +               + t</a:t>
            </a:r>
          </a:p>
          <a:p>
            <a:pPr marL="114300" indent="0">
              <a:buNone/>
            </a:pPr>
            <a:endParaRPr lang="en-GB" sz="1400" b="1" i="1" dirty="0"/>
          </a:p>
          <a:p>
            <a:pPr marL="114300" indent="0">
              <a:buNone/>
            </a:pPr>
            <a:r>
              <a:rPr lang="en-GB" b="1" i="1" dirty="0" smtClean="0"/>
              <a:t>         = n + n(n+1)/2  + </a:t>
            </a:r>
            <a:r>
              <a:rPr lang="en-GB" b="1" i="1" dirty="0" err="1" smtClean="0"/>
              <a:t>tn</a:t>
            </a:r>
            <a:r>
              <a:rPr lang="en-GB" b="1" i="1" dirty="0" smtClean="0"/>
              <a:t>(n+1)/2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Repetition (Loops)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924638"/>
              </p:ext>
            </p:extLst>
          </p:nvPr>
        </p:nvGraphicFramePr>
        <p:xfrm>
          <a:off x="1687513" y="5486400"/>
          <a:ext cx="8096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4" name="Equation" r:id="rId3" imgW="457200" imgH="291960" progId="Equation.3">
                  <p:embed/>
                </p:oleObj>
              </mc:Choice>
              <mc:Fallback>
                <p:oleObj name="Equation" r:id="rId3" imgW="457200" imgH="29196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5486400"/>
                        <a:ext cx="8096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492459"/>
              </p:ext>
            </p:extLst>
          </p:nvPr>
        </p:nvGraphicFramePr>
        <p:xfrm>
          <a:off x="2900363" y="5486400"/>
          <a:ext cx="8096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5" name="Equation" r:id="rId5" imgW="457200" imgH="291960" progId="Equation.3">
                  <p:embed/>
                </p:oleObj>
              </mc:Choice>
              <mc:Fallback>
                <p:oleObj name="Equation" r:id="rId5" imgW="457200" imgH="29196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5486400"/>
                        <a:ext cx="8096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752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Analysis Example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381000" y="1371600"/>
            <a:ext cx="8153400" cy="3585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Algorithm</a:t>
            </a:r>
            <a:r>
              <a:rPr lang="en-US" sz="2400" b="1" dirty="0" smtClean="0"/>
              <a:t>:			</a:t>
            </a:r>
            <a:r>
              <a:rPr lang="en-US" sz="2400" dirty="0" smtClean="0"/>
              <a:t>             </a:t>
            </a:r>
            <a:r>
              <a:rPr lang="en-US" sz="2400" u="sng" dirty="0" smtClean="0"/>
              <a:t>Number </a:t>
            </a:r>
            <a:r>
              <a:rPr lang="en-US" sz="2400" u="sng" dirty="0"/>
              <a:t>of times executed</a:t>
            </a:r>
            <a:endParaRPr lang="en-US" sz="2400" b="1" dirty="0"/>
          </a:p>
          <a:p>
            <a:endParaRPr lang="en-US" sz="1100" b="1" dirty="0"/>
          </a:p>
          <a:p>
            <a:r>
              <a:rPr lang="en-US" sz="2400" dirty="0"/>
              <a:t>1. n = read input from </a:t>
            </a:r>
            <a:r>
              <a:rPr lang="en-US" sz="2400" dirty="0" smtClean="0"/>
              <a:t>user				1</a:t>
            </a:r>
            <a:endParaRPr lang="en-US" sz="2400" dirty="0"/>
          </a:p>
          <a:p>
            <a:r>
              <a:rPr lang="en-US" sz="2400" dirty="0"/>
              <a:t>2. sum = </a:t>
            </a:r>
            <a:r>
              <a:rPr lang="en-US" sz="2400" dirty="0" smtClean="0"/>
              <a:t>0						1</a:t>
            </a:r>
            <a:endParaRPr lang="en-US" sz="2400" dirty="0"/>
          </a:p>
          <a:p>
            <a:r>
              <a:rPr lang="en-US" sz="2400" dirty="0"/>
              <a:t>3. </a:t>
            </a:r>
            <a:r>
              <a:rPr lang="en-US" sz="2400" dirty="0" err="1"/>
              <a:t>i</a:t>
            </a:r>
            <a:r>
              <a:rPr lang="en-US" sz="2400" dirty="0"/>
              <a:t> = 0							1</a:t>
            </a:r>
          </a:p>
          <a:p>
            <a:r>
              <a:rPr lang="en-US" sz="2400" dirty="0"/>
              <a:t>4. while </a:t>
            </a:r>
            <a:r>
              <a:rPr lang="en-US" sz="2400" dirty="0" err="1"/>
              <a:t>i</a:t>
            </a:r>
            <a:r>
              <a:rPr lang="en-US" sz="2400" dirty="0"/>
              <a:t> &lt; n 					</a:t>
            </a:r>
            <a:r>
              <a:rPr lang="en-US" sz="2400" dirty="0" smtClean="0"/>
              <a:t>	n</a:t>
            </a:r>
            <a:endParaRPr lang="en-US" sz="2400" dirty="0"/>
          </a:p>
          <a:p>
            <a:r>
              <a:rPr lang="en-US" sz="2400" dirty="0"/>
              <a:t>5. </a:t>
            </a:r>
            <a:r>
              <a:rPr lang="en-US" sz="2400" dirty="0" smtClean="0"/>
              <a:t>	number </a:t>
            </a:r>
            <a:r>
              <a:rPr lang="en-US" sz="2400" dirty="0"/>
              <a:t>= read input </a:t>
            </a:r>
            <a:r>
              <a:rPr lang="en-US" sz="2400" dirty="0" smtClean="0"/>
              <a:t>from user		n   or   </a:t>
            </a:r>
            <a:endParaRPr lang="en-US" sz="2400" dirty="0"/>
          </a:p>
          <a:p>
            <a:r>
              <a:rPr lang="en-US" sz="2400" dirty="0"/>
              <a:t>6. </a:t>
            </a:r>
            <a:r>
              <a:rPr lang="en-US" sz="2400" dirty="0" smtClean="0"/>
              <a:t>	sum </a:t>
            </a:r>
            <a:r>
              <a:rPr lang="en-US" sz="2400" dirty="0"/>
              <a:t>= sum + </a:t>
            </a:r>
            <a:r>
              <a:rPr lang="en-US" sz="2400" dirty="0" smtClean="0"/>
              <a:t>number				n   or </a:t>
            </a:r>
            <a:endParaRPr lang="en-US" sz="2400" dirty="0"/>
          </a:p>
          <a:p>
            <a:r>
              <a:rPr lang="en-US" sz="2400" dirty="0"/>
              <a:t>7. </a:t>
            </a:r>
            <a:r>
              <a:rPr lang="en-US" sz="2400" dirty="0" smtClean="0"/>
              <a:t>	i </a:t>
            </a:r>
            <a:r>
              <a:rPr lang="en-US" sz="2400" dirty="0"/>
              <a:t>= i + </a:t>
            </a:r>
            <a:r>
              <a:rPr lang="en-US" sz="2400" dirty="0" smtClean="0"/>
              <a:t>1						n   or</a:t>
            </a:r>
            <a:endParaRPr lang="en-US" sz="2400" dirty="0"/>
          </a:p>
          <a:p>
            <a:r>
              <a:rPr lang="en-US" sz="2400" dirty="0"/>
              <a:t>8. mean = sum / </a:t>
            </a:r>
            <a:r>
              <a:rPr lang="en-US" sz="2400" dirty="0" smtClean="0"/>
              <a:t>n					1</a:t>
            </a:r>
            <a:endParaRPr lang="en-US" sz="2400" dirty="0"/>
          </a:p>
        </p:txBody>
      </p:sp>
      <p:sp>
        <p:nvSpPr>
          <p:cNvPr id="35847" name="Rectangle 9"/>
          <p:cNvSpPr>
            <a:spLocks noChangeArrowheads="1"/>
          </p:cNvSpPr>
          <p:nvPr/>
        </p:nvSpPr>
        <p:spPr bwMode="auto">
          <a:xfrm>
            <a:off x="152400" y="5334000"/>
            <a:ext cx="8204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The computing time for this algorithm in terms on input size n is: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T(n) = 1 + 1 + 1 + n + n + n + n + 1</a:t>
            </a:r>
          </a:p>
          <a:p>
            <a:r>
              <a:rPr lang="en-US" sz="2400" dirty="0" smtClean="0"/>
              <a:t>	T(n</a:t>
            </a:r>
            <a:r>
              <a:rPr lang="en-US" sz="2400" dirty="0"/>
              <a:t>) = 4n + </a:t>
            </a:r>
            <a:r>
              <a:rPr lang="en-US" sz="2400" dirty="0" smtClean="0"/>
              <a:t>4</a:t>
            </a:r>
            <a:endParaRPr lang="en-US" sz="24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979987"/>
              </p:ext>
            </p:extLst>
          </p:nvPr>
        </p:nvGraphicFramePr>
        <p:xfrm>
          <a:off x="7543800" y="3276600"/>
          <a:ext cx="8334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5" name="Equation" r:id="rId3" imgW="469800" imgH="291960" progId="Equation.3">
                  <p:embed/>
                </p:oleObj>
              </mc:Choice>
              <mc:Fallback>
                <p:oleObj name="Equation" r:id="rId3" imgW="4698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3276600"/>
                        <a:ext cx="8334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127548"/>
              </p:ext>
            </p:extLst>
          </p:nvPr>
        </p:nvGraphicFramePr>
        <p:xfrm>
          <a:off x="7548562" y="3733800"/>
          <a:ext cx="8334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6" name="Equation" r:id="rId5" imgW="469800" imgH="291960" progId="Equation.3">
                  <p:embed/>
                </p:oleObj>
              </mc:Choice>
              <mc:Fallback>
                <p:oleObj name="Equation" r:id="rId5" imgW="4698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8562" y="3733800"/>
                        <a:ext cx="8334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084464"/>
              </p:ext>
            </p:extLst>
          </p:nvPr>
        </p:nvGraphicFramePr>
        <p:xfrm>
          <a:off x="7543800" y="4206875"/>
          <a:ext cx="8334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7" name="Equation" r:id="rId7" imgW="469800" imgH="291960" progId="Equation.3">
                  <p:embed/>
                </p:oleObj>
              </mc:Choice>
              <mc:Fallback>
                <p:oleObj name="Equation" r:id="rId7" imgW="4698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206875"/>
                        <a:ext cx="8334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829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  <p:bldP spid="3584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7467600" cy="4952999"/>
          </a:xfrm>
        </p:spPr>
        <p:txBody>
          <a:bodyPr/>
          <a:lstStyle/>
          <a:p>
            <a:pPr eaLnBrk="1" hangingPunct="1">
              <a:buNone/>
              <a:defRPr/>
            </a:pPr>
            <a:r>
              <a:rPr lang="pt-BR" sz="2400" dirty="0" smtClean="0"/>
              <a:t>     i=1 ...............................1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while (i &lt; n)................n-1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          a=2+g...............n-1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          i=i+1 ................n-1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if (i&lt;=n).......................1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          a=2 ....................1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else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          a=3.....................1</a:t>
            </a:r>
          </a:p>
          <a:p>
            <a:pPr eaLnBrk="1" hangingPunct="1">
              <a:buNone/>
              <a:defRPr/>
            </a:pPr>
            <a:endParaRPr lang="pt-BR" sz="2400" dirty="0" smtClean="0"/>
          </a:p>
          <a:p>
            <a:pPr eaLnBrk="1" hangingPunct="1">
              <a:buNone/>
              <a:defRPr/>
            </a:pPr>
            <a:r>
              <a:rPr lang="pt-BR" sz="2400" dirty="0" smtClean="0"/>
              <a:t>    T(n) = 1 + 3(n-1) + 1 + 1</a:t>
            </a:r>
          </a:p>
          <a:p>
            <a:pPr eaLnBrk="1" hangingPunct="1">
              <a:buNone/>
              <a:defRPr/>
            </a:pPr>
            <a:r>
              <a:rPr lang="pt-BR" sz="2400" dirty="0"/>
              <a:t> </a:t>
            </a:r>
            <a:r>
              <a:rPr lang="pt-BR" sz="2400" dirty="0" smtClean="0"/>
              <a:t>           =3n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C0F77D-7387-41DE-9A50-734994563C92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Another Analysis Example</a:t>
            </a:r>
          </a:p>
        </p:txBody>
      </p:sp>
    </p:spTree>
    <p:extLst>
      <p:ext uri="{BB962C8B-B14F-4D97-AF65-F5344CB8AC3E}">
        <p14:creationId xmlns:p14="http://schemas.microsoft.com/office/powerpoint/2010/main" val="1622530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1371601"/>
            <a:ext cx="4114799" cy="4419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      i=1...............................?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while (i&lt;=10)................?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          i=i+1...................?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i=1 ...............................?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while (i&lt;=n)..................?</a:t>
            </a:r>
            <a:endParaRPr lang="pt-BR" sz="2400" b="1" dirty="0" smtClean="0">
              <a:latin typeface="Helvetica" pitchFamily="34" charset="0"/>
            </a:endParaRP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         a=2+g .................?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         i=i+1 ...................?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if (i&lt;=n</a:t>
            </a:r>
            <a:r>
              <a:rPr lang="pt-BR" sz="2400" dirty="0">
                <a:latin typeface="Helvetica" pitchFamily="34" charset="0"/>
              </a:rPr>
              <a:t>)........................ ?</a:t>
            </a:r>
            <a:endParaRPr lang="pt-BR" sz="2400" dirty="0" smtClean="0">
              <a:latin typeface="Helvetica" pitchFamily="34" charset="0"/>
            </a:endParaRP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         a=2 .................... </a:t>
            </a:r>
            <a:r>
              <a:rPr lang="pt-BR" sz="2400" dirty="0">
                <a:latin typeface="Helvetica" pitchFamily="34" charset="0"/>
              </a:rPr>
              <a:t>?</a:t>
            </a:r>
            <a:endParaRPr lang="pt-BR" sz="2400" dirty="0" smtClean="0">
              <a:latin typeface="Helvetica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     else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         a=3..................... </a:t>
            </a:r>
            <a:r>
              <a:rPr lang="pt-BR" sz="2400" dirty="0">
                <a:latin typeface="Helvetica" pitchFamily="34" charset="0"/>
              </a:rPr>
              <a:t>?</a:t>
            </a:r>
            <a:endParaRPr lang="en-US" sz="2400" dirty="0" smtClean="0">
              <a:latin typeface="Helvetica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C0F77D-7387-41DE-9A50-734994563C92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6799" y="594360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 ( n) = ? </a:t>
            </a:r>
            <a:endParaRPr lang="en-US" sz="2800" b="1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43400" y="1371600"/>
            <a:ext cx="761999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</a:t>
            </a:r>
          </a:p>
          <a:p>
            <a:pPr>
              <a:lnSpc>
                <a:spcPct val="80000"/>
              </a:lnSpc>
              <a:buFontTx/>
              <a:buNone/>
            </a:pPr>
            <a:endParaRPr lang="pt-BR" sz="2400" dirty="0" smtClean="0">
              <a:latin typeface="Helvetica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</a:t>
            </a:r>
            <a:endParaRPr lang="en-US" sz="2400" dirty="0" smtClean="0">
              <a:latin typeface="Helvetic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67199" y="59436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 ( n) = 3n +24 </a:t>
            </a:r>
            <a:endParaRPr lang="en-US" sz="2800" b="1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Another Analysis Example</a:t>
            </a:r>
          </a:p>
        </p:txBody>
      </p:sp>
    </p:spTree>
    <p:extLst>
      <p:ext uri="{BB962C8B-B14F-4D97-AF65-F5344CB8AC3E}">
        <p14:creationId xmlns:p14="http://schemas.microsoft.com/office/powerpoint/2010/main" val="237922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15168</TotalTime>
  <Words>1976</Words>
  <Application>Microsoft Office PowerPoint</Application>
  <PresentationFormat>On-screen Show (4:3)</PresentationFormat>
  <Paragraphs>412</Paragraphs>
  <Slides>32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Angsana New</vt:lpstr>
      <vt:lpstr>Arial</vt:lpstr>
      <vt:lpstr>Calibri</vt:lpstr>
      <vt:lpstr>Cambria</vt:lpstr>
      <vt:lpstr>Cordia New</vt:lpstr>
      <vt:lpstr>Helvetica</vt:lpstr>
      <vt:lpstr>PMingLiU</vt:lpstr>
      <vt:lpstr>Times New Roman</vt:lpstr>
      <vt:lpstr>Adjacency</vt:lpstr>
      <vt:lpstr>Clip</vt:lpstr>
      <vt:lpstr>Equation</vt:lpstr>
      <vt:lpstr>Data Structures and Algorithms</vt:lpstr>
      <vt:lpstr>Algorithm Definition</vt:lpstr>
      <vt:lpstr>Algorithm -- Examples</vt:lpstr>
      <vt:lpstr>Algorithm vs. Program</vt:lpstr>
      <vt:lpstr>Solving Problems (1)</vt:lpstr>
      <vt:lpstr>Solving Problems (2) </vt:lpstr>
      <vt:lpstr>PowerPoint Presentation</vt:lpstr>
      <vt:lpstr>Problem Instances</vt:lpstr>
      <vt:lpstr>Properties of Algorithms</vt:lpstr>
      <vt:lpstr>PowerPoint Presentation</vt:lpstr>
      <vt:lpstr>Algorithm Summary</vt:lpstr>
      <vt:lpstr>Brief History</vt:lpstr>
      <vt:lpstr>Al-Khwarizmi’s Golden Principle</vt:lpstr>
      <vt:lpstr>Why Algorithms are Useful?</vt:lpstr>
      <vt:lpstr>Why Write an Algorithm Down?</vt:lpstr>
      <vt:lpstr>Designing of Algorithms</vt:lpstr>
      <vt:lpstr>Designing of Algorithms</vt:lpstr>
      <vt:lpstr>Important Designing Techniques</vt:lpstr>
      <vt:lpstr>Algorithm Efficiency</vt:lpstr>
      <vt:lpstr>Algorithm Efficiency</vt:lpstr>
      <vt:lpstr>Analysis of Algorithms</vt:lpstr>
      <vt:lpstr>PowerPoint Presentation</vt:lpstr>
      <vt:lpstr>Components of an Algorithm</vt:lpstr>
      <vt:lpstr>Instruction and Sequence</vt:lpstr>
      <vt:lpstr>Sequences</vt:lpstr>
      <vt:lpstr>Selection</vt:lpstr>
      <vt:lpstr>Repetition (Loops)</vt:lpstr>
      <vt:lpstr>Repetition (Loops)</vt:lpstr>
      <vt:lpstr>Repetition (Loops)</vt:lpstr>
      <vt:lpstr>Analysis Example</vt:lpstr>
      <vt:lpstr>Another Analysis Example</vt:lpstr>
      <vt:lpstr>Another Analysis 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drfarooq</dc:creator>
  <cp:lastModifiedBy>Duaa</cp:lastModifiedBy>
  <cp:revision>355</cp:revision>
  <dcterms:created xsi:type="dcterms:W3CDTF">2011-02-22T16:22:43Z</dcterms:created>
  <dcterms:modified xsi:type="dcterms:W3CDTF">2024-02-07T09:46:21Z</dcterms:modified>
</cp:coreProperties>
</file>